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73" r:id="rId4"/>
    <p:sldId id="274" r:id="rId5"/>
    <p:sldId id="257" r:id="rId6"/>
    <p:sldId id="265" r:id="rId7"/>
    <p:sldId id="322" r:id="rId8"/>
    <p:sldId id="323" r:id="rId9"/>
    <p:sldId id="275" r:id="rId10"/>
    <p:sldId id="276" r:id="rId11"/>
    <p:sldId id="277" r:id="rId12"/>
    <p:sldId id="259" r:id="rId13"/>
    <p:sldId id="260" r:id="rId14"/>
    <p:sldId id="261" r:id="rId15"/>
    <p:sldId id="262" r:id="rId16"/>
    <p:sldId id="263" r:id="rId17"/>
    <p:sldId id="278" r:id="rId18"/>
    <p:sldId id="279" r:id="rId19"/>
    <p:sldId id="280" r:id="rId20"/>
    <p:sldId id="281" r:id="rId21"/>
    <p:sldId id="282" r:id="rId22"/>
    <p:sldId id="283" r:id="rId23"/>
    <p:sldId id="284" r:id="rId24"/>
    <p:sldId id="285" r:id="rId25"/>
    <p:sldId id="267" r:id="rId26"/>
    <p:sldId id="286" r:id="rId27"/>
    <p:sldId id="287" r:id="rId28"/>
    <p:sldId id="288" r:id="rId29"/>
    <p:sldId id="289" r:id="rId30"/>
    <p:sldId id="290" r:id="rId31"/>
    <p:sldId id="291" r:id="rId32"/>
    <p:sldId id="266" r:id="rId33"/>
    <p:sldId id="292" r:id="rId34"/>
    <p:sldId id="268" r:id="rId35"/>
    <p:sldId id="269" r:id="rId36"/>
    <p:sldId id="293" r:id="rId37"/>
    <p:sldId id="321" r:id="rId38"/>
    <p:sldId id="294" r:id="rId39"/>
    <p:sldId id="295" r:id="rId40"/>
    <p:sldId id="296" r:id="rId41"/>
    <p:sldId id="270" r:id="rId42"/>
    <p:sldId id="271" r:id="rId43"/>
    <p:sldId id="297" r:id="rId44"/>
    <p:sldId id="298" r:id="rId45"/>
    <p:sldId id="300" r:id="rId46"/>
    <p:sldId id="301" r:id="rId47"/>
    <p:sldId id="302" r:id="rId48"/>
    <p:sldId id="299" r:id="rId49"/>
    <p:sldId id="304" r:id="rId50"/>
    <p:sldId id="305" r:id="rId51"/>
    <p:sldId id="306" r:id="rId52"/>
    <p:sldId id="307" r:id="rId53"/>
    <p:sldId id="309" r:id="rId54"/>
    <p:sldId id="310" r:id="rId55"/>
    <p:sldId id="303" r:id="rId56"/>
    <p:sldId id="311" r:id="rId57"/>
    <p:sldId id="312" r:id="rId58"/>
    <p:sldId id="313" r:id="rId59"/>
    <p:sldId id="314" r:id="rId60"/>
    <p:sldId id="315" r:id="rId61"/>
    <p:sldId id="316" r:id="rId62"/>
    <p:sldId id="308" r:id="rId63"/>
    <p:sldId id="317" r:id="rId64"/>
    <p:sldId id="318" r:id="rId65"/>
    <p:sldId id="319" r:id="rId66"/>
    <p:sldId id="320"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5DAA9EA-5AC5-4C2A-9AD9-4037953EB396}">
          <p14:sldIdLst>
            <p14:sldId id="256"/>
            <p14:sldId id="258"/>
            <p14:sldId id="273"/>
            <p14:sldId id="274"/>
            <p14:sldId id="257"/>
            <p14:sldId id="265"/>
            <p14:sldId id="322"/>
            <p14:sldId id="323"/>
            <p14:sldId id="275"/>
            <p14:sldId id="276"/>
            <p14:sldId id="277"/>
            <p14:sldId id="259"/>
            <p14:sldId id="260"/>
            <p14:sldId id="261"/>
            <p14:sldId id="262"/>
            <p14:sldId id="263"/>
            <p14:sldId id="278"/>
            <p14:sldId id="279"/>
            <p14:sldId id="280"/>
            <p14:sldId id="281"/>
            <p14:sldId id="282"/>
            <p14:sldId id="283"/>
            <p14:sldId id="284"/>
            <p14:sldId id="285"/>
            <p14:sldId id="267"/>
            <p14:sldId id="286"/>
            <p14:sldId id="287"/>
            <p14:sldId id="288"/>
            <p14:sldId id="289"/>
            <p14:sldId id="290"/>
            <p14:sldId id="291"/>
            <p14:sldId id="266"/>
            <p14:sldId id="292"/>
            <p14:sldId id="268"/>
            <p14:sldId id="269"/>
            <p14:sldId id="293"/>
            <p14:sldId id="321"/>
            <p14:sldId id="294"/>
            <p14:sldId id="295"/>
            <p14:sldId id="296"/>
            <p14:sldId id="270"/>
            <p14:sldId id="271"/>
            <p14:sldId id="297"/>
            <p14:sldId id="298"/>
            <p14:sldId id="300"/>
            <p14:sldId id="301"/>
            <p14:sldId id="302"/>
            <p14:sldId id="299"/>
            <p14:sldId id="304"/>
            <p14:sldId id="305"/>
            <p14:sldId id="306"/>
            <p14:sldId id="307"/>
            <p14:sldId id="309"/>
            <p14:sldId id="310"/>
            <p14:sldId id="303"/>
            <p14:sldId id="311"/>
            <p14:sldId id="312"/>
            <p14:sldId id="313"/>
            <p14:sldId id="314"/>
            <p14:sldId id="315"/>
            <p14:sldId id="316"/>
            <p14:sldId id="308"/>
            <p14:sldId id="317"/>
            <p14:sldId id="318"/>
            <p14:sldId id="319"/>
            <p14:sldId id="3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3" d="100"/>
          <a:sy n="53" d="100"/>
        </p:scale>
        <p:origin x="11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1753210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3188653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4200471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200A67-7FF6-4992-BCD7-9D26960B399D}" type="datetimeFigureOut">
              <a:rPr lang="en-IN" smtClean="0"/>
              <a:t>16-07-2025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263600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200A67-7FF6-4992-BCD7-9D26960B399D}" type="datetimeFigureOut">
              <a:rPr lang="en-IN" smtClean="0"/>
              <a:t>16-07-2025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2685178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200A67-7FF6-4992-BCD7-9D26960B399D}" type="datetimeFigureOut">
              <a:rPr lang="en-IN" smtClean="0"/>
              <a:t>16-07-2025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3793219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200A67-7FF6-4992-BCD7-9D26960B399D}" type="datetimeFigureOut">
              <a:rPr lang="en-IN" smtClean="0"/>
              <a:t>16-07-2025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4213882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200A67-7FF6-4992-BCD7-9D26960B399D}" type="datetimeFigureOut">
              <a:rPr lang="en-IN" smtClean="0"/>
              <a:t>16-07-2025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584432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200A67-7FF6-4992-BCD7-9D26960B399D}" type="datetimeFigureOut">
              <a:rPr lang="en-IN" smtClean="0"/>
              <a:t>16-07-2025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163235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2378892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65026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3612744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63533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1523568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32130497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200A67-7FF6-4992-BCD7-9D26960B399D}" type="datetimeFigureOut">
              <a:rPr lang="en-IN" smtClean="0"/>
              <a:t>16-07-2025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82166-3D6F-4D18-B757-7BB2CF34FF4D}" type="slidenum">
              <a:rPr lang="en-IN" smtClean="0"/>
              <a:t>‹#›</a:t>
            </a:fld>
            <a:endParaRPr lang="en-IN"/>
          </a:p>
        </p:txBody>
      </p:sp>
    </p:spTree>
    <p:extLst>
      <p:ext uri="{BB962C8B-B14F-4D97-AF65-F5344CB8AC3E}">
        <p14:creationId xmlns:p14="http://schemas.microsoft.com/office/powerpoint/2010/main" val="3891596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7200A67-7FF6-4992-BCD7-9D26960B399D}" type="datetimeFigureOut">
              <a:rPr lang="en-IN" smtClean="0"/>
              <a:t>16-07-2025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7082166-3D6F-4D18-B757-7BB2CF34FF4D}" type="slidenum">
              <a:rPr lang="en-IN" smtClean="0"/>
              <a:t>‹#›</a:t>
            </a:fld>
            <a:endParaRPr lang="en-IN"/>
          </a:p>
        </p:txBody>
      </p:sp>
    </p:spTree>
    <p:extLst>
      <p:ext uri="{BB962C8B-B14F-4D97-AF65-F5344CB8AC3E}">
        <p14:creationId xmlns:p14="http://schemas.microsoft.com/office/powerpoint/2010/main" val="21220294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83CE5-7684-85F7-8D5B-6351331AADFA}"/>
              </a:ext>
            </a:extLst>
          </p:cNvPr>
          <p:cNvSpPr>
            <a:spLocks noGrp="1"/>
          </p:cNvSpPr>
          <p:nvPr>
            <p:ph type="ctrTitle"/>
          </p:nvPr>
        </p:nvSpPr>
        <p:spPr>
          <a:xfrm>
            <a:off x="1507067" y="944880"/>
            <a:ext cx="7766936" cy="1381760"/>
          </a:xfrm>
        </p:spPr>
        <p:txBody>
          <a:bodyPr/>
          <a:lstStyle/>
          <a:p>
            <a:pPr algn="ctr"/>
            <a:r>
              <a:rPr lang="en-US" dirty="0">
                <a:solidFill>
                  <a:schemeClr val="accent5">
                    <a:lumMod val="50000"/>
                  </a:schemeClr>
                </a:solidFill>
                <a:latin typeface="Times New Roman" panose="02020603050405020304" pitchFamily="18" charset="0"/>
                <a:cs typeface="Times New Roman" panose="02020603050405020304" pitchFamily="18" charset="0"/>
              </a:rPr>
              <a:t>SOFTWARE TESTING</a:t>
            </a:r>
            <a:endParaRPr lang="en-IN"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EEF38C6-DFED-D088-7DBF-DC28A482DA9E}"/>
              </a:ext>
            </a:extLst>
          </p:cNvPr>
          <p:cNvSpPr>
            <a:spLocks noGrp="1"/>
          </p:cNvSpPr>
          <p:nvPr>
            <p:ph type="subTitle" idx="1"/>
          </p:nvPr>
        </p:nvSpPr>
        <p:spPr>
          <a:xfrm>
            <a:off x="1507067" y="2743201"/>
            <a:ext cx="7766936" cy="2404532"/>
          </a:xfrm>
        </p:spPr>
        <p:txBody>
          <a:bodyPr>
            <a:normAutofit/>
          </a:bodyPr>
          <a:lstStyle/>
          <a:p>
            <a:pPr algn="ctr"/>
            <a:r>
              <a:rPr lang="en-US" sz="4400" b="1" dirty="0">
                <a:solidFill>
                  <a:schemeClr val="accent5">
                    <a:lumMod val="75000"/>
                  </a:schemeClr>
                </a:solidFill>
              </a:rPr>
              <a:t>Manual &amp; Automation testing</a:t>
            </a:r>
            <a:endParaRPr lang="en-IN" sz="4400" b="1" dirty="0">
              <a:solidFill>
                <a:schemeClr val="accent5">
                  <a:lumMod val="75000"/>
                </a:schemeClr>
              </a:solidFill>
            </a:endParaRPr>
          </a:p>
        </p:txBody>
      </p:sp>
    </p:spTree>
    <p:extLst>
      <p:ext uri="{BB962C8B-B14F-4D97-AF65-F5344CB8AC3E}">
        <p14:creationId xmlns:p14="http://schemas.microsoft.com/office/powerpoint/2010/main" val="2409750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EDA31-5F71-0D01-35DF-7CB43EF93E36}"/>
              </a:ext>
            </a:extLst>
          </p:cNvPr>
          <p:cNvSpPr>
            <a:spLocks noGrp="1"/>
          </p:cNvSpPr>
          <p:nvPr>
            <p:ph type="title"/>
          </p:nvPr>
        </p:nvSpPr>
        <p:spPr>
          <a:xfrm>
            <a:off x="677335" y="751841"/>
            <a:ext cx="8596668" cy="860400"/>
          </a:xfrm>
        </p:spPr>
        <p:txBody>
          <a:bodyPr/>
          <a:lstStyle/>
          <a:p>
            <a:r>
              <a:rPr lang="en-US" b="1" dirty="0">
                <a:solidFill>
                  <a:schemeClr val="accent5">
                    <a:lumMod val="75000"/>
                  </a:schemeClr>
                </a:solidFill>
                <a:latin typeface="Times New Roman" panose="02020603050405020304" pitchFamily="18" charset="0"/>
                <a:cs typeface="Times New Roman" panose="02020603050405020304" pitchFamily="18" charset="0"/>
              </a:rPr>
              <a:t>What is Software?</a:t>
            </a:r>
            <a:endParaRPr lang="en-IN"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2B96526-0278-15EE-78B3-7F92810D670E}"/>
              </a:ext>
            </a:extLst>
          </p:cNvPr>
          <p:cNvSpPr>
            <a:spLocks noGrp="1"/>
          </p:cNvSpPr>
          <p:nvPr>
            <p:ph type="body" idx="1"/>
          </p:nvPr>
        </p:nvSpPr>
        <p:spPr>
          <a:xfrm>
            <a:off x="677335" y="1991360"/>
            <a:ext cx="9113436" cy="3396488"/>
          </a:xfrm>
        </p:spPr>
        <p:txBody>
          <a:bodyPr/>
          <a:lstStyle/>
          <a:p>
            <a:pPr marL="342900" indent="-342900">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A software is a collection of computer programs that helps us to perform a task.</a:t>
            </a:r>
          </a:p>
          <a:p>
            <a:endParaRPr lang="en-US" sz="28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Software Concepts – 1)Open source Software</a:t>
            </a:r>
          </a:p>
          <a:p>
            <a:r>
              <a:rPr lang="en-IN" sz="2800" dirty="0">
                <a:solidFill>
                  <a:schemeClr val="tx1"/>
                </a:solidFill>
                <a:latin typeface="Times New Roman" panose="02020603050405020304" pitchFamily="18" charset="0"/>
                <a:cs typeface="Times New Roman" panose="02020603050405020304" pitchFamily="18" charset="0"/>
              </a:rPr>
              <a:t>                                      2)Free Software</a:t>
            </a:r>
          </a:p>
          <a:p>
            <a:r>
              <a:rPr lang="en-IN" sz="2800" dirty="0">
                <a:solidFill>
                  <a:schemeClr val="tx1"/>
                </a:solidFill>
                <a:latin typeface="Times New Roman" panose="02020603050405020304" pitchFamily="18" charset="0"/>
                <a:cs typeface="Times New Roman" panose="02020603050405020304" pitchFamily="18" charset="0"/>
              </a:rPr>
              <a:t>                                      3)Paid Software</a:t>
            </a:r>
          </a:p>
          <a:p>
            <a:endParaRPr lang="en-IN" sz="2400" dirty="0">
              <a:solidFill>
                <a:schemeClr val="tx1"/>
              </a:solidFill>
            </a:endParaRPr>
          </a:p>
          <a:p>
            <a:endParaRPr lang="en-IN" dirty="0">
              <a:solidFill>
                <a:schemeClr val="tx1"/>
              </a:solidFill>
            </a:endParaRPr>
          </a:p>
        </p:txBody>
      </p:sp>
    </p:spTree>
    <p:extLst>
      <p:ext uri="{BB962C8B-B14F-4D97-AF65-F5344CB8AC3E}">
        <p14:creationId xmlns:p14="http://schemas.microsoft.com/office/powerpoint/2010/main" val="3672092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0CBFB-D754-7A0C-097A-D391AB4006ED}"/>
              </a:ext>
            </a:extLst>
          </p:cNvPr>
          <p:cNvSpPr>
            <a:spLocks noGrp="1"/>
          </p:cNvSpPr>
          <p:nvPr>
            <p:ph type="title"/>
          </p:nvPr>
        </p:nvSpPr>
        <p:spPr>
          <a:xfrm>
            <a:off x="337457" y="609599"/>
            <a:ext cx="10479226" cy="5693230"/>
          </a:xfrm>
        </p:spPr>
        <p:txBody>
          <a:bodyPr>
            <a:normAutofit fontScale="90000"/>
          </a:bodyPr>
          <a:lstStyle/>
          <a:p>
            <a:r>
              <a:rPr lang="en-US" sz="4000" b="1" i="0" u="none" strike="noStrike" dirty="0">
                <a:solidFill>
                  <a:schemeClr val="accent5">
                    <a:lumMod val="75000"/>
                  </a:schemeClr>
                </a:solidFill>
                <a:effectLst/>
                <a:latin typeface="Times New Roman" panose="02020603050405020304" pitchFamily="18" charset="0"/>
                <a:cs typeface="Times New Roman" panose="02020603050405020304" pitchFamily="18" charset="0"/>
              </a:rPr>
              <a:t>Project vs Product?</a:t>
            </a:r>
            <a:br>
              <a:rPr lang="en-US" sz="3100" b="1" i="0" u="none" strike="noStrike" dirty="0">
                <a:solidFill>
                  <a:srgbClr val="1155CC"/>
                </a:solidFill>
                <a:effectLst/>
                <a:latin typeface="Times New Roman" panose="02020603050405020304" pitchFamily="18" charset="0"/>
                <a:cs typeface="Times New Roman" panose="02020603050405020304" pitchFamily="18" charset="0"/>
              </a:rPr>
            </a:br>
            <a:br>
              <a:rPr lang="en-US" sz="3100" b="1" i="0" u="none" strike="noStrike" dirty="0">
                <a:solidFill>
                  <a:srgbClr val="1155CC"/>
                </a:solidFill>
                <a:effectLst/>
                <a:latin typeface="Times New Roman" panose="02020603050405020304" pitchFamily="18" charset="0"/>
                <a:cs typeface="Times New Roman" panose="02020603050405020304" pitchFamily="18" charset="0"/>
              </a:rPr>
            </a:br>
            <a:r>
              <a:rPr lang="en-US" sz="3100" b="1" i="0" u="none" strike="noStrike" dirty="0">
                <a:solidFill>
                  <a:srgbClr val="000000"/>
                </a:solidFill>
                <a:effectLst/>
                <a:latin typeface="Times New Roman" panose="02020603050405020304" pitchFamily="18" charset="0"/>
                <a:cs typeface="Times New Roman" panose="02020603050405020304" pitchFamily="18" charset="0"/>
              </a:rPr>
              <a:t>Project - </a:t>
            </a:r>
            <a:r>
              <a:rPr lang="en-US" sz="3100" b="0" i="0" u="none" strike="noStrike" dirty="0">
                <a:solidFill>
                  <a:srgbClr val="000000"/>
                </a:solidFill>
                <a:effectLst/>
                <a:latin typeface="Times New Roman" panose="02020603050405020304" pitchFamily="18" charset="0"/>
                <a:cs typeface="Times New Roman" panose="02020603050405020304" pitchFamily="18" charset="0"/>
              </a:rPr>
              <a:t>Designed and developed for specific customer requirements</a:t>
            </a:r>
            <a:r>
              <a:rPr lang="en-US" sz="3100" b="1" i="0" u="none" strike="noStrike" dirty="0">
                <a:solidFill>
                  <a:srgbClr val="000000"/>
                </a:solidFill>
                <a:effectLst/>
                <a:latin typeface="Times New Roman" panose="02020603050405020304" pitchFamily="18" charset="0"/>
                <a:cs typeface="Times New Roman" panose="02020603050405020304" pitchFamily="18" charset="0"/>
              </a:rPr>
              <a:t>.</a:t>
            </a:r>
            <a:br>
              <a:rPr lang="en-US" sz="3100" b="0" i="0" u="none" strike="noStrike" dirty="0">
                <a:solidFill>
                  <a:srgbClr val="000000"/>
                </a:solidFill>
                <a:effectLst/>
                <a:latin typeface="Times New Roman" panose="02020603050405020304" pitchFamily="18" charset="0"/>
                <a:cs typeface="Times New Roman" panose="02020603050405020304" pitchFamily="18" charset="0"/>
              </a:rPr>
            </a:br>
            <a:r>
              <a:rPr lang="en-US" sz="3100" b="0" i="0" u="none" strike="noStrike" dirty="0">
                <a:solidFill>
                  <a:srgbClr val="000000"/>
                </a:solidFill>
                <a:effectLst/>
                <a:latin typeface="Times New Roman" panose="02020603050405020304" pitchFamily="18" charset="0"/>
                <a:cs typeface="Times New Roman" panose="02020603050405020304" pitchFamily="18" charset="0"/>
              </a:rPr>
              <a:t>E.g. - Billing software for Grocery Store</a:t>
            </a:r>
            <a:br>
              <a:rPr lang="en-US" sz="8000" b="0" dirty="0">
                <a:effectLst/>
                <a:latin typeface="Times New Roman" panose="02020603050405020304" pitchFamily="18" charset="0"/>
                <a:cs typeface="Times New Roman" panose="02020603050405020304" pitchFamily="18" charset="0"/>
              </a:rPr>
            </a:br>
            <a:br>
              <a:rPr lang="en-US" sz="8000" b="0" dirty="0">
                <a:effectLst/>
                <a:latin typeface="Times New Roman" panose="02020603050405020304" pitchFamily="18" charset="0"/>
                <a:cs typeface="Times New Roman" panose="02020603050405020304" pitchFamily="18" charset="0"/>
              </a:rPr>
            </a:br>
            <a:r>
              <a:rPr lang="en-US" sz="3100" b="1" i="0" u="none" strike="noStrike" dirty="0">
                <a:solidFill>
                  <a:srgbClr val="000000"/>
                </a:solidFill>
                <a:effectLst/>
                <a:latin typeface="Times New Roman" panose="02020603050405020304" pitchFamily="18" charset="0"/>
                <a:cs typeface="Times New Roman" panose="02020603050405020304" pitchFamily="18" charset="0"/>
              </a:rPr>
              <a:t>Product - </a:t>
            </a:r>
            <a:r>
              <a:rPr lang="en-US" sz="3100" b="0" i="0" u="none" strike="noStrike" dirty="0">
                <a:solidFill>
                  <a:srgbClr val="000000"/>
                </a:solidFill>
                <a:effectLst/>
                <a:latin typeface="Times New Roman" panose="02020603050405020304" pitchFamily="18" charset="0"/>
                <a:cs typeface="Times New Roman" panose="02020603050405020304" pitchFamily="18" charset="0"/>
              </a:rPr>
              <a:t>Designed and developed for multiple customers/users </a:t>
            </a:r>
            <a:br>
              <a:rPr lang="en-US" sz="3100" b="1" i="0" u="none" strike="noStrike" dirty="0">
                <a:solidFill>
                  <a:srgbClr val="000000"/>
                </a:solidFill>
                <a:effectLst/>
                <a:latin typeface="Times New Roman" panose="02020603050405020304" pitchFamily="18" charset="0"/>
                <a:cs typeface="Times New Roman" panose="02020603050405020304" pitchFamily="18" charset="0"/>
              </a:rPr>
            </a:br>
            <a:r>
              <a:rPr lang="en-US" sz="3100" b="0" i="0" u="none" strike="noStrike" dirty="0">
                <a:solidFill>
                  <a:srgbClr val="000000"/>
                </a:solidFill>
                <a:effectLst/>
                <a:latin typeface="Times New Roman" panose="02020603050405020304" pitchFamily="18" charset="0"/>
                <a:cs typeface="Times New Roman" panose="02020603050405020304" pitchFamily="18" charset="0"/>
              </a:rPr>
              <a:t>as per market needs and requirements.  </a:t>
            </a:r>
            <a:br>
              <a:rPr lang="en-US" sz="8000" b="0" dirty="0">
                <a:effectLst/>
                <a:latin typeface="Times New Roman" panose="02020603050405020304" pitchFamily="18" charset="0"/>
                <a:cs typeface="Times New Roman" panose="02020603050405020304" pitchFamily="18" charset="0"/>
              </a:rPr>
            </a:br>
            <a:r>
              <a:rPr lang="en-US" sz="3100" b="0" i="0" u="none" strike="noStrike" dirty="0">
                <a:solidFill>
                  <a:srgbClr val="000000"/>
                </a:solidFill>
                <a:effectLst/>
                <a:latin typeface="Times New Roman" panose="02020603050405020304" pitchFamily="18" charset="0"/>
                <a:cs typeface="Times New Roman" panose="02020603050405020304" pitchFamily="18" charset="0"/>
              </a:rPr>
              <a:t>E.g. - Chatting Application for users</a:t>
            </a:r>
            <a:br>
              <a:rPr lang="en-US" sz="9600" b="0" dirty="0">
                <a:effectLst/>
                <a:latin typeface="Times New Roman" panose="02020603050405020304" pitchFamily="18" charset="0"/>
                <a:cs typeface="Times New Roman" panose="02020603050405020304" pitchFamily="18" charset="0"/>
              </a:rPr>
            </a:br>
            <a:br>
              <a:rPr lang="en-US" dirty="0"/>
            </a:br>
            <a:endParaRPr lang="en-IN" dirty="0"/>
          </a:p>
        </p:txBody>
      </p:sp>
    </p:spTree>
    <p:extLst>
      <p:ext uri="{BB962C8B-B14F-4D97-AF65-F5344CB8AC3E}">
        <p14:creationId xmlns:p14="http://schemas.microsoft.com/office/powerpoint/2010/main" val="1683663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76A28-8CFA-E6AE-0553-935E1F777655}"/>
              </a:ext>
            </a:extLst>
          </p:cNvPr>
          <p:cNvSpPr>
            <a:spLocks noGrp="1"/>
          </p:cNvSpPr>
          <p:nvPr>
            <p:ph type="title"/>
          </p:nvPr>
        </p:nvSpPr>
        <p:spPr>
          <a:xfrm>
            <a:off x="250105" y="680223"/>
            <a:ext cx="10510821" cy="5876693"/>
          </a:xfrm>
        </p:spPr>
        <p:txBody>
          <a:bodyPr>
            <a:normAutofit/>
          </a:bodyPr>
          <a:lstStyle/>
          <a:p>
            <a:r>
              <a:rPr lang="en-US" sz="3200" b="1" dirty="0">
                <a:solidFill>
                  <a:schemeClr val="accent5">
                    <a:lumMod val="75000"/>
                  </a:schemeClr>
                </a:solidFill>
                <a:latin typeface="Times New Roman" panose="02020603050405020304" pitchFamily="18" charset="0"/>
                <a:cs typeface="Times New Roman" panose="02020603050405020304" pitchFamily="18" charset="0"/>
              </a:rPr>
              <a:t>SOFTWARE PLATFORM</a:t>
            </a:r>
            <a:br>
              <a:rPr lang="en-US" sz="3200" b="1" dirty="0">
                <a:latin typeface="Times New Roman" panose="02020603050405020304" pitchFamily="18" charset="0"/>
                <a:cs typeface="Times New Roman" panose="02020603050405020304" pitchFamily="18" charset="0"/>
              </a:rPr>
            </a:br>
            <a:br>
              <a:rPr lang="en-US" sz="3200" b="1" dirty="0">
                <a:latin typeface="Times New Roman" panose="02020603050405020304" pitchFamily="18" charset="0"/>
                <a:cs typeface="Times New Roman" panose="02020603050405020304" pitchFamily="18" charset="0"/>
              </a:rPr>
            </a:br>
            <a:r>
              <a:rPr lang="en-US" sz="3200" dirty="0">
                <a:solidFill>
                  <a:schemeClr val="tx1"/>
                </a:solidFill>
                <a:latin typeface="Times New Roman" panose="02020603050405020304" pitchFamily="18" charset="0"/>
                <a:cs typeface="Times New Roman" panose="02020603050405020304" pitchFamily="18" charset="0"/>
              </a:rPr>
              <a:t>1)</a:t>
            </a:r>
            <a:r>
              <a:rPr lang="en-US" sz="3200" dirty="0">
                <a:solidFill>
                  <a:schemeClr val="tx2"/>
                </a:solidFill>
                <a:latin typeface="Times New Roman" panose="02020603050405020304" pitchFamily="18" charset="0"/>
                <a:cs typeface="Times New Roman" panose="02020603050405020304" pitchFamily="18" charset="0"/>
              </a:rPr>
              <a:t>It is the environment in which software is executed.</a:t>
            </a:r>
            <a:br>
              <a:rPr lang="en-US" sz="3200" dirty="0">
                <a:solidFill>
                  <a:schemeClr val="tx2"/>
                </a:solidFill>
                <a:latin typeface="Times New Roman" panose="02020603050405020304" pitchFamily="18" charset="0"/>
                <a:cs typeface="Times New Roman" panose="02020603050405020304" pitchFamily="18" charset="0"/>
              </a:rPr>
            </a:br>
            <a:br>
              <a:rPr lang="en-US" sz="3200" dirty="0">
                <a:solidFill>
                  <a:schemeClr val="tx2"/>
                </a:solidFill>
                <a:latin typeface="Times New Roman" panose="02020603050405020304" pitchFamily="18" charset="0"/>
                <a:cs typeface="Times New Roman" panose="02020603050405020304" pitchFamily="18" charset="0"/>
              </a:rPr>
            </a:br>
            <a:r>
              <a:rPr lang="en-US" sz="3200" dirty="0">
                <a:solidFill>
                  <a:schemeClr val="tx2"/>
                </a:solidFill>
                <a:latin typeface="Times New Roman" panose="02020603050405020304" pitchFamily="18" charset="0"/>
                <a:cs typeface="Times New Roman" panose="02020603050405020304" pitchFamily="18" charset="0"/>
              </a:rPr>
              <a:t>2)</a:t>
            </a:r>
            <a:r>
              <a:rPr lang="en-US" sz="3100" b="0" i="0" dirty="0">
                <a:solidFill>
                  <a:srgbClr val="040C28"/>
                </a:solidFill>
                <a:effectLst/>
                <a:latin typeface="Times New Roman" panose="02020603050405020304" pitchFamily="18" charset="0"/>
                <a:cs typeface="Times New Roman" panose="02020603050405020304" pitchFamily="18" charset="0"/>
              </a:rPr>
              <a:t>A computer or hardware device and associated operating system, or a virtual environment, on which software can be installed or run</a:t>
            </a:r>
            <a:r>
              <a:rPr lang="en-US" sz="3100" b="0" i="0" dirty="0">
                <a:solidFill>
                  <a:srgbClr val="474747"/>
                </a:solidFill>
                <a:effectLst/>
                <a:latin typeface="Google Sans"/>
              </a:rPr>
              <a:t>.</a:t>
            </a:r>
            <a:endParaRPr lang="en-IN" sz="3200" dirty="0">
              <a:solidFill>
                <a:schemeClr val="tx2"/>
              </a:solidFill>
            </a:endParaRPr>
          </a:p>
        </p:txBody>
      </p:sp>
    </p:spTree>
    <p:extLst>
      <p:ext uri="{BB962C8B-B14F-4D97-AF65-F5344CB8AC3E}">
        <p14:creationId xmlns:p14="http://schemas.microsoft.com/office/powerpoint/2010/main" val="3577663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46759-3809-B3BC-6E06-3A559F4C41CF}"/>
              </a:ext>
            </a:extLst>
          </p:cNvPr>
          <p:cNvSpPr>
            <a:spLocks noGrp="1"/>
          </p:cNvSpPr>
          <p:nvPr>
            <p:ph type="title"/>
          </p:nvPr>
        </p:nvSpPr>
        <p:spPr>
          <a:xfrm>
            <a:off x="677334" y="528321"/>
            <a:ext cx="9086425" cy="860400"/>
          </a:xfrm>
        </p:spPr>
        <p:txBody>
          <a:bodyPr/>
          <a:lstStyle/>
          <a:p>
            <a:pPr algn="ctr"/>
            <a:r>
              <a:rPr lang="en-US" b="1" dirty="0">
                <a:solidFill>
                  <a:schemeClr val="accent5">
                    <a:lumMod val="75000"/>
                  </a:schemeClr>
                </a:solidFill>
                <a:latin typeface="Times New Roman" panose="02020603050405020304" pitchFamily="18" charset="0"/>
                <a:cs typeface="Times New Roman" panose="02020603050405020304" pitchFamily="18" charset="0"/>
              </a:rPr>
              <a:t>Manual Testing</a:t>
            </a:r>
            <a:endParaRPr lang="en-IN"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F8F832C-760C-D1D3-8E16-1F4B6704A3E0}"/>
              </a:ext>
            </a:extLst>
          </p:cNvPr>
          <p:cNvSpPr>
            <a:spLocks noGrp="1"/>
          </p:cNvSpPr>
          <p:nvPr>
            <p:ph type="body" idx="1"/>
          </p:nvPr>
        </p:nvSpPr>
        <p:spPr>
          <a:xfrm>
            <a:off x="274320" y="2255520"/>
            <a:ext cx="9639114" cy="1645920"/>
          </a:xfrm>
        </p:spPr>
        <p:txBody>
          <a:bodyPr>
            <a:normAutofit fontScale="92500"/>
          </a:bodyPr>
          <a:lstStyle/>
          <a:p>
            <a:r>
              <a:rPr lang="en-US" sz="3200" dirty="0">
                <a:solidFill>
                  <a:schemeClr val="tx1"/>
                </a:solidFill>
                <a:latin typeface="Times New Roman" panose="02020603050405020304" pitchFamily="18" charset="0"/>
                <a:cs typeface="Times New Roman" panose="02020603050405020304" pitchFamily="18" charset="0"/>
              </a:rPr>
              <a:t>	Manual Testing is a process in which a QA manually tests the Software application as per client requirements to identify bugs and QA tries to deploy bug-free software to the client.</a:t>
            </a:r>
            <a:endParaRPr lang="en-IN" sz="3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46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 Deep Dive into SDLC: From Planning to Deployment | Product Coalition">
            <a:extLst>
              <a:ext uri="{FF2B5EF4-FFF2-40B4-BE49-F238E27FC236}">
                <a16:creationId xmlns:a16="http://schemas.microsoft.com/office/drawing/2014/main" id="{EB5EC733-E07F-8A22-BB85-B425A42BF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039" y="274320"/>
            <a:ext cx="11549781" cy="6156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28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B40DE0-DB65-B2AB-B248-932EA671EF31}"/>
              </a:ext>
            </a:extLst>
          </p:cNvPr>
          <p:cNvSpPr txBox="1"/>
          <p:nvPr/>
        </p:nvSpPr>
        <p:spPr>
          <a:xfrm>
            <a:off x="397042" y="228601"/>
            <a:ext cx="9529011" cy="1815882"/>
          </a:xfrm>
          <a:prstGeom prst="rect">
            <a:avLst/>
          </a:prstGeom>
          <a:noFill/>
        </p:spPr>
        <p:txBody>
          <a:bodyPr wrap="square">
            <a:spAutoFit/>
          </a:bodyPr>
          <a:lstStyle/>
          <a:p>
            <a:r>
              <a:rPr lang="en-US" sz="2800" b="1" dirty="0">
                <a:solidFill>
                  <a:srgbClr val="7030A0"/>
                </a:solidFill>
                <a:latin typeface="Times New Roman" panose="02020603050405020304" pitchFamily="18" charset="0"/>
                <a:cs typeface="Times New Roman" panose="02020603050405020304" pitchFamily="18" charset="0"/>
              </a:rPr>
              <a:t>Requirement Gathering &amp; Analysis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Collect and document all the system requirements.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output is a Software Requirement Specification (SRS) document.</a:t>
            </a:r>
          </a:p>
        </p:txBody>
      </p:sp>
      <p:sp>
        <p:nvSpPr>
          <p:cNvPr id="5" name="TextBox 4">
            <a:extLst>
              <a:ext uri="{FF2B5EF4-FFF2-40B4-BE49-F238E27FC236}">
                <a16:creationId xmlns:a16="http://schemas.microsoft.com/office/drawing/2014/main" id="{D0A121B1-0F07-6A8D-0A63-D7FA35A946C1}"/>
              </a:ext>
            </a:extLst>
          </p:cNvPr>
          <p:cNvSpPr txBox="1"/>
          <p:nvPr/>
        </p:nvSpPr>
        <p:spPr>
          <a:xfrm>
            <a:off x="469231" y="2473819"/>
            <a:ext cx="10070432" cy="1384995"/>
          </a:xfrm>
          <a:prstGeom prst="rect">
            <a:avLst/>
          </a:prstGeom>
          <a:noFill/>
        </p:spPr>
        <p:txBody>
          <a:bodyPr wrap="square">
            <a:spAutoFit/>
          </a:bodyPr>
          <a:lstStyle/>
          <a:p>
            <a:r>
              <a:rPr lang="en-US" sz="2800" b="1" dirty="0">
                <a:solidFill>
                  <a:srgbClr val="7030A0"/>
                </a:solidFill>
                <a:latin typeface="Times New Roman" panose="02020603050405020304" pitchFamily="18" charset="0"/>
                <a:cs typeface="Times New Roman" panose="02020603050405020304" pitchFamily="18" charset="0"/>
              </a:rPr>
              <a:t>System Design</a:t>
            </a:r>
            <a:endParaRPr lang="en-US" sz="2800" dirty="0">
              <a:solidFill>
                <a:srgbClr val="7030A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Convert requirements into a logical and technical system design.</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output is the System Architecture and Design Document.</a:t>
            </a:r>
          </a:p>
        </p:txBody>
      </p:sp>
      <p:sp>
        <p:nvSpPr>
          <p:cNvPr id="7" name="TextBox 6">
            <a:extLst>
              <a:ext uri="{FF2B5EF4-FFF2-40B4-BE49-F238E27FC236}">
                <a16:creationId xmlns:a16="http://schemas.microsoft.com/office/drawing/2014/main" id="{DDB3579C-6ABD-7669-CFA8-574FF9B24F53}"/>
              </a:ext>
            </a:extLst>
          </p:cNvPr>
          <p:cNvSpPr txBox="1"/>
          <p:nvPr/>
        </p:nvSpPr>
        <p:spPr>
          <a:xfrm>
            <a:off x="469231" y="4624813"/>
            <a:ext cx="9926053" cy="1384995"/>
          </a:xfrm>
          <a:prstGeom prst="rect">
            <a:avLst/>
          </a:prstGeom>
          <a:noFill/>
        </p:spPr>
        <p:txBody>
          <a:bodyPr wrap="square">
            <a:spAutoFit/>
          </a:bodyPr>
          <a:lstStyle/>
          <a:p>
            <a:r>
              <a:rPr lang="en-US" sz="2800" b="1" dirty="0">
                <a:solidFill>
                  <a:srgbClr val="7030A0"/>
                </a:solidFill>
                <a:latin typeface="Times New Roman" panose="02020603050405020304" pitchFamily="18" charset="0"/>
                <a:cs typeface="Times New Roman" panose="02020603050405020304" pitchFamily="18" charset="0"/>
              </a:rPr>
              <a:t>Implementation (Coding)</a:t>
            </a:r>
            <a:endParaRPr lang="en-US" sz="2800" dirty="0">
              <a:solidFill>
                <a:srgbClr val="7030A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Developers write code based on the design specifications.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output is the actual source code of the software.</a:t>
            </a:r>
          </a:p>
        </p:txBody>
      </p:sp>
    </p:spTree>
    <p:extLst>
      <p:ext uri="{BB962C8B-B14F-4D97-AF65-F5344CB8AC3E}">
        <p14:creationId xmlns:p14="http://schemas.microsoft.com/office/powerpoint/2010/main" val="4112347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75FF66-1801-A142-30B6-3CD5623D9C13}"/>
              </a:ext>
            </a:extLst>
          </p:cNvPr>
          <p:cNvSpPr txBox="1"/>
          <p:nvPr/>
        </p:nvSpPr>
        <p:spPr>
          <a:xfrm>
            <a:off x="956510" y="2736502"/>
            <a:ext cx="8476248" cy="1384995"/>
          </a:xfrm>
          <a:prstGeom prst="rect">
            <a:avLst/>
          </a:prstGeom>
          <a:noFill/>
        </p:spPr>
        <p:txBody>
          <a:bodyPr wrap="square">
            <a:spAutoFit/>
          </a:bodyPr>
          <a:lstStyle/>
          <a:p>
            <a:r>
              <a:rPr lang="en-US" sz="2800" b="1" dirty="0">
                <a:solidFill>
                  <a:srgbClr val="7030A0"/>
                </a:solidFill>
                <a:latin typeface="Times New Roman" panose="02020603050405020304" pitchFamily="18" charset="0"/>
                <a:cs typeface="Times New Roman" panose="02020603050405020304" pitchFamily="18" charset="0"/>
              </a:rPr>
              <a:t>Deployment</a:t>
            </a:r>
            <a:endParaRPr lang="en-US" sz="2800" dirty="0">
              <a:solidFill>
                <a:srgbClr val="7030A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software is released to the end users.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Installation and maintenance processes are carried out.</a:t>
            </a:r>
          </a:p>
        </p:txBody>
      </p:sp>
      <p:sp>
        <p:nvSpPr>
          <p:cNvPr id="5" name="TextBox 4">
            <a:extLst>
              <a:ext uri="{FF2B5EF4-FFF2-40B4-BE49-F238E27FC236}">
                <a16:creationId xmlns:a16="http://schemas.microsoft.com/office/drawing/2014/main" id="{B4FF66E5-9DAC-BC4F-800A-85D27D86CBB8}"/>
              </a:ext>
            </a:extLst>
          </p:cNvPr>
          <p:cNvSpPr txBox="1"/>
          <p:nvPr/>
        </p:nvSpPr>
        <p:spPr>
          <a:xfrm>
            <a:off x="956510" y="4719485"/>
            <a:ext cx="8668753" cy="1384995"/>
          </a:xfrm>
          <a:prstGeom prst="rect">
            <a:avLst/>
          </a:prstGeom>
          <a:noFill/>
        </p:spPr>
        <p:txBody>
          <a:bodyPr wrap="square">
            <a:spAutoFit/>
          </a:bodyPr>
          <a:lstStyle/>
          <a:p>
            <a:r>
              <a:rPr lang="en-US" sz="2800" b="1" dirty="0">
                <a:solidFill>
                  <a:srgbClr val="7030A0"/>
                </a:solidFill>
                <a:latin typeface="Times New Roman" panose="02020603050405020304" pitchFamily="18" charset="0"/>
                <a:cs typeface="Times New Roman" panose="02020603050405020304" pitchFamily="18" charset="0"/>
              </a:rPr>
              <a:t>Maintenance</a:t>
            </a:r>
            <a:endParaRPr lang="en-US" sz="2800" dirty="0">
              <a:solidFill>
                <a:srgbClr val="7030A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Bug fixes, updates, and enhancements are performed.</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Ensures the software continues to function as expected.</a:t>
            </a:r>
          </a:p>
        </p:txBody>
      </p:sp>
      <p:sp>
        <p:nvSpPr>
          <p:cNvPr id="7" name="TextBox 6">
            <a:extLst>
              <a:ext uri="{FF2B5EF4-FFF2-40B4-BE49-F238E27FC236}">
                <a16:creationId xmlns:a16="http://schemas.microsoft.com/office/drawing/2014/main" id="{500B38C9-944C-21D3-EFCA-F471769A2123}"/>
              </a:ext>
            </a:extLst>
          </p:cNvPr>
          <p:cNvSpPr txBox="1"/>
          <p:nvPr/>
        </p:nvSpPr>
        <p:spPr>
          <a:xfrm>
            <a:off x="956510" y="755072"/>
            <a:ext cx="8476248" cy="1384995"/>
          </a:xfrm>
          <a:prstGeom prst="rect">
            <a:avLst/>
          </a:prstGeom>
          <a:noFill/>
        </p:spPr>
        <p:txBody>
          <a:bodyPr wrap="square">
            <a:spAutoFit/>
          </a:bodyPr>
          <a:lstStyle/>
          <a:p>
            <a:r>
              <a:rPr lang="en-US" sz="2800" b="1" dirty="0">
                <a:solidFill>
                  <a:srgbClr val="7030A0"/>
                </a:solidFill>
                <a:latin typeface="Times New Roman" panose="02020603050405020304" pitchFamily="18" charset="0"/>
                <a:cs typeface="Times New Roman" panose="02020603050405020304" pitchFamily="18" charset="0"/>
              </a:rPr>
              <a:t>Testing</a:t>
            </a:r>
            <a:endParaRPr lang="en-US" sz="2800" dirty="0">
              <a:solidFill>
                <a:srgbClr val="7030A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developed system is tested for defects and errors.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Ensures the software meets the specified requirements.</a:t>
            </a:r>
          </a:p>
        </p:txBody>
      </p:sp>
    </p:spTree>
    <p:extLst>
      <p:ext uri="{BB962C8B-B14F-4D97-AF65-F5344CB8AC3E}">
        <p14:creationId xmlns:p14="http://schemas.microsoft.com/office/powerpoint/2010/main" val="730541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4F553-3DCA-54A5-1E23-3BBE53633F79}"/>
              </a:ext>
            </a:extLst>
          </p:cNvPr>
          <p:cNvSpPr txBox="1">
            <a:spLocks/>
          </p:cNvSpPr>
          <p:nvPr/>
        </p:nvSpPr>
        <p:spPr>
          <a:xfrm>
            <a:off x="838200" y="87087"/>
            <a:ext cx="10515600" cy="696684"/>
          </a:xfrm>
          <a:prstGeom prst="rect">
            <a:avLst/>
          </a:prstGeom>
        </p:spPr>
        <p:txBody>
          <a:bodyPr>
            <a:normAutofit fontScale="8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b="1">
                <a:solidFill>
                  <a:srgbClr val="1155CC"/>
                </a:solidFill>
                <a:latin typeface="Laila"/>
              </a:rPr>
              <a:t>Software Development Models</a:t>
            </a:r>
            <a:br>
              <a:rPr lang="en-IN" sz="3200" b="1">
                <a:solidFill>
                  <a:srgbClr val="1155CC"/>
                </a:solidFill>
                <a:latin typeface="Laila"/>
              </a:rPr>
            </a:br>
            <a:r>
              <a:rPr lang="en-IN" sz="2700" b="1">
                <a:solidFill>
                  <a:schemeClr val="accent2">
                    <a:lumMod val="50000"/>
                  </a:schemeClr>
                </a:solidFill>
                <a:latin typeface="Laila"/>
              </a:rPr>
              <a:t>1)</a:t>
            </a:r>
            <a:r>
              <a:rPr lang="en-IN" sz="2700" b="1">
                <a:solidFill>
                  <a:srgbClr val="990000"/>
                </a:solidFill>
                <a:latin typeface="Laila"/>
              </a:rPr>
              <a:t>WATERFALL MODEL  </a:t>
            </a:r>
            <a:r>
              <a:rPr lang="en-IN" sz="2200" b="1">
                <a:solidFill>
                  <a:srgbClr val="990000"/>
                </a:solidFill>
                <a:latin typeface="Laila"/>
              </a:rPr>
              <a:t>-</a:t>
            </a:r>
            <a:endParaRPr lang="en-IN" sz="6600" dirty="0"/>
          </a:p>
        </p:txBody>
      </p:sp>
      <p:pic>
        <p:nvPicPr>
          <p:cNvPr id="1026" name="Picture 2" descr="How to Use the Waterfall Method in Any Project: actiTIME Guide">
            <a:extLst>
              <a:ext uri="{FF2B5EF4-FFF2-40B4-BE49-F238E27FC236}">
                <a16:creationId xmlns:a16="http://schemas.microsoft.com/office/drawing/2014/main" id="{C5231DCD-606E-D17B-8D44-F1890A5CD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83771"/>
            <a:ext cx="6433458" cy="59871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98383B0-AC05-985A-D5D5-1DC616888125}"/>
              </a:ext>
            </a:extLst>
          </p:cNvPr>
          <p:cNvSpPr txBox="1"/>
          <p:nvPr/>
        </p:nvSpPr>
        <p:spPr>
          <a:xfrm>
            <a:off x="5497286" y="1027837"/>
            <a:ext cx="5660572" cy="2554545"/>
          </a:xfrm>
          <a:prstGeom prst="rect">
            <a:avLst/>
          </a:prstGeom>
          <a:noFill/>
        </p:spPr>
        <p:txBody>
          <a:bodyPr wrap="square">
            <a:spAutoFit/>
          </a:bodyPr>
          <a:lstStyle/>
          <a:p>
            <a:pPr rtl="0">
              <a:spcBef>
                <a:spcPts val="0"/>
              </a:spcBef>
              <a:spcAft>
                <a:spcPts val="0"/>
              </a:spcAft>
            </a:pPr>
            <a:r>
              <a:rPr lang="en-US" sz="2000" b="1" i="0" u="none" strike="noStrike" dirty="0">
                <a:solidFill>
                  <a:srgbClr val="000000"/>
                </a:solidFill>
                <a:effectLst/>
                <a:latin typeface="Laila"/>
              </a:rPr>
              <a:t>ADVANTAGES: </a:t>
            </a:r>
            <a:endParaRPr lang="en-US" sz="2000" b="0" dirty="0">
              <a:effectLst/>
            </a:endParaRPr>
          </a:p>
          <a:p>
            <a:pPr indent="457200" rtl="0">
              <a:spcBef>
                <a:spcPts val="0"/>
              </a:spcBef>
              <a:spcAft>
                <a:spcPts val="0"/>
              </a:spcAft>
            </a:pPr>
            <a:r>
              <a:rPr lang="en-US" sz="2000" b="0" i="0" u="none" strike="noStrike" dirty="0">
                <a:solidFill>
                  <a:srgbClr val="000000"/>
                </a:solidFill>
                <a:effectLst/>
                <a:latin typeface="Laila"/>
              </a:rPr>
              <a:t>1. It is a simple model. </a:t>
            </a:r>
            <a:endParaRPr lang="en-US" sz="2000" b="0" dirty="0">
              <a:effectLst/>
            </a:endParaRPr>
          </a:p>
          <a:p>
            <a:pPr indent="457200" rtl="0">
              <a:spcBef>
                <a:spcPts val="0"/>
              </a:spcBef>
              <a:spcAft>
                <a:spcPts val="0"/>
              </a:spcAft>
            </a:pPr>
            <a:r>
              <a:rPr lang="en-US" sz="2000" b="0" i="0" u="none" strike="noStrike" dirty="0">
                <a:solidFill>
                  <a:srgbClr val="000000"/>
                </a:solidFill>
                <a:effectLst/>
                <a:latin typeface="Laila"/>
              </a:rPr>
              <a:t>2. Project monitoring and maintenance are very easy. </a:t>
            </a:r>
          </a:p>
          <a:p>
            <a:pPr indent="457200" rtl="0">
              <a:spcBef>
                <a:spcPts val="0"/>
              </a:spcBef>
              <a:spcAft>
                <a:spcPts val="0"/>
              </a:spcAft>
            </a:pPr>
            <a:endParaRPr lang="en-US" sz="2000" b="0" dirty="0">
              <a:effectLst/>
            </a:endParaRPr>
          </a:p>
          <a:p>
            <a:pPr rtl="0">
              <a:spcBef>
                <a:spcPts val="0"/>
              </a:spcBef>
              <a:spcAft>
                <a:spcPts val="0"/>
              </a:spcAft>
            </a:pPr>
            <a:r>
              <a:rPr lang="en-US" sz="2000" b="1" i="0" u="none" strike="noStrike" dirty="0">
                <a:solidFill>
                  <a:srgbClr val="000000"/>
                </a:solidFill>
                <a:effectLst/>
                <a:latin typeface="Laila"/>
              </a:rPr>
              <a:t>DISADVANTAGES: </a:t>
            </a:r>
            <a:endParaRPr lang="en-US" sz="2000" b="0" dirty="0">
              <a:effectLst/>
            </a:endParaRPr>
          </a:p>
          <a:p>
            <a:pPr indent="457200" rtl="0">
              <a:spcBef>
                <a:spcPts val="0"/>
              </a:spcBef>
              <a:spcAft>
                <a:spcPts val="0"/>
              </a:spcAft>
            </a:pPr>
            <a:r>
              <a:rPr lang="en-US" sz="2000" b="0" i="0" u="none" strike="noStrike" dirty="0">
                <a:solidFill>
                  <a:srgbClr val="000000"/>
                </a:solidFill>
                <a:effectLst/>
                <a:latin typeface="Laila"/>
              </a:rPr>
              <a:t> Can’t accept the new requirements in the middle of the process. </a:t>
            </a:r>
            <a:endParaRPr lang="en-US" sz="2000" b="0" dirty="0">
              <a:effectLst/>
            </a:endParaRPr>
          </a:p>
        </p:txBody>
      </p:sp>
    </p:spTree>
    <p:extLst>
      <p:ext uri="{BB962C8B-B14F-4D97-AF65-F5344CB8AC3E}">
        <p14:creationId xmlns:p14="http://schemas.microsoft.com/office/powerpoint/2010/main" val="1753830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BDBEF6-2382-8CF5-B3C1-952AC999A5FB}"/>
              </a:ext>
            </a:extLst>
          </p:cNvPr>
          <p:cNvSpPr txBox="1"/>
          <p:nvPr/>
        </p:nvSpPr>
        <p:spPr>
          <a:xfrm>
            <a:off x="795679" y="141906"/>
            <a:ext cx="6101442" cy="584775"/>
          </a:xfrm>
          <a:prstGeom prst="rect">
            <a:avLst/>
          </a:prstGeom>
          <a:noFill/>
        </p:spPr>
        <p:txBody>
          <a:bodyPr wrap="square">
            <a:spAutoFit/>
          </a:bodyPr>
          <a:lstStyle/>
          <a:p>
            <a:r>
              <a:rPr lang="en-US" sz="3200" b="1" dirty="0"/>
              <a:t>2)Spiral model</a:t>
            </a:r>
            <a:endParaRPr lang="en-IN" sz="3200" b="1" dirty="0"/>
          </a:p>
        </p:txBody>
      </p:sp>
      <p:pic>
        <p:nvPicPr>
          <p:cNvPr id="4" name="Picture 4" descr="What's Spiral Model? Advantages and Disadvantages">
            <a:extLst>
              <a:ext uri="{FF2B5EF4-FFF2-40B4-BE49-F238E27FC236}">
                <a16:creationId xmlns:a16="http://schemas.microsoft.com/office/drawing/2014/main" id="{C012A3CE-4B2A-30C9-D775-66D7651248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486" y="968830"/>
            <a:ext cx="6451828" cy="597625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C582A04-0EB6-8D3C-E4BA-229F17FE9A82}"/>
              </a:ext>
            </a:extLst>
          </p:cNvPr>
          <p:cNvSpPr txBox="1"/>
          <p:nvPr/>
        </p:nvSpPr>
        <p:spPr>
          <a:xfrm>
            <a:off x="7072314" y="1656781"/>
            <a:ext cx="4804000" cy="3785652"/>
          </a:xfrm>
          <a:prstGeom prst="rect">
            <a:avLst/>
          </a:prstGeom>
          <a:noFill/>
        </p:spPr>
        <p:txBody>
          <a:bodyPr wrap="square">
            <a:spAutoFit/>
          </a:bodyPr>
          <a:lstStyle/>
          <a:p>
            <a:pPr rtl="0">
              <a:spcBef>
                <a:spcPts val="0"/>
              </a:spcBef>
              <a:spcAft>
                <a:spcPts val="0"/>
              </a:spcAft>
            </a:pPr>
            <a:r>
              <a:rPr lang="en-US" sz="2400" b="1" i="0" u="none" strike="noStrike" dirty="0">
                <a:solidFill>
                  <a:srgbClr val="000000"/>
                </a:solidFill>
                <a:effectLst/>
                <a:latin typeface="Laila"/>
              </a:rPr>
              <a:t>ADVANTAGES: </a:t>
            </a:r>
            <a:endParaRPr lang="en-US" sz="2400" b="0" dirty="0">
              <a:effectLst/>
            </a:endParaRPr>
          </a:p>
          <a:p>
            <a:pPr indent="457200" rtl="0">
              <a:spcBef>
                <a:spcPts val="0"/>
              </a:spcBef>
              <a:spcAft>
                <a:spcPts val="0"/>
              </a:spcAft>
            </a:pPr>
            <a:r>
              <a:rPr lang="en-US" sz="2400" b="0" i="0" u="none" strike="noStrike" dirty="0">
                <a:solidFill>
                  <a:srgbClr val="000000"/>
                </a:solidFill>
                <a:effectLst/>
                <a:latin typeface="Laila"/>
              </a:rPr>
              <a:t>Whenever the project is highly risk-based this is the best suitable model.</a:t>
            </a:r>
          </a:p>
          <a:p>
            <a:pPr indent="457200" rtl="0">
              <a:spcBef>
                <a:spcPts val="0"/>
              </a:spcBef>
              <a:spcAft>
                <a:spcPts val="0"/>
              </a:spcAft>
            </a:pPr>
            <a:endParaRPr lang="en-US" sz="2400" b="0" dirty="0">
              <a:effectLst/>
            </a:endParaRPr>
          </a:p>
          <a:p>
            <a:pPr rtl="0">
              <a:spcBef>
                <a:spcPts val="0"/>
              </a:spcBef>
              <a:spcAft>
                <a:spcPts val="0"/>
              </a:spcAft>
            </a:pPr>
            <a:r>
              <a:rPr lang="en-US" sz="2400" b="1" i="0" u="none" strike="noStrike" dirty="0">
                <a:solidFill>
                  <a:srgbClr val="000000"/>
                </a:solidFill>
                <a:effectLst/>
                <a:latin typeface="Laila"/>
              </a:rPr>
              <a:t> DISADVANTAGES: </a:t>
            </a:r>
            <a:endParaRPr lang="en-US" sz="2400" b="0" dirty="0">
              <a:effectLst/>
            </a:endParaRPr>
          </a:p>
          <a:p>
            <a:pPr indent="457200" rtl="0">
              <a:spcBef>
                <a:spcPts val="0"/>
              </a:spcBef>
              <a:spcAft>
                <a:spcPts val="0"/>
              </a:spcAft>
            </a:pPr>
            <a:r>
              <a:rPr lang="en-US" sz="2400" b="0" i="0" u="none" strike="noStrike" dirty="0">
                <a:solidFill>
                  <a:srgbClr val="000000"/>
                </a:solidFill>
                <a:effectLst/>
                <a:latin typeface="Laila"/>
              </a:rPr>
              <a:t>1. Time-consuming model. </a:t>
            </a:r>
            <a:endParaRPr lang="en-US" sz="2400" b="0" dirty="0">
              <a:effectLst/>
            </a:endParaRPr>
          </a:p>
          <a:p>
            <a:pPr indent="457200" rtl="0">
              <a:spcBef>
                <a:spcPts val="0"/>
              </a:spcBef>
              <a:spcAft>
                <a:spcPts val="0"/>
              </a:spcAft>
            </a:pPr>
            <a:r>
              <a:rPr lang="en-US" sz="2400" b="0" i="0" u="none" strike="noStrike" dirty="0">
                <a:solidFill>
                  <a:srgbClr val="000000"/>
                </a:solidFill>
                <a:effectLst/>
                <a:latin typeface="Laila"/>
              </a:rPr>
              <a:t>2. Costly model. </a:t>
            </a:r>
            <a:endParaRPr lang="en-US" sz="2400" b="0" dirty="0">
              <a:effectLst/>
            </a:endParaRPr>
          </a:p>
          <a:p>
            <a:pPr indent="457200" rtl="0">
              <a:spcBef>
                <a:spcPts val="0"/>
              </a:spcBef>
              <a:spcAft>
                <a:spcPts val="0"/>
              </a:spcAft>
            </a:pPr>
            <a:r>
              <a:rPr lang="en-US" sz="2400" b="0" i="0" u="none" strike="noStrike" dirty="0">
                <a:solidFill>
                  <a:srgbClr val="000000"/>
                </a:solidFill>
                <a:effectLst/>
                <a:latin typeface="Laila"/>
              </a:rPr>
              <a:t>3. Risk route cause analysis is not an easy task.</a:t>
            </a:r>
            <a:r>
              <a:rPr lang="en-US" sz="2400" b="1" i="0" u="none" strike="noStrike" dirty="0">
                <a:solidFill>
                  <a:srgbClr val="000000"/>
                </a:solidFill>
                <a:effectLst/>
                <a:latin typeface="Laila"/>
              </a:rPr>
              <a:t> </a:t>
            </a:r>
            <a:endParaRPr lang="en-US" sz="2400" b="0" dirty="0">
              <a:effectLst/>
            </a:endParaRPr>
          </a:p>
        </p:txBody>
      </p:sp>
    </p:spTree>
    <p:extLst>
      <p:ext uri="{BB962C8B-B14F-4D97-AF65-F5344CB8AC3E}">
        <p14:creationId xmlns:p14="http://schemas.microsoft.com/office/powerpoint/2010/main" val="4094107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F1B425-B586-92B4-8CA4-95B7E090945D}"/>
              </a:ext>
            </a:extLst>
          </p:cNvPr>
          <p:cNvSpPr txBox="1"/>
          <p:nvPr/>
        </p:nvSpPr>
        <p:spPr>
          <a:xfrm>
            <a:off x="1254580" y="261649"/>
            <a:ext cx="6975020" cy="523220"/>
          </a:xfrm>
          <a:prstGeom prst="rect">
            <a:avLst/>
          </a:prstGeom>
          <a:noFill/>
        </p:spPr>
        <p:txBody>
          <a:bodyPr wrap="square">
            <a:spAutoFit/>
          </a:bodyPr>
          <a:lstStyle/>
          <a:p>
            <a:r>
              <a:rPr lang="en-US" sz="2800" b="1" dirty="0">
                <a:solidFill>
                  <a:schemeClr val="accent2">
                    <a:lumMod val="50000"/>
                  </a:schemeClr>
                </a:solidFill>
              </a:rPr>
              <a:t>3)V-Model (verification &amp; validation)</a:t>
            </a:r>
            <a:endParaRPr lang="en-IN" sz="2800" dirty="0"/>
          </a:p>
        </p:txBody>
      </p:sp>
      <p:pic>
        <p:nvPicPr>
          <p:cNvPr id="4" name="Picture 4" descr="The V-model explained | IAPM">
            <a:extLst>
              <a:ext uri="{FF2B5EF4-FFF2-40B4-BE49-F238E27FC236}">
                <a16:creationId xmlns:a16="http://schemas.microsoft.com/office/drawing/2014/main" id="{35E24F6A-5487-88A4-3A47-024341734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164772"/>
            <a:ext cx="7086600" cy="53281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565E42B-212B-A827-B908-86A80DE0F5E3}"/>
              </a:ext>
            </a:extLst>
          </p:cNvPr>
          <p:cNvSpPr txBox="1"/>
          <p:nvPr/>
        </p:nvSpPr>
        <p:spPr>
          <a:xfrm>
            <a:off x="7492094" y="1797498"/>
            <a:ext cx="4601935" cy="3416320"/>
          </a:xfrm>
          <a:prstGeom prst="rect">
            <a:avLst/>
          </a:prstGeom>
          <a:noFill/>
        </p:spPr>
        <p:txBody>
          <a:bodyPr wrap="square">
            <a:spAutoFit/>
          </a:bodyPr>
          <a:lstStyle/>
          <a:p>
            <a:pPr rtl="0">
              <a:spcBef>
                <a:spcPts val="0"/>
              </a:spcBef>
              <a:spcAft>
                <a:spcPts val="0"/>
              </a:spcAft>
            </a:pPr>
            <a:r>
              <a:rPr lang="en-US" sz="2400" b="1" i="0" u="none" strike="noStrike" dirty="0">
                <a:solidFill>
                  <a:srgbClr val="000000"/>
                </a:solidFill>
                <a:effectLst/>
                <a:latin typeface="Laila"/>
              </a:rPr>
              <a:t>ADVANTAGES: </a:t>
            </a:r>
            <a:endParaRPr lang="en-US" sz="2400" b="0" dirty="0">
              <a:effectLst/>
            </a:endParaRPr>
          </a:p>
          <a:p>
            <a:pPr indent="457200" rtl="0">
              <a:spcBef>
                <a:spcPts val="0"/>
              </a:spcBef>
              <a:spcAft>
                <a:spcPts val="0"/>
              </a:spcAft>
            </a:pPr>
            <a:r>
              <a:rPr lang="en-US" sz="2400" b="0" i="0" u="none" strike="noStrike" dirty="0">
                <a:solidFill>
                  <a:srgbClr val="000000"/>
                </a:solidFill>
                <a:effectLst/>
                <a:latin typeface="Laila"/>
              </a:rPr>
              <a:t>As verification, validation, and test management process is maintained. The outcome will be a quality product. </a:t>
            </a:r>
          </a:p>
          <a:p>
            <a:pPr indent="457200" rtl="0">
              <a:spcBef>
                <a:spcPts val="0"/>
              </a:spcBef>
              <a:spcAft>
                <a:spcPts val="0"/>
              </a:spcAft>
            </a:pPr>
            <a:endParaRPr lang="en-US" sz="2400" b="0" dirty="0">
              <a:effectLst/>
            </a:endParaRPr>
          </a:p>
          <a:p>
            <a:pPr rtl="0">
              <a:spcBef>
                <a:spcPts val="0"/>
              </a:spcBef>
              <a:spcAft>
                <a:spcPts val="0"/>
              </a:spcAft>
            </a:pPr>
            <a:r>
              <a:rPr lang="en-US" sz="2400" b="1" i="0" u="none" strike="noStrike" dirty="0">
                <a:solidFill>
                  <a:srgbClr val="000000"/>
                </a:solidFill>
                <a:effectLst/>
                <a:latin typeface="Laila"/>
              </a:rPr>
              <a:t>DISADVANTAGES: </a:t>
            </a:r>
            <a:endParaRPr lang="en-US" sz="2400" b="0" dirty="0">
              <a:effectLst/>
            </a:endParaRPr>
          </a:p>
          <a:p>
            <a:pPr indent="457200" rtl="0">
              <a:spcBef>
                <a:spcPts val="0"/>
              </a:spcBef>
              <a:spcAft>
                <a:spcPts val="0"/>
              </a:spcAft>
            </a:pPr>
            <a:r>
              <a:rPr lang="en-US" sz="2400" b="0" i="0" u="none" strike="noStrike" dirty="0">
                <a:solidFill>
                  <a:srgbClr val="000000"/>
                </a:solidFill>
                <a:effectLst/>
                <a:latin typeface="Laila"/>
              </a:rPr>
              <a:t>1. Time-consuming model. </a:t>
            </a:r>
            <a:endParaRPr lang="en-US" sz="2400" b="0" dirty="0">
              <a:effectLst/>
            </a:endParaRPr>
          </a:p>
          <a:p>
            <a:pPr indent="457200" rtl="0">
              <a:spcBef>
                <a:spcPts val="0"/>
              </a:spcBef>
              <a:spcAft>
                <a:spcPts val="0"/>
              </a:spcAft>
            </a:pPr>
            <a:r>
              <a:rPr lang="en-US" sz="2400" b="0" i="0" u="none" strike="noStrike" dirty="0">
                <a:solidFill>
                  <a:srgbClr val="000000"/>
                </a:solidFill>
                <a:effectLst/>
                <a:latin typeface="Laila"/>
              </a:rPr>
              <a:t>2. Costly model. </a:t>
            </a:r>
            <a:endParaRPr lang="en-US" sz="2400" b="0" dirty="0">
              <a:effectLst/>
            </a:endParaRPr>
          </a:p>
        </p:txBody>
      </p:sp>
    </p:spTree>
    <p:extLst>
      <p:ext uri="{BB962C8B-B14F-4D97-AF65-F5344CB8AC3E}">
        <p14:creationId xmlns:p14="http://schemas.microsoft.com/office/powerpoint/2010/main" val="4015439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ypes of Software Testing - GeeksforGeeks">
            <a:extLst>
              <a:ext uri="{FF2B5EF4-FFF2-40B4-BE49-F238E27FC236}">
                <a16:creationId xmlns:a16="http://schemas.microsoft.com/office/drawing/2014/main" id="{F3DCB647-37AE-236E-F4D2-B4976C099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 y="355600"/>
            <a:ext cx="9093200" cy="6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083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DAC7C-1A31-35B8-3613-F15FB670F3CA}"/>
              </a:ext>
            </a:extLst>
          </p:cNvPr>
          <p:cNvSpPr>
            <a:spLocks noGrp="1"/>
          </p:cNvSpPr>
          <p:nvPr>
            <p:ph type="title"/>
          </p:nvPr>
        </p:nvSpPr>
        <p:spPr>
          <a:xfrm>
            <a:off x="677334" y="294640"/>
            <a:ext cx="8596668" cy="5953760"/>
          </a:xfrm>
        </p:spPr>
        <p:txBody>
          <a:bodyPr>
            <a:normAutofit/>
          </a:bodyPr>
          <a:lstStyle/>
          <a:p>
            <a:pPr algn="ctr"/>
            <a:r>
              <a:rPr lang="en-US" sz="2400" b="1" dirty="0">
                <a:solidFill>
                  <a:schemeClr val="tx1"/>
                </a:solidFill>
                <a:latin typeface="Times New Roman" panose="02020603050405020304" pitchFamily="18" charset="0"/>
                <a:cs typeface="Times New Roman" panose="02020603050405020304" pitchFamily="18" charset="0"/>
              </a:rPr>
              <a:t>Black Box Testing Approach</a:t>
            </a:r>
            <a:endParaRPr lang="en-IN" sz="2400" b="1" dirty="0">
              <a:solidFill>
                <a:schemeClr val="tx1"/>
              </a:solidFill>
              <a:latin typeface="Times New Roman" panose="02020603050405020304" pitchFamily="18" charset="0"/>
              <a:cs typeface="Times New Roman" panose="02020603050405020304" pitchFamily="18" charset="0"/>
            </a:endParaRPr>
          </a:p>
        </p:txBody>
      </p:sp>
      <p:pic>
        <p:nvPicPr>
          <p:cNvPr id="2050" name="Picture 2" descr="Black-box Test Design Techniques - Lotus QA - Leading IT Outsourcing  Company In Vietnam">
            <a:extLst>
              <a:ext uri="{FF2B5EF4-FFF2-40B4-BE49-F238E27FC236}">
                <a16:creationId xmlns:a16="http://schemas.microsoft.com/office/drawing/2014/main" id="{12308D8D-7B77-21CA-5B77-55AA04FB3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393" y="1009650"/>
            <a:ext cx="4705350" cy="1962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hat is White Box Software Testing: Advantages and Disadvantages">
            <a:extLst>
              <a:ext uri="{FF2B5EF4-FFF2-40B4-BE49-F238E27FC236}">
                <a16:creationId xmlns:a16="http://schemas.microsoft.com/office/drawing/2014/main" id="{C6519A4C-8F1D-15C6-06F9-721CD1A696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5633" y="3686811"/>
            <a:ext cx="6247447" cy="2876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329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is Grey Box Testing?. Part 3 — Grey Box Testing | by gracedsitanggang  | Medium">
            <a:extLst>
              <a:ext uri="{FF2B5EF4-FFF2-40B4-BE49-F238E27FC236}">
                <a16:creationId xmlns:a16="http://schemas.microsoft.com/office/drawing/2014/main" id="{FDD56880-6AC8-BFF3-7CE0-D402B2DDC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600" y="934720"/>
            <a:ext cx="8290560" cy="4490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99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17AEC-F995-9D35-71E1-318E625B662C}"/>
              </a:ext>
            </a:extLst>
          </p:cNvPr>
          <p:cNvSpPr>
            <a:spLocks noGrp="1"/>
          </p:cNvSpPr>
          <p:nvPr>
            <p:ph type="title"/>
          </p:nvPr>
        </p:nvSpPr>
        <p:spPr/>
        <p:txBody>
          <a:bodyPr>
            <a:normAutofit/>
          </a:bodyPr>
          <a:lstStyle/>
          <a:p>
            <a:r>
              <a:rPr lang="en-US" sz="4000" b="1" dirty="0">
                <a:solidFill>
                  <a:schemeClr val="accent5">
                    <a:lumMod val="50000"/>
                  </a:schemeClr>
                </a:solidFill>
                <a:latin typeface="Times New Roman" panose="02020603050405020304" pitchFamily="18" charset="0"/>
                <a:cs typeface="Times New Roman" panose="02020603050405020304" pitchFamily="18" charset="0"/>
              </a:rPr>
              <a:t>Functional Testing</a:t>
            </a:r>
            <a:endParaRPr lang="en-IN" sz="40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4" name="AutoShape 2" descr="Difference between SDLC and STLC - Naukri Code 360">
            <a:extLst>
              <a:ext uri="{FF2B5EF4-FFF2-40B4-BE49-F238E27FC236}">
                <a16:creationId xmlns:a16="http://schemas.microsoft.com/office/drawing/2014/main" id="{51EB54B4-E9A4-775B-A1E7-44F723D06CA8}"/>
              </a:ext>
            </a:extLst>
          </p:cNvPr>
          <p:cNvSpPr>
            <a:spLocks noGrp="1" noChangeAspect="1" noChangeArrowheads="1"/>
          </p:cNvSpPr>
          <p:nvPr>
            <p:ph idx="1"/>
          </p:nvPr>
        </p:nvSpPr>
        <p:spPr bwMode="auto">
          <a:xfrm>
            <a:off x="677334" y="1422401"/>
            <a:ext cx="9005146" cy="461896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p>
            <a:pPr>
              <a:buFont typeface="Wingdings" panose="05000000000000000000" pitchFamily="2" charset="2"/>
              <a:buChar char="Ø"/>
            </a:pPr>
            <a:r>
              <a:rPr lang="en-US" sz="2400" dirty="0">
                <a:solidFill>
                  <a:srgbClr val="7030A0"/>
                </a:solidFill>
              </a:rPr>
              <a:t>Unit Testing </a:t>
            </a:r>
            <a:r>
              <a:rPr lang="en-US" sz="2400" dirty="0"/>
              <a:t>- A unit is the smallest testable part of a software application or system. Each unit is tested individually.</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solidFill>
                  <a:srgbClr val="7030A0"/>
                </a:solidFill>
              </a:rPr>
              <a:t>Integration Testing </a:t>
            </a:r>
            <a:r>
              <a:rPr lang="en-US" sz="2400" dirty="0"/>
              <a:t>- Integration testing is a software testing technique that tests the integration and data flow between different components or modules of a larger system.</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solidFill>
                  <a:srgbClr val="7030A0"/>
                </a:solidFill>
              </a:rPr>
              <a:t>System Testing </a:t>
            </a:r>
            <a:r>
              <a:rPr lang="en-US" sz="2400" dirty="0"/>
              <a:t>- </a:t>
            </a:r>
            <a:r>
              <a:rPr lang="en-US" sz="2400" b="0" i="0" dirty="0">
                <a:solidFill>
                  <a:srgbClr val="273239"/>
                </a:solidFill>
                <a:effectLst/>
                <a:highlight>
                  <a:srgbClr val="FFFFFF"/>
                </a:highlight>
                <a:latin typeface="Nunito" panose="020F0502020204030204" pitchFamily="2" charset="0"/>
              </a:rPr>
              <a:t>System testing is a type of software testing that evaluates the overall functionality and performance of a complete and fully integrated software solution.</a:t>
            </a:r>
            <a:endParaRPr lang="en-IN" sz="2400" dirty="0"/>
          </a:p>
        </p:txBody>
      </p:sp>
    </p:spTree>
    <p:extLst>
      <p:ext uri="{BB962C8B-B14F-4D97-AF65-F5344CB8AC3E}">
        <p14:creationId xmlns:p14="http://schemas.microsoft.com/office/powerpoint/2010/main" val="1769919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50050-7387-A54F-B8A4-7EE13648D171}"/>
              </a:ext>
            </a:extLst>
          </p:cNvPr>
          <p:cNvSpPr>
            <a:spLocks noGrp="1"/>
          </p:cNvSpPr>
          <p:nvPr>
            <p:ph type="title"/>
          </p:nvPr>
        </p:nvSpPr>
        <p:spPr/>
        <p:txBody>
          <a:bodyPr/>
          <a:lstStyle/>
          <a:p>
            <a:r>
              <a:rPr lang="en-US" b="1" dirty="0">
                <a:solidFill>
                  <a:schemeClr val="accent5">
                    <a:lumMod val="50000"/>
                  </a:schemeClr>
                </a:solidFill>
                <a:latin typeface="Times New Roman" panose="02020603050405020304" pitchFamily="18" charset="0"/>
                <a:cs typeface="Times New Roman" panose="02020603050405020304" pitchFamily="18" charset="0"/>
              </a:rPr>
              <a:t>Non Functional Testing</a:t>
            </a:r>
            <a:endParaRPr lang="en-IN"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0A51D1-7977-3EF2-24CC-7FF3B06B6D3C}"/>
              </a:ext>
            </a:extLst>
          </p:cNvPr>
          <p:cNvSpPr>
            <a:spLocks noGrp="1"/>
          </p:cNvSpPr>
          <p:nvPr>
            <p:ph idx="1"/>
          </p:nvPr>
        </p:nvSpPr>
        <p:spPr>
          <a:xfrm>
            <a:off x="575734" y="1488613"/>
            <a:ext cx="9411546" cy="5196667"/>
          </a:xfrm>
        </p:spPr>
        <p:txBody>
          <a:bodyPr>
            <a:normAutofit lnSpcReduction="10000"/>
          </a:bodyPr>
          <a:lstStyle/>
          <a:p>
            <a:r>
              <a:rPr lang="en-US" sz="2400" dirty="0">
                <a:solidFill>
                  <a:srgbClr val="7030A0"/>
                </a:solidFill>
              </a:rPr>
              <a:t>Performance Testing </a:t>
            </a:r>
            <a:r>
              <a:rPr lang="en-US" sz="2400" dirty="0"/>
              <a:t>– </a:t>
            </a:r>
            <a:r>
              <a:rPr lang="en-US" sz="2800" b="0" i="0" dirty="0">
                <a:solidFill>
                  <a:srgbClr val="4D5156"/>
                </a:solidFill>
                <a:effectLst/>
                <a:highlight>
                  <a:srgbClr val="FFFFFF"/>
                </a:highlight>
                <a:latin typeface="Google Sans"/>
              </a:rPr>
              <a:t>Performance testing is </a:t>
            </a:r>
            <a:r>
              <a:rPr lang="en-US" sz="2800" b="0" i="0" dirty="0">
                <a:solidFill>
                  <a:srgbClr val="040C28"/>
                </a:solidFill>
                <a:effectLst/>
                <a:latin typeface="Google Sans"/>
              </a:rPr>
              <a:t>the practice of evaluating how a system performs in terms of responsiveness and stability under a particular workload</a:t>
            </a:r>
            <a:r>
              <a:rPr lang="en-US" sz="2800" b="0" i="0" dirty="0">
                <a:solidFill>
                  <a:srgbClr val="4D5156"/>
                </a:solidFill>
                <a:effectLst/>
                <a:latin typeface="Google Sans"/>
              </a:rPr>
              <a:t>.</a:t>
            </a:r>
          </a:p>
          <a:p>
            <a:pPr marL="0" indent="0">
              <a:buNone/>
            </a:pPr>
            <a:r>
              <a:rPr lang="en-US" sz="2000" dirty="0"/>
              <a:t>         e.g. Load, Stress, Volume</a:t>
            </a:r>
          </a:p>
          <a:p>
            <a:pPr marL="0" indent="0">
              <a:buNone/>
            </a:pPr>
            <a:endParaRPr lang="en-US" sz="2000" dirty="0"/>
          </a:p>
          <a:p>
            <a:r>
              <a:rPr lang="en-US" sz="2400" dirty="0">
                <a:solidFill>
                  <a:srgbClr val="7030A0"/>
                </a:solidFill>
              </a:rPr>
              <a:t>Usability Testing </a:t>
            </a:r>
            <a:r>
              <a:rPr lang="en-US" sz="2400" dirty="0"/>
              <a:t>– Checks how easily the end users can understand and operate the application is called usability Testing.</a:t>
            </a:r>
          </a:p>
          <a:p>
            <a:endParaRPr lang="en-US" sz="2400" dirty="0"/>
          </a:p>
          <a:p>
            <a:r>
              <a:rPr lang="en-US" sz="2400" dirty="0">
                <a:solidFill>
                  <a:srgbClr val="7030A0"/>
                </a:solidFill>
              </a:rPr>
              <a:t>Compatibility Testing </a:t>
            </a:r>
            <a:r>
              <a:rPr lang="en-US" sz="2400" dirty="0"/>
              <a:t>– This is a type of software testing that ensures that a software application or system is compatible with different hardware, software, operating systems, browsers, and devices.</a:t>
            </a:r>
            <a:endParaRPr lang="en-IN" sz="2400" dirty="0"/>
          </a:p>
        </p:txBody>
      </p:sp>
    </p:spTree>
    <p:extLst>
      <p:ext uri="{BB962C8B-B14F-4D97-AF65-F5344CB8AC3E}">
        <p14:creationId xmlns:p14="http://schemas.microsoft.com/office/powerpoint/2010/main" val="3404797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C301C51-2CAC-FC23-5513-1F961AC24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257" y="348343"/>
            <a:ext cx="9666514" cy="6044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935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F23AF3-39F4-CA4E-02AD-26FAC94DDEA7}"/>
              </a:ext>
            </a:extLst>
          </p:cNvPr>
          <p:cNvSpPr txBox="1"/>
          <p:nvPr/>
        </p:nvSpPr>
        <p:spPr>
          <a:xfrm>
            <a:off x="609599" y="987309"/>
            <a:ext cx="9078686" cy="2800767"/>
          </a:xfrm>
          <a:prstGeom prst="rect">
            <a:avLst/>
          </a:prstGeom>
          <a:noFill/>
        </p:spPr>
        <p:txBody>
          <a:bodyPr wrap="square">
            <a:spAutoFit/>
          </a:bodyPr>
          <a:lstStyle/>
          <a:p>
            <a:r>
              <a:rPr lang="en-US" sz="3200" b="1" i="0" u="none" strike="noStrike" dirty="0">
                <a:solidFill>
                  <a:srgbClr val="000000"/>
                </a:solidFill>
                <a:effectLst/>
                <a:latin typeface="Laila"/>
              </a:rPr>
              <a:t>1)Smoke Testing - </a:t>
            </a:r>
          </a:p>
          <a:p>
            <a:endParaRPr lang="en-US" sz="2400" b="0" i="0" u="none" strike="noStrike" dirty="0">
              <a:solidFill>
                <a:srgbClr val="333333"/>
              </a:solidFill>
              <a:effectLst/>
              <a:highlight>
                <a:srgbClr val="FFFFFF"/>
              </a:highlight>
              <a:latin typeface="Laila"/>
            </a:endParaRPr>
          </a:p>
          <a:p>
            <a:r>
              <a:rPr lang="en-US" sz="2400" b="0" i="0" u="none" strike="noStrike" dirty="0">
                <a:solidFill>
                  <a:srgbClr val="333333"/>
                </a:solidFill>
                <a:effectLst/>
                <a:highlight>
                  <a:srgbClr val="FFFFFF"/>
                </a:highlight>
                <a:latin typeface="Laila"/>
              </a:rPr>
              <a:t>It is to test an application's basic and critical features before doing one round of deep and rigorous testing. In the smoke testing, we only focus on the positive flow of the application and enter only valid data, not invalid data. In smoke testing, we verify whether every build is testable or not; hence it is also known as </a:t>
            </a:r>
            <a:r>
              <a:rPr lang="en-US" sz="2400" b="1" i="0" u="none" strike="noStrike" dirty="0">
                <a:solidFill>
                  <a:srgbClr val="333333"/>
                </a:solidFill>
                <a:effectLst/>
                <a:highlight>
                  <a:srgbClr val="FFFFFF"/>
                </a:highlight>
                <a:latin typeface="Laila"/>
              </a:rPr>
              <a:t>Build Verification Testing.</a:t>
            </a:r>
            <a:endParaRPr lang="en-IN" sz="2400" dirty="0"/>
          </a:p>
        </p:txBody>
      </p:sp>
      <p:pic>
        <p:nvPicPr>
          <p:cNvPr id="1030" name="Picture 6" descr="What Is Smoke Testing In Software QA Testing? - 3Pillar">
            <a:extLst>
              <a:ext uri="{FF2B5EF4-FFF2-40B4-BE49-F238E27FC236}">
                <a16:creationId xmlns:a16="http://schemas.microsoft.com/office/drawing/2014/main" id="{9B25DE82-0D56-BE24-157F-72EE56D32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88" y="3949342"/>
            <a:ext cx="12110224" cy="2908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359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7961CE-6C0C-25E8-2AF7-AD69C860BC19}"/>
              </a:ext>
            </a:extLst>
          </p:cNvPr>
          <p:cNvSpPr txBox="1"/>
          <p:nvPr/>
        </p:nvSpPr>
        <p:spPr>
          <a:xfrm>
            <a:off x="274864" y="894700"/>
            <a:ext cx="10077450" cy="5262979"/>
          </a:xfrm>
          <a:prstGeom prst="rect">
            <a:avLst/>
          </a:prstGeom>
          <a:noFill/>
        </p:spPr>
        <p:txBody>
          <a:bodyPr wrap="square">
            <a:spAutoFit/>
          </a:bodyPr>
          <a:lstStyle/>
          <a:p>
            <a:pPr marL="914400" rtl="0" fontAlgn="base">
              <a:spcBef>
                <a:spcPts val="0"/>
              </a:spcBef>
              <a:spcAft>
                <a:spcPts val="0"/>
              </a:spcAft>
            </a:pPr>
            <a:r>
              <a:rPr lang="en-US" sz="2400" b="1" i="0" u="none" strike="noStrike" dirty="0">
                <a:solidFill>
                  <a:srgbClr val="000000"/>
                </a:solidFill>
                <a:effectLst/>
                <a:latin typeface="Laila"/>
              </a:rPr>
              <a:t>2)Sanity Testing - </a:t>
            </a:r>
          </a:p>
          <a:p>
            <a:pPr marL="1371600" indent="457200" rtl="0">
              <a:spcBef>
                <a:spcPts val="0"/>
              </a:spcBef>
              <a:spcAft>
                <a:spcPts val="0"/>
              </a:spcAft>
            </a:pPr>
            <a:r>
              <a:rPr lang="en-US" sz="2400" b="0" i="0" u="none" strike="noStrike" dirty="0">
                <a:solidFill>
                  <a:srgbClr val="333333"/>
                </a:solidFill>
                <a:effectLst/>
                <a:highlight>
                  <a:srgbClr val="FFFFFF"/>
                </a:highlight>
                <a:latin typeface="Laila"/>
              </a:rPr>
              <a:t>Sanity testing is performed to make sure that all the defects have been solved and no added issues come into the present because of these modifications.</a:t>
            </a:r>
            <a:endParaRPr lang="en-US" sz="2400" b="0" dirty="0">
              <a:effectLst/>
            </a:endParaRPr>
          </a:p>
          <a:p>
            <a:pPr marL="1371600" indent="457200" rtl="0">
              <a:spcBef>
                <a:spcPts val="0"/>
              </a:spcBef>
              <a:spcAft>
                <a:spcPts val="0"/>
              </a:spcAft>
            </a:pPr>
            <a:r>
              <a:rPr lang="en-US" sz="2400" b="0" i="0" u="none" strike="noStrike" dirty="0">
                <a:solidFill>
                  <a:srgbClr val="333333"/>
                </a:solidFill>
                <a:effectLst/>
                <a:highlight>
                  <a:srgbClr val="FFFFFF"/>
                </a:highlight>
                <a:latin typeface="Laila"/>
              </a:rPr>
              <a:t>Sanity testing is done on stable builds</a:t>
            </a:r>
            <a:endParaRPr lang="en-US" sz="2400" b="0" dirty="0">
              <a:effectLst/>
            </a:endParaRPr>
          </a:p>
          <a:p>
            <a:pPr marL="914400" rtl="0" fontAlgn="base">
              <a:spcBef>
                <a:spcPts val="0"/>
              </a:spcBef>
              <a:spcAft>
                <a:spcPts val="0"/>
              </a:spcAft>
            </a:pPr>
            <a:br>
              <a:rPr lang="en-US" sz="2400" b="0" dirty="0">
                <a:effectLst/>
              </a:rPr>
            </a:br>
            <a:r>
              <a:rPr lang="en-US" sz="2400" b="0" dirty="0">
                <a:effectLst/>
              </a:rPr>
              <a:t>3)</a:t>
            </a:r>
            <a:r>
              <a:rPr lang="en-US" sz="2400" b="1" i="0" u="none" strike="noStrike" dirty="0">
                <a:solidFill>
                  <a:srgbClr val="000000"/>
                </a:solidFill>
                <a:effectLst/>
                <a:latin typeface="Laila"/>
              </a:rPr>
              <a:t>Regression Testing -</a:t>
            </a:r>
          </a:p>
          <a:p>
            <a:pPr marL="1371600" indent="457200" rtl="0">
              <a:spcBef>
                <a:spcPts val="0"/>
              </a:spcBef>
              <a:spcAft>
                <a:spcPts val="0"/>
              </a:spcAft>
            </a:pPr>
            <a:r>
              <a:rPr lang="en-US" sz="2400" b="0" i="0" u="none" strike="noStrike" dirty="0">
                <a:solidFill>
                  <a:srgbClr val="333333"/>
                </a:solidFill>
                <a:effectLst/>
                <a:highlight>
                  <a:srgbClr val="FFFFFF"/>
                </a:highlight>
                <a:latin typeface="Laila"/>
              </a:rPr>
              <a:t>Regression testing is to check a code change in the software does not impact the existing functionality of the product.</a:t>
            </a:r>
            <a:endParaRPr lang="en-US" sz="2400" b="0" dirty="0">
              <a:effectLst/>
            </a:endParaRPr>
          </a:p>
          <a:p>
            <a:pPr marL="1371600" indent="457200" rtl="0">
              <a:spcBef>
                <a:spcPts val="0"/>
              </a:spcBef>
              <a:spcAft>
                <a:spcPts val="0"/>
              </a:spcAft>
            </a:pPr>
            <a:r>
              <a:rPr lang="en-US" sz="2400" b="0" i="0" u="none" strike="noStrike" dirty="0">
                <a:solidFill>
                  <a:srgbClr val="333333"/>
                </a:solidFill>
                <a:effectLst/>
                <a:highlight>
                  <a:srgbClr val="FFFFFF"/>
                </a:highlight>
                <a:latin typeface="Laila"/>
              </a:rPr>
              <a:t> Regression testing is making sure that the product works fine with new functionality, bug fixes, or any change in the existing feature.</a:t>
            </a:r>
            <a:endParaRPr lang="en-US" sz="2400" b="0" dirty="0">
              <a:effectLst/>
            </a:endParaRPr>
          </a:p>
          <a:p>
            <a:br>
              <a:rPr lang="en-US" sz="2400" dirty="0"/>
            </a:br>
            <a:endParaRPr lang="en-IN" sz="2400" dirty="0"/>
          </a:p>
        </p:txBody>
      </p:sp>
    </p:spTree>
    <p:extLst>
      <p:ext uri="{BB962C8B-B14F-4D97-AF65-F5344CB8AC3E}">
        <p14:creationId xmlns:p14="http://schemas.microsoft.com/office/powerpoint/2010/main" val="1642928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B3735A-3F82-C086-0DB6-FD2142065D44}"/>
              </a:ext>
            </a:extLst>
          </p:cNvPr>
          <p:cNvSpPr txBox="1"/>
          <p:nvPr/>
        </p:nvSpPr>
        <p:spPr>
          <a:xfrm>
            <a:off x="-217714" y="889843"/>
            <a:ext cx="10395857" cy="5262979"/>
          </a:xfrm>
          <a:prstGeom prst="rect">
            <a:avLst/>
          </a:prstGeom>
          <a:noFill/>
        </p:spPr>
        <p:txBody>
          <a:bodyPr wrap="square">
            <a:spAutoFit/>
          </a:bodyPr>
          <a:lstStyle/>
          <a:p>
            <a:pPr marL="914400" algn="just" rtl="0" fontAlgn="base">
              <a:spcBef>
                <a:spcPts val="0"/>
              </a:spcBef>
              <a:spcAft>
                <a:spcPts val="0"/>
              </a:spcAft>
            </a:pPr>
            <a:r>
              <a:rPr lang="en-US" sz="2400" b="1" i="0" u="none" strike="noStrike" dirty="0">
                <a:solidFill>
                  <a:srgbClr val="000000"/>
                </a:solidFill>
                <a:effectLst/>
                <a:latin typeface="Laila"/>
              </a:rPr>
              <a:t>    4) User Acceptance Testing -</a:t>
            </a:r>
          </a:p>
          <a:p>
            <a:pPr marL="1371600" indent="457200" algn="just" rtl="0">
              <a:spcBef>
                <a:spcPts val="0"/>
              </a:spcBef>
              <a:spcAft>
                <a:spcPts val="0"/>
              </a:spcAft>
            </a:pPr>
            <a:r>
              <a:rPr lang="en-US" sz="2400" b="0" i="0" u="none" strike="noStrike" dirty="0">
                <a:solidFill>
                  <a:srgbClr val="333333"/>
                </a:solidFill>
                <a:effectLst/>
                <a:highlight>
                  <a:srgbClr val="FFFFFF"/>
                </a:highlight>
                <a:latin typeface="Laila"/>
              </a:rPr>
              <a:t>User acceptance testing (UAT) is a type of testing, which is done by the customer before accepting the final product. </a:t>
            </a:r>
            <a:endParaRPr lang="en-US" sz="2400" b="0" dirty="0">
              <a:effectLst/>
            </a:endParaRPr>
          </a:p>
          <a:p>
            <a:pPr marL="1371600" indent="457200" algn="just" rtl="0">
              <a:spcBef>
                <a:spcPts val="0"/>
              </a:spcBef>
              <a:spcAft>
                <a:spcPts val="0"/>
              </a:spcAft>
            </a:pPr>
            <a:r>
              <a:rPr lang="en-US" sz="2400" b="0" i="0" u="none" strike="noStrike" dirty="0">
                <a:solidFill>
                  <a:srgbClr val="333333"/>
                </a:solidFill>
                <a:effectLst/>
                <a:highlight>
                  <a:srgbClr val="FFFFFF"/>
                </a:highlight>
                <a:latin typeface="Laila"/>
              </a:rPr>
              <a:t> Generally, UAT is done by the customer (domain expert) for their satisfaction, and to check whether the application is working according to given business scenarios, and real-time scenarios.</a:t>
            </a:r>
            <a:endParaRPr lang="en-US" sz="2400" i="0" u="none" strike="noStrike" dirty="0">
              <a:solidFill>
                <a:srgbClr val="333333"/>
              </a:solidFill>
              <a:highlight>
                <a:srgbClr val="FFFFFF"/>
              </a:highlight>
              <a:latin typeface="Laila"/>
            </a:endParaRPr>
          </a:p>
          <a:p>
            <a:pPr marL="1371600" indent="457200" algn="just" rtl="0">
              <a:spcBef>
                <a:spcPts val="0"/>
              </a:spcBef>
              <a:spcAft>
                <a:spcPts val="0"/>
              </a:spcAft>
            </a:pPr>
            <a:br>
              <a:rPr lang="en-US" sz="2400" b="0" dirty="0">
                <a:effectLst/>
              </a:rPr>
            </a:br>
            <a:r>
              <a:rPr lang="en-US" sz="2400" b="1" dirty="0">
                <a:effectLst/>
              </a:rPr>
              <a:t>5) </a:t>
            </a:r>
            <a:r>
              <a:rPr lang="en-US" sz="2400" b="1" i="0" u="none" strike="noStrike" dirty="0">
                <a:solidFill>
                  <a:srgbClr val="000000"/>
                </a:solidFill>
                <a:effectLst/>
                <a:latin typeface="Laila"/>
              </a:rPr>
              <a:t>Exploratory Testing -</a:t>
            </a:r>
          </a:p>
          <a:p>
            <a:pPr marL="1085850" indent="-400050" algn="just" rtl="0">
              <a:spcBef>
                <a:spcPts val="0"/>
              </a:spcBef>
              <a:spcAft>
                <a:spcPts val="0"/>
              </a:spcAft>
            </a:pPr>
            <a:r>
              <a:rPr lang="en-US" sz="2400" b="0" i="0" u="none" strike="noStrike" dirty="0">
                <a:solidFill>
                  <a:srgbClr val="333333"/>
                </a:solidFill>
                <a:effectLst/>
                <a:latin typeface="Laila"/>
              </a:rPr>
              <a:t>          Whenever the requirement is missing, early iteration is required, and the testing team has experienced testers when we have a critical application. A new test engineer entered the team then we went for the exploratory testing.</a:t>
            </a:r>
            <a:endParaRPr lang="en-US" sz="2400" b="0" dirty="0">
              <a:effectLst/>
            </a:endParaRPr>
          </a:p>
          <a:p>
            <a:pPr algn="just"/>
            <a:br>
              <a:rPr lang="en-US" sz="2400" dirty="0"/>
            </a:br>
            <a:endParaRPr lang="en-IN" sz="2400" dirty="0"/>
          </a:p>
        </p:txBody>
      </p:sp>
    </p:spTree>
    <p:extLst>
      <p:ext uri="{BB962C8B-B14F-4D97-AF65-F5344CB8AC3E}">
        <p14:creationId xmlns:p14="http://schemas.microsoft.com/office/powerpoint/2010/main" val="281373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22E236-0F93-9C05-12AC-C4B703B0CC1D}"/>
              </a:ext>
            </a:extLst>
          </p:cNvPr>
          <p:cNvSpPr txBox="1"/>
          <p:nvPr/>
        </p:nvSpPr>
        <p:spPr>
          <a:xfrm>
            <a:off x="326571" y="653963"/>
            <a:ext cx="9100458" cy="1938992"/>
          </a:xfrm>
          <a:prstGeom prst="rect">
            <a:avLst/>
          </a:prstGeom>
          <a:noFill/>
        </p:spPr>
        <p:txBody>
          <a:bodyPr wrap="square">
            <a:spAutoFit/>
          </a:bodyPr>
          <a:lstStyle/>
          <a:p>
            <a:pPr marL="914400" rtl="0" fontAlgn="base">
              <a:spcBef>
                <a:spcPts val="0"/>
              </a:spcBef>
              <a:spcAft>
                <a:spcPts val="0"/>
              </a:spcAft>
            </a:pPr>
            <a:r>
              <a:rPr lang="en-US" sz="2400" b="1" i="0" u="none" strike="noStrike" dirty="0">
                <a:solidFill>
                  <a:srgbClr val="000000"/>
                </a:solidFill>
                <a:effectLst/>
                <a:latin typeface="Laila"/>
              </a:rPr>
              <a:t>6) </a:t>
            </a:r>
            <a:r>
              <a:rPr lang="en-US" sz="2400" b="1" i="0" u="none" strike="noStrike" dirty="0" err="1">
                <a:solidFill>
                  <a:srgbClr val="000000"/>
                </a:solidFill>
                <a:effectLst/>
                <a:latin typeface="Laila"/>
              </a:rPr>
              <a:t>Adhoc</a:t>
            </a:r>
            <a:r>
              <a:rPr lang="en-US" sz="2400" b="1" i="0" u="none" strike="noStrike" dirty="0">
                <a:solidFill>
                  <a:srgbClr val="000000"/>
                </a:solidFill>
                <a:effectLst/>
                <a:latin typeface="Laila"/>
              </a:rPr>
              <a:t> Testing –</a:t>
            </a:r>
          </a:p>
          <a:p>
            <a:pPr marL="914400" rtl="0" fontAlgn="base">
              <a:spcBef>
                <a:spcPts val="0"/>
              </a:spcBef>
              <a:spcAft>
                <a:spcPts val="0"/>
              </a:spcAft>
            </a:pPr>
            <a:endParaRPr lang="en-US" sz="2400" b="1" i="0" u="none" strike="noStrike" dirty="0">
              <a:solidFill>
                <a:srgbClr val="000000"/>
              </a:solidFill>
              <a:effectLst/>
              <a:latin typeface="Laila"/>
            </a:endParaRPr>
          </a:p>
          <a:p>
            <a:pPr marL="914400" rtl="0" fontAlgn="base">
              <a:spcBef>
                <a:spcPts val="0"/>
              </a:spcBef>
              <a:spcAft>
                <a:spcPts val="0"/>
              </a:spcAft>
            </a:pPr>
            <a:r>
              <a:rPr lang="en-US" sz="2400" b="0" i="0" u="none" strike="noStrike" dirty="0">
                <a:solidFill>
                  <a:srgbClr val="333333"/>
                </a:solidFill>
                <a:effectLst/>
                <a:highlight>
                  <a:srgbClr val="FFFFFF"/>
                </a:highlight>
                <a:latin typeface="Laila"/>
              </a:rPr>
              <a:t>	Testing the application randomly as soon as the build is in the checked sequence is known as </a:t>
            </a:r>
            <a:r>
              <a:rPr lang="en-US" sz="2400" b="0" i="0" u="none" strike="noStrike" dirty="0" err="1">
                <a:solidFill>
                  <a:srgbClr val="333333"/>
                </a:solidFill>
                <a:effectLst/>
                <a:highlight>
                  <a:srgbClr val="FFFFFF"/>
                </a:highlight>
                <a:latin typeface="Laila"/>
              </a:rPr>
              <a:t>Adhoc</a:t>
            </a:r>
            <a:r>
              <a:rPr lang="en-US" sz="2400" b="0" i="0" u="none" strike="noStrike" dirty="0">
                <a:solidFill>
                  <a:srgbClr val="333333"/>
                </a:solidFill>
                <a:effectLst/>
                <a:highlight>
                  <a:srgbClr val="FFFFFF"/>
                </a:highlight>
                <a:latin typeface="Laila"/>
              </a:rPr>
              <a:t> testing.</a:t>
            </a:r>
            <a:endParaRPr lang="en-US" sz="2400" b="0" dirty="0">
              <a:effectLst/>
              <a:highlight>
                <a:srgbClr val="FFFFFF"/>
              </a:highlight>
            </a:endParaRPr>
          </a:p>
          <a:p>
            <a:pPr algn="just"/>
            <a:r>
              <a:rPr lang="en-US" sz="2400" b="0" i="0" u="none" strike="noStrike" dirty="0">
                <a:solidFill>
                  <a:srgbClr val="333333"/>
                </a:solidFill>
                <a:effectLst/>
                <a:latin typeface="Laila"/>
              </a:rPr>
              <a:t>                              It is also called </a:t>
            </a:r>
            <a:r>
              <a:rPr lang="en-US" sz="2400" b="1" i="0" u="none" strike="noStrike" dirty="0">
                <a:solidFill>
                  <a:srgbClr val="333333"/>
                </a:solidFill>
                <a:effectLst/>
                <a:latin typeface="Laila"/>
              </a:rPr>
              <a:t>Monkey testing and Gorilla testing.</a:t>
            </a:r>
            <a:endParaRPr lang="en-IN" sz="2400" dirty="0"/>
          </a:p>
        </p:txBody>
      </p:sp>
      <p:sp>
        <p:nvSpPr>
          <p:cNvPr id="5" name="TextBox 4">
            <a:extLst>
              <a:ext uri="{FF2B5EF4-FFF2-40B4-BE49-F238E27FC236}">
                <a16:creationId xmlns:a16="http://schemas.microsoft.com/office/drawing/2014/main" id="{B8ADD715-D107-BF1B-A123-CFC33E14935B}"/>
              </a:ext>
            </a:extLst>
          </p:cNvPr>
          <p:cNvSpPr txBox="1"/>
          <p:nvPr/>
        </p:nvSpPr>
        <p:spPr>
          <a:xfrm>
            <a:off x="234043" y="3095494"/>
            <a:ext cx="9476014" cy="3170099"/>
          </a:xfrm>
          <a:prstGeom prst="rect">
            <a:avLst/>
          </a:prstGeom>
          <a:noFill/>
        </p:spPr>
        <p:txBody>
          <a:bodyPr wrap="square">
            <a:spAutoFit/>
          </a:bodyPr>
          <a:lstStyle/>
          <a:p>
            <a:pPr marL="914400" rtl="0" fontAlgn="base">
              <a:spcBef>
                <a:spcPts val="0"/>
              </a:spcBef>
              <a:spcAft>
                <a:spcPts val="0"/>
              </a:spcAft>
            </a:pPr>
            <a:r>
              <a:rPr lang="en-US" sz="2400" b="1" i="0" u="none" strike="noStrike" dirty="0">
                <a:solidFill>
                  <a:srgbClr val="000000"/>
                </a:solidFill>
                <a:effectLst/>
                <a:latin typeface="Laila"/>
              </a:rPr>
              <a:t>  7)Security Testing -</a:t>
            </a:r>
          </a:p>
          <a:p>
            <a:pPr marL="1371600" indent="457200" algn="just" rtl="0">
              <a:spcBef>
                <a:spcPts val="1200"/>
              </a:spcBef>
              <a:spcAft>
                <a:spcPts val="0"/>
              </a:spcAft>
            </a:pPr>
            <a:r>
              <a:rPr lang="en-US" sz="2400" b="0" i="0" u="none" strike="noStrike" dirty="0">
                <a:solidFill>
                  <a:srgbClr val="333333"/>
                </a:solidFill>
                <a:effectLst/>
                <a:highlight>
                  <a:srgbClr val="FFFFFF"/>
                </a:highlight>
                <a:latin typeface="Laila"/>
              </a:rPr>
              <a:t>It is an essential part of software testing, used to determine the weaknesses, risks, or threats in the software application.</a:t>
            </a:r>
            <a:endParaRPr lang="en-US" sz="2400" b="0" dirty="0">
              <a:effectLst/>
              <a:highlight>
                <a:srgbClr val="FFFFFF"/>
              </a:highlight>
            </a:endParaRPr>
          </a:p>
          <a:p>
            <a:pPr marL="1371600" indent="457200" algn="just" rtl="0">
              <a:spcBef>
                <a:spcPts val="0"/>
              </a:spcBef>
              <a:spcAft>
                <a:spcPts val="1200"/>
              </a:spcAft>
            </a:pPr>
            <a:r>
              <a:rPr lang="en-US" sz="2400" b="0" i="0" u="none" strike="noStrike" dirty="0">
                <a:solidFill>
                  <a:srgbClr val="333333"/>
                </a:solidFill>
                <a:effectLst/>
                <a:highlight>
                  <a:srgbClr val="FFFFFF"/>
                </a:highlight>
                <a:latin typeface="Laila"/>
              </a:rPr>
              <a:t>The execution of security testing will help us to avoid nasty attacks from outsiders and ensure our software applications' security.</a:t>
            </a:r>
            <a:endParaRPr lang="en-US" sz="2400" b="0" dirty="0">
              <a:effectLst/>
              <a:highlight>
                <a:srgbClr val="FFFFFF"/>
              </a:highlight>
            </a:endParaRPr>
          </a:p>
          <a:p>
            <a:br>
              <a:rPr lang="en-US" dirty="0"/>
            </a:br>
            <a:endParaRPr lang="en-IN" dirty="0"/>
          </a:p>
        </p:txBody>
      </p:sp>
    </p:spTree>
    <p:extLst>
      <p:ext uri="{BB962C8B-B14F-4D97-AF65-F5344CB8AC3E}">
        <p14:creationId xmlns:p14="http://schemas.microsoft.com/office/powerpoint/2010/main" val="1383053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6D747E-018B-CA2F-C4FA-014122B274F3}"/>
              </a:ext>
            </a:extLst>
          </p:cNvPr>
          <p:cNvSpPr txBox="1"/>
          <p:nvPr/>
        </p:nvSpPr>
        <p:spPr>
          <a:xfrm>
            <a:off x="141515" y="1371323"/>
            <a:ext cx="9677400" cy="3108543"/>
          </a:xfrm>
          <a:prstGeom prst="rect">
            <a:avLst/>
          </a:prstGeom>
          <a:noFill/>
        </p:spPr>
        <p:txBody>
          <a:bodyPr wrap="square">
            <a:spAutoFit/>
          </a:bodyPr>
          <a:lstStyle/>
          <a:p>
            <a:pPr marL="914400" rtl="0" fontAlgn="base">
              <a:spcBef>
                <a:spcPts val="0"/>
              </a:spcBef>
              <a:spcAft>
                <a:spcPts val="0"/>
              </a:spcAft>
            </a:pPr>
            <a:r>
              <a:rPr lang="en-US" sz="2800" b="1" i="0" u="none" strike="noStrike" dirty="0">
                <a:solidFill>
                  <a:srgbClr val="000000"/>
                </a:solidFill>
                <a:effectLst/>
                <a:latin typeface="Laila"/>
              </a:rPr>
              <a:t>8) Globalization Testing -</a:t>
            </a:r>
          </a:p>
          <a:p>
            <a:pPr marL="1371600" rtl="0">
              <a:spcBef>
                <a:spcPts val="0"/>
              </a:spcBef>
              <a:spcAft>
                <a:spcPts val="0"/>
              </a:spcAft>
            </a:pPr>
            <a:r>
              <a:rPr lang="en-US" sz="2800" b="0" i="0" u="none" strike="noStrike" dirty="0">
                <a:solidFill>
                  <a:srgbClr val="333333"/>
                </a:solidFill>
                <a:effectLst/>
                <a:highlight>
                  <a:srgbClr val="FFFFFF"/>
                </a:highlight>
                <a:latin typeface="Laila"/>
              </a:rPr>
              <a:t>Globalization testing is used to check whether the developed software is for multiple languages or not. Here, the word globalization means enlightening the application or software for various languages.</a:t>
            </a:r>
            <a:endParaRPr lang="en-US" sz="2800" b="0" dirty="0">
              <a:effectLst/>
            </a:endParaRPr>
          </a:p>
          <a:p>
            <a:br>
              <a:rPr lang="en-US" sz="2800" dirty="0"/>
            </a:br>
            <a:endParaRPr lang="en-IN" sz="2800" dirty="0"/>
          </a:p>
        </p:txBody>
      </p:sp>
      <p:pic>
        <p:nvPicPr>
          <p:cNvPr id="2050" name="Picture 2" descr="Globalization Testing - javatpoint">
            <a:extLst>
              <a:ext uri="{FF2B5EF4-FFF2-40B4-BE49-F238E27FC236}">
                <a16:creationId xmlns:a16="http://schemas.microsoft.com/office/drawing/2014/main" id="{CFED19AB-E3C2-6A99-EC69-1380742B22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8732" y="3785259"/>
            <a:ext cx="6423101" cy="2409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319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4B8896-CD56-D5FB-C39A-E9262B1B2CD3}"/>
              </a:ext>
            </a:extLst>
          </p:cNvPr>
          <p:cNvSpPr txBox="1"/>
          <p:nvPr/>
        </p:nvSpPr>
        <p:spPr>
          <a:xfrm>
            <a:off x="-217714" y="181957"/>
            <a:ext cx="10276114" cy="6494085"/>
          </a:xfrm>
          <a:prstGeom prst="rect">
            <a:avLst/>
          </a:prstGeom>
          <a:noFill/>
        </p:spPr>
        <p:txBody>
          <a:bodyPr wrap="square">
            <a:spAutoFit/>
          </a:bodyPr>
          <a:lstStyle/>
          <a:p>
            <a:pPr marL="914400" rtl="0" fontAlgn="base">
              <a:spcBef>
                <a:spcPts val="0"/>
              </a:spcBef>
              <a:spcAft>
                <a:spcPts val="0"/>
              </a:spcAft>
            </a:pPr>
            <a:endParaRPr lang="en-US" sz="2400" b="1" i="0" u="none" strike="noStrike" dirty="0">
              <a:solidFill>
                <a:srgbClr val="B45F06"/>
              </a:solidFill>
              <a:effectLst/>
              <a:latin typeface="Laila"/>
            </a:endParaRPr>
          </a:p>
          <a:p>
            <a:pPr marL="914400" rtl="0" fontAlgn="base">
              <a:spcBef>
                <a:spcPts val="0"/>
              </a:spcBef>
              <a:spcAft>
                <a:spcPts val="0"/>
              </a:spcAft>
            </a:pPr>
            <a:r>
              <a:rPr lang="en-US" sz="2800" b="1" i="0" u="none" strike="noStrike" dirty="0">
                <a:solidFill>
                  <a:srgbClr val="B45F06"/>
                </a:solidFill>
                <a:effectLst/>
                <a:latin typeface="Laila"/>
              </a:rPr>
              <a:t>Alpha Testing - </a:t>
            </a:r>
            <a:r>
              <a:rPr lang="en-US" sz="2800" b="0" i="0" u="none" strike="noStrike" dirty="0">
                <a:solidFill>
                  <a:srgbClr val="B45F06"/>
                </a:solidFill>
                <a:effectLst/>
                <a:latin typeface="Laila"/>
              </a:rPr>
              <a:t> </a:t>
            </a:r>
            <a:r>
              <a:rPr lang="en-US" sz="2800" b="0" i="0" u="none" strike="noStrike" dirty="0">
                <a:solidFill>
                  <a:srgbClr val="333333"/>
                </a:solidFill>
                <a:effectLst/>
                <a:latin typeface="Laila"/>
              </a:rPr>
              <a:t>This testing is performed before the final product is released to the end-users or the customer. This testing is performed by the QA Testers internally to the organization or you can say performed at the developer’s site. The Bugs can be addressed by the developer immediately and can be fixed.</a:t>
            </a:r>
          </a:p>
          <a:p>
            <a:pPr marL="914400" rtl="0" fontAlgn="base">
              <a:spcBef>
                <a:spcPts val="0"/>
              </a:spcBef>
              <a:spcAft>
                <a:spcPts val="0"/>
              </a:spcAft>
            </a:pPr>
            <a:br>
              <a:rPr lang="en-US" sz="2800" b="0" dirty="0">
                <a:effectLst/>
              </a:rPr>
            </a:br>
            <a:br>
              <a:rPr lang="en-US" sz="2800" b="0" dirty="0">
                <a:effectLst/>
              </a:rPr>
            </a:br>
            <a:r>
              <a:rPr lang="en-US" sz="2800" b="1" i="0" u="none" strike="noStrike" dirty="0">
                <a:solidFill>
                  <a:srgbClr val="B45F06"/>
                </a:solidFill>
                <a:effectLst/>
                <a:latin typeface="Laila"/>
              </a:rPr>
              <a:t>Beta Testing -</a:t>
            </a:r>
            <a:r>
              <a:rPr lang="en-US" sz="2800" b="1" i="0" u="none" strike="noStrike" dirty="0">
                <a:solidFill>
                  <a:srgbClr val="333333"/>
                </a:solidFill>
                <a:effectLst/>
                <a:latin typeface="Laila"/>
              </a:rPr>
              <a:t> </a:t>
            </a:r>
            <a:r>
              <a:rPr lang="en-US" sz="2800" b="0" i="0" u="none" strike="noStrike" dirty="0">
                <a:solidFill>
                  <a:srgbClr val="333333"/>
                </a:solidFill>
                <a:effectLst/>
                <a:latin typeface="Laila"/>
              </a:rPr>
              <a:t>This testing is performed by the end-users or at the customer's place who are not part of the organization. It is normally performed at the client’s place. The issues collected from the testing will be implemented for future versions of the product or application. The user inputs are gathered on the product and ensure it is ready for the customers.</a:t>
            </a:r>
            <a:endParaRPr lang="en-US" sz="2800" b="1" i="0" u="none" strike="noStrike" dirty="0">
              <a:solidFill>
                <a:srgbClr val="333333"/>
              </a:solidFill>
              <a:effectLst/>
              <a:latin typeface="Laila"/>
            </a:endParaRPr>
          </a:p>
        </p:txBody>
      </p:sp>
    </p:spTree>
    <p:extLst>
      <p:ext uri="{BB962C8B-B14F-4D97-AF65-F5344CB8AC3E}">
        <p14:creationId xmlns:p14="http://schemas.microsoft.com/office/powerpoint/2010/main" val="466682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551604-DD19-CDB1-DE39-9D611F63CE63}"/>
              </a:ext>
            </a:extLst>
          </p:cNvPr>
          <p:cNvSpPr txBox="1"/>
          <p:nvPr/>
        </p:nvSpPr>
        <p:spPr>
          <a:xfrm>
            <a:off x="-141514" y="559084"/>
            <a:ext cx="10515600" cy="4401205"/>
          </a:xfrm>
          <a:prstGeom prst="rect">
            <a:avLst/>
          </a:prstGeom>
          <a:noFill/>
        </p:spPr>
        <p:txBody>
          <a:bodyPr wrap="square">
            <a:spAutoFit/>
          </a:bodyPr>
          <a:lstStyle/>
          <a:p>
            <a:pPr marL="914400" rtl="0" fontAlgn="base">
              <a:spcBef>
                <a:spcPts val="0"/>
              </a:spcBef>
              <a:spcAft>
                <a:spcPts val="0"/>
              </a:spcAft>
            </a:pPr>
            <a:r>
              <a:rPr lang="en-US" sz="2800" b="1" i="0" u="none" strike="noStrike" dirty="0">
                <a:solidFill>
                  <a:srgbClr val="B45F06"/>
                </a:solidFill>
                <a:effectLst/>
                <a:latin typeface="Laila"/>
              </a:rPr>
              <a:t>Static Testing -  </a:t>
            </a:r>
            <a:r>
              <a:rPr lang="en-US" sz="2800" b="0" i="0" u="none" strike="noStrike" dirty="0">
                <a:solidFill>
                  <a:srgbClr val="333333"/>
                </a:solidFill>
                <a:effectLst/>
                <a:highlight>
                  <a:srgbClr val="FFFFFF"/>
                </a:highlight>
                <a:latin typeface="Laila"/>
              </a:rPr>
              <a:t>Static testing is white-box testing, which checks the application</a:t>
            </a:r>
            <a:r>
              <a:rPr lang="en-US" sz="2800" b="1" i="0" u="none" strike="noStrike" dirty="0">
                <a:solidFill>
                  <a:srgbClr val="333333"/>
                </a:solidFill>
                <a:effectLst/>
                <a:highlight>
                  <a:srgbClr val="FFFFFF"/>
                </a:highlight>
                <a:latin typeface="Laila"/>
              </a:rPr>
              <a:t> without executing the code</a:t>
            </a:r>
            <a:r>
              <a:rPr lang="en-US" sz="2800" b="0" i="0" u="none" strike="noStrike" dirty="0">
                <a:solidFill>
                  <a:srgbClr val="333333"/>
                </a:solidFill>
                <a:effectLst/>
                <a:highlight>
                  <a:srgbClr val="FFFFFF"/>
                </a:highlight>
                <a:latin typeface="Laila"/>
              </a:rPr>
              <a:t>. It is a verification process. Some of the essential activities are done under static testing such as business requirement </a:t>
            </a:r>
            <a:r>
              <a:rPr lang="en-US" sz="2800" b="1" i="0" u="none" strike="noStrike" dirty="0">
                <a:solidFill>
                  <a:srgbClr val="333333"/>
                </a:solidFill>
                <a:effectLst/>
                <a:highlight>
                  <a:srgbClr val="FFFFFF"/>
                </a:highlight>
                <a:latin typeface="Laila"/>
              </a:rPr>
              <a:t>review</a:t>
            </a:r>
            <a:r>
              <a:rPr lang="en-US" sz="2800" b="0" i="0" u="none" strike="noStrike" dirty="0">
                <a:solidFill>
                  <a:srgbClr val="333333"/>
                </a:solidFill>
                <a:effectLst/>
                <a:highlight>
                  <a:srgbClr val="FFFFFF"/>
                </a:highlight>
                <a:latin typeface="Laila"/>
              </a:rPr>
              <a:t>, design review, code </a:t>
            </a:r>
            <a:r>
              <a:rPr lang="en-US" sz="2800" b="1" i="0" u="none" strike="noStrike" dirty="0">
                <a:solidFill>
                  <a:srgbClr val="333333"/>
                </a:solidFill>
                <a:effectLst/>
                <a:highlight>
                  <a:srgbClr val="FFFFFF"/>
                </a:highlight>
                <a:latin typeface="Laila"/>
              </a:rPr>
              <a:t>walkthroughs</a:t>
            </a:r>
            <a:r>
              <a:rPr lang="en-US" sz="2800" b="0" i="0" u="none" strike="noStrike" dirty="0">
                <a:solidFill>
                  <a:srgbClr val="333333"/>
                </a:solidFill>
                <a:effectLst/>
                <a:highlight>
                  <a:srgbClr val="FFFFFF"/>
                </a:highlight>
                <a:latin typeface="Laila"/>
              </a:rPr>
              <a:t>, and the test documentation </a:t>
            </a:r>
            <a:r>
              <a:rPr lang="en-US" sz="2800" b="1" i="0" u="none" strike="noStrike" dirty="0">
                <a:solidFill>
                  <a:srgbClr val="333333"/>
                </a:solidFill>
                <a:effectLst/>
                <a:highlight>
                  <a:srgbClr val="FFFFFF"/>
                </a:highlight>
                <a:latin typeface="Laila"/>
              </a:rPr>
              <a:t>inspection</a:t>
            </a:r>
            <a:r>
              <a:rPr lang="en-US" sz="2800" b="0" i="0" u="none" strike="noStrike" dirty="0">
                <a:solidFill>
                  <a:srgbClr val="333333"/>
                </a:solidFill>
                <a:effectLst/>
                <a:highlight>
                  <a:srgbClr val="FFFFFF"/>
                </a:highlight>
                <a:latin typeface="Laila"/>
              </a:rPr>
              <a:t>.</a:t>
            </a:r>
            <a:endParaRPr lang="en-US" sz="2800" b="1" i="0" u="none" strike="noStrike" dirty="0">
              <a:solidFill>
                <a:srgbClr val="333333"/>
              </a:solidFill>
              <a:effectLst/>
              <a:latin typeface="Laila"/>
            </a:endParaRPr>
          </a:p>
          <a:p>
            <a:pPr marL="914400" rtl="0" fontAlgn="base">
              <a:spcBef>
                <a:spcPts val="0"/>
              </a:spcBef>
              <a:spcAft>
                <a:spcPts val="0"/>
              </a:spcAft>
            </a:pPr>
            <a:endParaRPr lang="en-US" sz="2800" i="0" u="none" strike="noStrike" dirty="0">
              <a:solidFill>
                <a:srgbClr val="B45F06"/>
              </a:solidFill>
              <a:latin typeface="Laila"/>
            </a:endParaRPr>
          </a:p>
          <a:p>
            <a:pPr marL="914400" rtl="0" fontAlgn="base">
              <a:spcBef>
                <a:spcPts val="0"/>
              </a:spcBef>
              <a:spcAft>
                <a:spcPts val="0"/>
              </a:spcAft>
            </a:pPr>
            <a:r>
              <a:rPr lang="en-US" sz="2800" b="1" i="0" u="none" strike="noStrike" dirty="0">
                <a:solidFill>
                  <a:srgbClr val="B45F06"/>
                </a:solidFill>
                <a:effectLst/>
                <a:latin typeface="Laila"/>
              </a:rPr>
              <a:t>Dynamic Testing -  </a:t>
            </a:r>
            <a:r>
              <a:rPr lang="en-US" sz="2800" b="0" i="0" u="none" strike="noStrike" dirty="0">
                <a:solidFill>
                  <a:srgbClr val="333333"/>
                </a:solidFill>
                <a:effectLst/>
                <a:highlight>
                  <a:srgbClr val="FFFFFF"/>
                </a:highlight>
                <a:latin typeface="Laila"/>
              </a:rPr>
              <a:t>Dynamic testing is testing, which is done when </a:t>
            </a:r>
            <a:r>
              <a:rPr lang="en-US" sz="2800" b="1" i="0" u="none" strike="noStrike" dirty="0">
                <a:solidFill>
                  <a:srgbClr val="333333"/>
                </a:solidFill>
                <a:effectLst/>
                <a:highlight>
                  <a:srgbClr val="FFFFFF"/>
                </a:highlight>
                <a:latin typeface="Laila"/>
              </a:rPr>
              <a:t>the code is executed</a:t>
            </a:r>
            <a:r>
              <a:rPr lang="en-US" sz="2800" b="0" i="0" u="none" strike="noStrike" dirty="0">
                <a:solidFill>
                  <a:srgbClr val="333333"/>
                </a:solidFill>
                <a:effectLst/>
                <a:highlight>
                  <a:srgbClr val="FFFFFF"/>
                </a:highlight>
                <a:latin typeface="Laila"/>
              </a:rPr>
              <a:t> at the run time environment. It is a validation process where</a:t>
            </a:r>
            <a:r>
              <a:rPr lang="en-US" sz="2800" b="1" i="0" u="none" strike="noStrike" dirty="0">
                <a:solidFill>
                  <a:srgbClr val="333333"/>
                </a:solidFill>
                <a:effectLst/>
                <a:highlight>
                  <a:srgbClr val="FFFFFF"/>
                </a:highlight>
                <a:latin typeface="Laila"/>
              </a:rPr>
              <a:t> functional testing</a:t>
            </a:r>
            <a:r>
              <a:rPr lang="en-US" sz="2800" b="0" i="0" u="none" strike="noStrike" dirty="0">
                <a:solidFill>
                  <a:srgbClr val="333333"/>
                </a:solidFill>
                <a:effectLst/>
                <a:highlight>
                  <a:srgbClr val="FFFFFF"/>
                </a:highlight>
                <a:latin typeface="Laila"/>
              </a:rPr>
              <a:t> and </a:t>
            </a:r>
            <a:r>
              <a:rPr lang="en-US" sz="2800" b="1" i="0" u="none" strike="noStrike" dirty="0">
                <a:solidFill>
                  <a:srgbClr val="333333"/>
                </a:solidFill>
                <a:effectLst/>
                <a:highlight>
                  <a:srgbClr val="FFFFFF"/>
                </a:highlight>
                <a:latin typeface="Laila"/>
              </a:rPr>
              <a:t>non-functional testing</a:t>
            </a:r>
            <a:r>
              <a:rPr lang="en-US" sz="2800" b="0" i="0" u="none" strike="noStrike" dirty="0">
                <a:solidFill>
                  <a:srgbClr val="333333"/>
                </a:solidFill>
                <a:effectLst/>
                <a:highlight>
                  <a:srgbClr val="FFFFFF"/>
                </a:highlight>
                <a:latin typeface="Laila"/>
              </a:rPr>
              <a:t> are performed.</a:t>
            </a:r>
            <a:endParaRPr lang="en-US" sz="2800" b="0" i="0" u="none" strike="noStrike" dirty="0">
              <a:solidFill>
                <a:srgbClr val="333333"/>
              </a:solidFill>
              <a:effectLst/>
              <a:latin typeface="Laila"/>
            </a:endParaRPr>
          </a:p>
        </p:txBody>
      </p:sp>
    </p:spTree>
    <p:extLst>
      <p:ext uri="{BB962C8B-B14F-4D97-AF65-F5344CB8AC3E}">
        <p14:creationId xmlns:p14="http://schemas.microsoft.com/office/powerpoint/2010/main" val="1659316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A89C2-DF26-FC23-985D-3269FF9C1E52}"/>
              </a:ext>
            </a:extLst>
          </p:cNvPr>
          <p:cNvSpPr>
            <a:spLocks noGrp="1"/>
          </p:cNvSpPr>
          <p:nvPr>
            <p:ph type="title"/>
          </p:nvPr>
        </p:nvSpPr>
        <p:spPr>
          <a:xfrm>
            <a:off x="477521" y="172720"/>
            <a:ext cx="8796481" cy="76200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Software Testing Life Cycle</a:t>
            </a:r>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6148" name="Picture 4" descr="6 Key Phases of Testing in Software Testing">
            <a:extLst>
              <a:ext uri="{FF2B5EF4-FFF2-40B4-BE49-F238E27FC236}">
                <a16:creationId xmlns:a16="http://schemas.microsoft.com/office/drawing/2014/main" id="{725537E3-5BB2-3DD2-ED5F-4E5092760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521" y="934720"/>
            <a:ext cx="9062719" cy="582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099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30D36-1B20-8140-948A-778220E3BB22}"/>
              </a:ext>
            </a:extLst>
          </p:cNvPr>
          <p:cNvSpPr>
            <a:spLocks noGrp="1"/>
          </p:cNvSpPr>
          <p:nvPr>
            <p:ph type="title"/>
          </p:nvPr>
        </p:nvSpPr>
        <p:spPr>
          <a:xfrm>
            <a:off x="818847" y="849085"/>
            <a:ext cx="9468153" cy="4267200"/>
          </a:xfrm>
        </p:spPr>
        <p:txBody>
          <a:bodyPr>
            <a:noAutofit/>
          </a:bodyPr>
          <a:lstStyle/>
          <a:p>
            <a:pPr marL="457200" rtl="0" fontAlgn="base">
              <a:spcBef>
                <a:spcPts val="0"/>
              </a:spcBef>
              <a:spcAft>
                <a:spcPts val="0"/>
              </a:spcAft>
            </a:pPr>
            <a:r>
              <a:rPr lang="en-US" sz="2400" b="1" i="0" u="none" strike="noStrike" dirty="0">
                <a:solidFill>
                  <a:srgbClr val="990000"/>
                </a:solidFill>
                <a:effectLst/>
                <a:latin typeface="Laila"/>
              </a:rPr>
              <a:t>REQUIREMENTS ANALYSIS -</a:t>
            </a:r>
            <a:br>
              <a:rPr lang="en-US" sz="2400" b="1" i="0" u="none" strike="noStrike" dirty="0">
                <a:solidFill>
                  <a:srgbClr val="990000"/>
                </a:solidFill>
                <a:effectLst/>
                <a:latin typeface="Laila"/>
              </a:rPr>
            </a:br>
            <a:r>
              <a:rPr lang="en-US" sz="2400" b="1" i="0" u="none" strike="noStrike" dirty="0">
                <a:solidFill>
                  <a:srgbClr val="990000"/>
                </a:solidFill>
                <a:effectLst/>
                <a:latin typeface="Laila"/>
              </a:rPr>
              <a:t>	</a:t>
            </a:r>
            <a:r>
              <a:rPr lang="en-US" sz="2400" b="0" i="0" u="none" strike="noStrike" dirty="0">
                <a:solidFill>
                  <a:srgbClr val="333333"/>
                </a:solidFill>
                <a:effectLst/>
                <a:highlight>
                  <a:srgbClr val="FFFFFF"/>
                </a:highlight>
                <a:latin typeface="Laila"/>
              </a:rPr>
              <a:t>The first step of the manual testing procedure is requirement analysis. In this phase, the tester analyses the requirement document of SDLC (Software Development Life Cycle) to examine the requirements stated by the client.</a:t>
            </a:r>
            <a:br>
              <a:rPr lang="en-US" sz="2400" b="0" i="0" u="none" strike="noStrike" dirty="0">
                <a:solidFill>
                  <a:srgbClr val="333333"/>
                </a:solidFill>
                <a:effectLst/>
                <a:highlight>
                  <a:srgbClr val="FFFFFF"/>
                </a:highlight>
                <a:latin typeface="Laila"/>
              </a:rPr>
            </a:br>
            <a:br>
              <a:rPr lang="en-US" sz="2400" b="0" i="0" u="none" strike="noStrike" dirty="0">
                <a:solidFill>
                  <a:srgbClr val="333333"/>
                </a:solidFill>
                <a:effectLst/>
                <a:highlight>
                  <a:srgbClr val="FFFFFF"/>
                </a:highlight>
                <a:latin typeface="Laila"/>
              </a:rPr>
            </a:br>
            <a:r>
              <a:rPr lang="en-IN" sz="2400" b="1" i="0" u="none" strike="noStrike" dirty="0">
                <a:solidFill>
                  <a:srgbClr val="990000"/>
                </a:solidFill>
                <a:effectLst/>
                <a:latin typeface="Laila"/>
              </a:rPr>
              <a:t>TEST PLAN – </a:t>
            </a:r>
            <a:br>
              <a:rPr lang="en-IN" sz="1800" b="1" i="0" u="none" strike="noStrike" dirty="0">
                <a:solidFill>
                  <a:srgbClr val="990000"/>
                </a:solidFill>
                <a:effectLst/>
                <a:latin typeface="Laila"/>
              </a:rPr>
            </a:br>
            <a:r>
              <a:rPr lang="en-IN" sz="2000" b="1" i="0" u="none" strike="noStrike" dirty="0">
                <a:solidFill>
                  <a:schemeClr val="tx1"/>
                </a:solidFill>
                <a:effectLst/>
                <a:latin typeface="Laila"/>
              </a:rPr>
              <a:t>1) </a:t>
            </a:r>
            <a:r>
              <a:rPr lang="en-IN" sz="2400" i="0" u="none" strike="noStrike" dirty="0">
                <a:solidFill>
                  <a:schemeClr val="tx1"/>
                </a:solidFill>
                <a:effectLst/>
                <a:latin typeface="Laila"/>
              </a:rPr>
              <a:t>The test plan is nothing but all the future testing-related activity.</a:t>
            </a:r>
            <a:br>
              <a:rPr lang="en-IN" sz="2400" i="0" u="none" strike="noStrike" dirty="0">
                <a:solidFill>
                  <a:schemeClr val="tx1"/>
                </a:solidFill>
                <a:effectLst/>
                <a:latin typeface="Laila"/>
              </a:rPr>
            </a:br>
            <a:r>
              <a:rPr lang="en-IN" sz="2400" i="0" u="none" strike="noStrike" dirty="0">
                <a:solidFill>
                  <a:schemeClr val="tx1"/>
                </a:solidFill>
                <a:effectLst/>
                <a:latin typeface="Laila"/>
              </a:rPr>
              <a:t>2) How many test engineers are going to work on a particular release?</a:t>
            </a:r>
            <a:br>
              <a:rPr lang="en-IN" sz="2400" i="0" u="none" strike="noStrike" dirty="0">
                <a:solidFill>
                  <a:schemeClr val="tx1"/>
                </a:solidFill>
                <a:effectLst/>
                <a:latin typeface="Laila"/>
              </a:rPr>
            </a:br>
            <a:r>
              <a:rPr lang="en-IN" sz="2400" i="0" u="none" strike="noStrike" dirty="0">
                <a:solidFill>
                  <a:schemeClr val="tx1"/>
                </a:solidFill>
                <a:effectLst/>
                <a:latin typeface="Laila"/>
              </a:rPr>
              <a:t>3) Which test engineer is going to work on which module?</a:t>
            </a:r>
            <a:br>
              <a:rPr lang="en-IN" sz="2400" i="0" u="none" strike="noStrike" dirty="0">
                <a:solidFill>
                  <a:schemeClr val="tx1"/>
                </a:solidFill>
                <a:effectLst/>
                <a:latin typeface="Laila"/>
              </a:rPr>
            </a:br>
            <a:r>
              <a:rPr lang="en-IN" sz="2400" i="0" u="none" strike="noStrike" dirty="0">
                <a:solidFill>
                  <a:schemeClr val="tx1"/>
                </a:solidFill>
                <a:effectLst/>
                <a:latin typeface="Laila"/>
              </a:rPr>
              <a:t>4) Which bug-tracking tool &amp; automation tool we are going to use?</a:t>
            </a:r>
            <a:br>
              <a:rPr lang="en-IN" sz="2400" i="0" u="none" strike="noStrike" dirty="0">
                <a:solidFill>
                  <a:schemeClr val="tx1"/>
                </a:solidFill>
                <a:effectLst/>
                <a:latin typeface="Laila"/>
              </a:rPr>
            </a:br>
            <a:br>
              <a:rPr lang="en-IN" sz="2000" b="1" i="0" u="none" strike="noStrike" dirty="0">
                <a:solidFill>
                  <a:srgbClr val="990000"/>
                </a:solidFill>
                <a:effectLst/>
                <a:latin typeface="Laila"/>
              </a:rPr>
            </a:br>
            <a:br>
              <a:rPr lang="en-US" sz="4000" b="0" dirty="0">
                <a:effectLst/>
              </a:rPr>
            </a:br>
            <a:br>
              <a:rPr lang="en-US" dirty="0"/>
            </a:br>
            <a:endParaRPr lang="en-IN" dirty="0"/>
          </a:p>
        </p:txBody>
      </p:sp>
    </p:spTree>
    <p:extLst>
      <p:ext uri="{BB962C8B-B14F-4D97-AF65-F5344CB8AC3E}">
        <p14:creationId xmlns:p14="http://schemas.microsoft.com/office/powerpoint/2010/main" val="2050082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15475-15F9-D4DB-42EA-EEA8597BD379}"/>
              </a:ext>
            </a:extLst>
          </p:cNvPr>
          <p:cNvSpPr>
            <a:spLocks noGrp="1"/>
          </p:cNvSpPr>
          <p:nvPr>
            <p:ph type="title"/>
          </p:nvPr>
        </p:nvSpPr>
        <p:spPr>
          <a:xfrm>
            <a:off x="677334" y="609599"/>
            <a:ext cx="8596668" cy="5595257"/>
          </a:xfrm>
        </p:spPr>
        <p:txBody>
          <a:bodyPr>
            <a:normAutofit fontScale="90000"/>
          </a:bodyPr>
          <a:lstStyle/>
          <a:p>
            <a:pPr marL="457200" rtl="0" fontAlgn="base">
              <a:spcBef>
                <a:spcPts val="0"/>
              </a:spcBef>
              <a:spcAft>
                <a:spcPts val="0"/>
              </a:spcAft>
            </a:pPr>
            <a:r>
              <a:rPr lang="en-US" sz="2700" b="1" i="0" u="none" strike="noStrike" dirty="0">
                <a:solidFill>
                  <a:srgbClr val="990000"/>
                </a:solidFill>
                <a:effectLst/>
                <a:latin typeface="Laila"/>
              </a:rPr>
              <a:t>TEST CASE Development -</a:t>
            </a:r>
            <a:br>
              <a:rPr lang="en-US" sz="2700" b="1" i="0" u="none" strike="noStrike" dirty="0">
                <a:solidFill>
                  <a:srgbClr val="990000"/>
                </a:solidFill>
                <a:effectLst/>
                <a:latin typeface="Laila"/>
              </a:rPr>
            </a:br>
            <a:r>
              <a:rPr lang="en-US" sz="2700" b="0" i="0" u="none" strike="noStrike" dirty="0">
                <a:solidFill>
                  <a:srgbClr val="333333"/>
                </a:solidFill>
                <a:effectLst/>
                <a:highlight>
                  <a:srgbClr val="FFFFFF"/>
                </a:highlight>
                <a:latin typeface="Laila"/>
              </a:rPr>
              <a:t>Test case Execution takes place after the successful completion of test planning. In this phase, the testing team starts case development and execution activity. The testing team writes down the detailed test cases and also prepares the test data if required. </a:t>
            </a:r>
            <a:br>
              <a:rPr lang="en-US" sz="2700" b="0" i="0" u="none" strike="noStrike" dirty="0">
                <a:solidFill>
                  <a:srgbClr val="333333"/>
                </a:solidFill>
                <a:effectLst/>
                <a:highlight>
                  <a:srgbClr val="FFFFFF"/>
                </a:highlight>
                <a:latin typeface="Laila"/>
              </a:rPr>
            </a:br>
            <a:br>
              <a:rPr lang="en-US" sz="2700" b="0" i="0" u="none" strike="noStrike" dirty="0">
                <a:solidFill>
                  <a:srgbClr val="333333"/>
                </a:solidFill>
                <a:effectLst/>
                <a:highlight>
                  <a:srgbClr val="FFFFFF"/>
                </a:highlight>
                <a:latin typeface="Laila"/>
              </a:rPr>
            </a:br>
            <a:r>
              <a:rPr lang="en-US" sz="2700" b="1" i="0" u="none" strike="noStrike" dirty="0">
                <a:solidFill>
                  <a:srgbClr val="990000"/>
                </a:solidFill>
                <a:effectLst/>
                <a:latin typeface="Laila"/>
              </a:rPr>
              <a:t>ENVIRONMENT SETUP -</a:t>
            </a:r>
            <a:br>
              <a:rPr lang="en-US" sz="2700" b="1" i="0" u="none" strike="noStrike" dirty="0">
                <a:solidFill>
                  <a:srgbClr val="990000"/>
                </a:solidFill>
                <a:effectLst/>
                <a:latin typeface="Laila"/>
              </a:rPr>
            </a:br>
            <a:r>
              <a:rPr lang="en-US" sz="2700" b="0" i="0" u="none" strike="noStrike" dirty="0">
                <a:solidFill>
                  <a:srgbClr val="333333"/>
                </a:solidFill>
                <a:effectLst/>
                <a:highlight>
                  <a:srgbClr val="FFFFFF"/>
                </a:highlight>
                <a:latin typeface="Laila"/>
              </a:rPr>
              <a:t>Setup of the test environment is an independent activity and can be started along with Test Case Development. This is an essential part of the manual testing procedure as without environment testing is not possible. Environment setup requires a group of essential software and hardware to create a test environment. </a:t>
            </a:r>
            <a:br>
              <a:rPr lang="en-US" sz="4900" dirty="0"/>
            </a:br>
            <a:br>
              <a:rPr lang="en-US" b="0" dirty="0">
                <a:effectLst/>
                <a:highlight>
                  <a:srgbClr val="FFFFFF"/>
                </a:highlight>
              </a:rPr>
            </a:br>
            <a:br>
              <a:rPr lang="en-US" dirty="0"/>
            </a:br>
            <a:endParaRPr lang="en-IN" dirty="0"/>
          </a:p>
        </p:txBody>
      </p:sp>
    </p:spTree>
    <p:extLst>
      <p:ext uri="{BB962C8B-B14F-4D97-AF65-F5344CB8AC3E}">
        <p14:creationId xmlns:p14="http://schemas.microsoft.com/office/powerpoint/2010/main" val="4275630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B2DDB-BDBD-36D4-DD93-10DAEE1187B6}"/>
              </a:ext>
            </a:extLst>
          </p:cNvPr>
          <p:cNvSpPr>
            <a:spLocks noGrp="1"/>
          </p:cNvSpPr>
          <p:nvPr>
            <p:ph type="title"/>
          </p:nvPr>
        </p:nvSpPr>
        <p:spPr>
          <a:xfrm>
            <a:off x="97971" y="609599"/>
            <a:ext cx="9176031" cy="4158343"/>
          </a:xfrm>
        </p:spPr>
        <p:txBody>
          <a:bodyPr>
            <a:normAutofit fontScale="90000"/>
          </a:bodyPr>
          <a:lstStyle/>
          <a:p>
            <a:pPr marL="457200" rtl="0" fontAlgn="base">
              <a:spcBef>
                <a:spcPts val="0"/>
              </a:spcBef>
              <a:spcAft>
                <a:spcPts val="0"/>
              </a:spcAft>
            </a:pPr>
            <a:r>
              <a:rPr lang="en-US" sz="3100" b="1" i="0" u="none" strike="noStrike" dirty="0">
                <a:solidFill>
                  <a:srgbClr val="990000"/>
                </a:solidFill>
                <a:effectLst/>
                <a:latin typeface="Laila"/>
              </a:rPr>
              <a:t>TEST EXECUTION-</a:t>
            </a:r>
            <a:br>
              <a:rPr lang="en-US" sz="3100" b="1" i="0" u="none" strike="noStrike" dirty="0">
                <a:solidFill>
                  <a:srgbClr val="990000"/>
                </a:solidFill>
                <a:effectLst/>
                <a:latin typeface="Laila"/>
              </a:rPr>
            </a:br>
            <a:r>
              <a:rPr lang="en-US" sz="3100" i="0" u="none" strike="noStrike" dirty="0">
                <a:solidFill>
                  <a:schemeClr val="tx1"/>
                </a:solidFill>
                <a:effectLst/>
                <a:latin typeface="Laila"/>
              </a:rPr>
              <a:t>During this phase test team will carry out the testing based on the test plan and the test cases prepared.</a:t>
            </a:r>
            <a:br>
              <a:rPr lang="en-US" sz="3100" i="0" u="none" strike="noStrike" dirty="0">
                <a:solidFill>
                  <a:schemeClr val="tx1"/>
                </a:solidFill>
                <a:effectLst/>
                <a:latin typeface="Laila"/>
              </a:rPr>
            </a:br>
            <a:br>
              <a:rPr lang="en-US" sz="3100" b="1" i="0" u="none" strike="noStrike" dirty="0">
                <a:solidFill>
                  <a:srgbClr val="990000"/>
                </a:solidFill>
                <a:effectLst/>
                <a:latin typeface="Laila"/>
              </a:rPr>
            </a:br>
            <a:r>
              <a:rPr lang="en-US" sz="3100" b="1" i="0" u="none" strike="noStrike" dirty="0">
                <a:solidFill>
                  <a:srgbClr val="990000"/>
                </a:solidFill>
                <a:effectLst/>
                <a:latin typeface="Laila"/>
              </a:rPr>
              <a:t>TEST CYCLE CLOSURE -</a:t>
            </a:r>
            <a:br>
              <a:rPr lang="en-US" sz="3100" b="1" i="0" u="none" strike="noStrike" dirty="0">
                <a:solidFill>
                  <a:srgbClr val="990000"/>
                </a:solidFill>
                <a:effectLst/>
                <a:latin typeface="Laila"/>
              </a:rPr>
            </a:br>
            <a:r>
              <a:rPr lang="en-US" sz="3100" b="1" i="0" u="none" strike="noStrike" dirty="0">
                <a:solidFill>
                  <a:srgbClr val="990000"/>
                </a:solidFill>
                <a:effectLst/>
                <a:latin typeface="Laila"/>
              </a:rPr>
              <a:t>​</a:t>
            </a:r>
            <a:r>
              <a:rPr lang="en-US" sz="3100" b="0" i="0" u="none" strike="noStrike" dirty="0">
                <a:solidFill>
                  <a:srgbClr val="333333"/>
                </a:solidFill>
                <a:effectLst/>
                <a:highlight>
                  <a:srgbClr val="FFFFFF"/>
                </a:highlight>
                <a:latin typeface="Laila"/>
              </a:rPr>
              <a:t>The test cycle closure report includes all the documentation related to software design, development, testing results, and defect reports.</a:t>
            </a:r>
            <a:br>
              <a:rPr lang="en-US" sz="5300" b="0" dirty="0">
                <a:effectLst/>
              </a:rPr>
            </a:br>
            <a:br>
              <a:rPr lang="en-US" dirty="0"/>
            </a:br>
            <a:endParaRPr lang="en-IN" dirty="0"/>
          </a:p>
        </p:txBody>
      </p:sp>
    </p:spTree>
    <p:extLst>
      <p:ext uri="{BB962C8B-B14F-4D97-AF65-F5344CB8AC3E}">
        <p14:creationId xmlns:p14="http://schemas.microsoft.com/office/powerpoint/2010/main" val="965220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0E237-CCD5-95C4-04E2-BDC57B3F8BFD}"/>
              </a:ext>
            </a:extLst>
          </p:cNvPr>
          <p:cNvSpPr>
            <a:spLocks noGrp="1"/>
          </p:cNvSpPr>
          <p:nvPr>
            <p:ph type="title"/>
          </p:nvPr>
        </p:nvSpPr>
        <p:spPr/>
        <p:txBody>
          <a:bodyPr/>
          <a:lstStyle/>
          <a:p>
            <a:pPr algn="ctr"/>
            <a:r>
              <a:rPr lang="en-US" dirty="0">
                <a:solidFill>
                  <a:schemeClr val="accent5">
                    <a:lumMod val="50000"/>
                  </a:schemeClr>
                </a:solidFill>
              </a:rPr>
              <a:t>Test Case Design Techniques</a:t>
            </a:r>
            <a:endParaRPr lang="en-IN" dirty="0">
              <a:solidFill>
                <a:schemeClr val="accent5">
                  <a:lumMod val="50000"/>
                </a:schemeClr>
              </a:solidFill>
            </a:endParaRPr>
          </a:p>
        </p:txBody>
      </p:sp>
      <p:pic>
        <p:nvPicPr>
          <p:cNvPr id="1026" name="Picture 2">
            <a:extLst>
              <a:ext uri="{FF2B5EF4-FFF2-40B4-BE49-F238E27FC236}">
                <a16:creationId xmlns:a16="http://schemas.microsoft.com/office/drawing/2014/main" id="{D0CE4336-2A65-500B-08DF-8FD107F746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715" y="1930400"/>
            <a:ext cx="5987142" cy="3947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5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310727-DEAE-6521-A137-A9BB4712597B}"/>
              </a:ext>
            </a:extLst>
          </p:cNvPr>
          <p:cNvSpPr txBox="1"/>
          <p:nvPr/>
        </p:nvSpPr>
        <p:spPr>
          <a:xfrm>
            <a:off x="315686" y="640807"/>
            <a:ext cx="10221685" cy="5878532"/>
          </a:xfrm>
          <a:prstGeom prst="rect">
            <a:avLst/>
          </a:prstGeom>
          <a:noFill/>
        </p:spPr>
        <p:txBody>
          <a:bodyPr wrap="square">
            <a:spAutoFit/>
          </a:bodyPr>
          <a:lstStyle/>
          <a:p>
            <a:r>
              <a:rPr lang="en-IN" sz="2800" b="1" i="0" u="none" strike="noStrike" dirty="0">
                <a:solidFill>
                  <a:srgbClr val="990000"/>
                </a:solidFill>
                <a:effectLst/>
                <a:latin typeface="Laila"/>
              </a:rPr>
              <a:t>Error Guessing-</a:t>
            </a:r>
            <a:endParaRPr lang="en-US" sz="2800" b="0" i="0" u="none" strike="noStrike" dirty="0">
              <a:solidFill>
                <a:srgbClr val="333333"/>
              </a:solidFill>
              <a:effectLst/>
              <a:highlight>
                <a:srgbClr val="FFFFFF"/>
              </a:highlight>
              <a:latin typeface="Laila"/>
            </a:endParaRPr>
          </a:p>
          <a:p>
            <a:r>
              <a:rPr lang="en-US" sz="2400" b="0" i="0" u="none" strike="noStrike" dirty="0">
                <a:solidFill>
                  <a:srgbClr val="333333"/>
                </a:solidFill>
                <a:effectLst/>
                <a:highlight>
                  <a:srgbClr val="FFFFFF"/>
                </a:highlight>
                <a:latin typeface="Laila"/>
              </a:rPr>
              <a:t>Error guessing is a technique in which there is no specific method for identifying the error. It is based on the experience of the test analyst, where the tester uses the experience to guess the problematic areas of the software.</a:t>
            </a:r>
          </a:p>
          <a:p>
            <a:endParaRPr lang="en-US" sz="2400" b="0" i="0" u="none" strike="noStrike" dirty="0">
              <a:solidFill>
                <a:srgbClr val="333333"/>
              </a:solidFill>
              <a:effectLst/>
              <a:highlight>
                <a:srgbClr val="FFFFFF"/>
              </a:highlight>
              <a:latin typeface="Laila"/>
            </a:endParaRPr>
          </a:p>
          <a:p>
            <a:endParaRPr lang="en-US" sz="2400" dirty="0">
              <a:solidFill>
                <a:srgbClr val="333333"/>
              </a:solidFill>
              <a:highlight>
                <a:srgbClr val="FFFFFF"/>
              </a:highlight>
              <a:latin typeface="Laila"/>
            </a:endParaRPr>
          </a:p>
          <a:p>
            <a:r>
              <a:rPr lang="en-US" sz="2800" b="1" i="0" u="none" strike="noStrike" dirty="0">
                <a:solidFill>
                  <a:schemeClr val="accent5">
                    <a:lumMod val="75000"/>
                  </a:schemeClr>
                </a:solidFill>
                <a:effectLst/>
                <a:highlight>
                  <a:srgbClr val="FFFFFF"/>
                </a:highlight>
                <a:latin typeface="Laila"/>
              </a:rPr>
              <a:t>Equivalence partitioning –</a:t>
            </a:r>
            <a:endParaRPr lang="en-US" sz="2800" b="1" dirty="0">
              <a:solidFill>
                <a:schemeClr val="accent5">
                  <a:lumMod val="75000"/>
                </a:schemeClr>
              </a:solidFill>
              <a:highlight>
                <a:srgbClr val="FFFFFF"/>
              </a:highlight>
              <a:latin typeface="Laila"/>
            </a:endParaRPr>
          </a:p>
          <a:p>
            <a:r>
              <a:rPr lang="en-US" sz="2400" b="0" i="0" u="none" strike="noStrike" dirty="0">
                <a:solidFill>
                  <a:srgbClr val="333333"/>
                </a:solidFill>
                <a:effectLst/>
                <a:highlight>
                  <a:srgbClr val="FFFFFF"/>
                </a:highlight>
                <a:latin typeface="Laila"/>
              </a:rPr>
              <a:t>Equivalence partitioning is a technique of software testing in which input data is divided into partitions of valid and invalid values, and all partitions must exhibit the same behavior. </a:t>
            </a:r>
          </a:p>
          <a:p>
            <a:r>
              <a:rPr lang="en-US" sz="2400" dirty="0">
                <a:solidFill>
                  <a:srgbClr val="333333"/>
                </a:solidFill>
                <a:highlight>
                  <a:srgbClr val="FFFFFF"/>
                </a:highlight>
                <a:latin typeface="Laila"/>
              </a:rPr>
              <a:t>	</a:t>
            </a:r>
            <a:r>
              <a:rPr lang="en-US" sz="2400" b="0" i="0" u="none" strike="noStrike" dirty="0">
                <a:solidFill>
                  <a:srgbClr val="333333"/>
                </a:solidFill>
                <a:effectLst/>
                <a:latin typeface="Laila"/>
              </a:rPr>
              <a:t>Example-If input accepts values between 1 to 1000 then we divide data into classes like one value from each of 1-100, 101-200, 201-300, 301-400 … and execute test cases.</a:t>
            </a:r>
            <a:endParaRPr lang="en-US" sz="3200" b="0" dirty="0">
              <a:effectLst/>
            </a:endParaRPr>
          </a:p>
          <a:p>
            <a:br>
              <a:rPr lang="en-US" sz="2800" dirty="0"/>
            </a:br>
            <a:endParaRPr lang="en-IN" sz="2800" dirty="0"/>
          </a:p>
        </p:txBody>
      </p:sp>
    </p:spTree>
    <p:extLst>
      <p:ext uri="{BB962C8B-B14F-4D97-AF65-F5344CB8AC3E}">
        <p14:creationId xmlns:p14="http://schemas.microsoft.com/office/powerpoint/2010/main" val="43812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4E8276-ED51-2773-524F-9060669A1828}"/>
              </a:ext>
            </a:extLst>
          </p:cNvPr>
          <p:cNvSpPr txBox="1"/>
          <p:nvPr/>
        </p:nvSpPr>
        <p:spPr>
          <a:xfrm>
            <a:off x="522516" y="697076"/>
            <a:ext cx="10069284" cy="6432530"/>
          </a:xfrm>
          <a:prstGeom prst="rect">
            <a:avLst/>
          </a:prstGeom>
          <a:noFill/>
        </p:spPr>
        <p:txBody>
          <a:bodyPr wrap="square">
            <a:spAutoFit/>
          </a:bodyPr>
          <a:lstStyle/>
          <a:p>
            <a:r>
              <a:rPr lang="en-IN" sz="2800" b="1" i="0" u="none" strike="noStrike" dirty="0">
                <a:solidFill>
                  <a:srgbClr val="990000"/>
                </a:solidFill>
                <a:effectLst/>
                <a:latin typeface="Laila"/>
              </a:rPr>
              <a:t>Boundary Value Analysis –</a:t>
            </a:r>
          </a:p>
          <a:p>
            <a:pPr marL="914400" rtl="0">
              <a:spcBef>
                <a:spcPts val="0"/>
              </a:spcBef>
              <a:spcAft>
                <a:spcPts val="0"/>
              </a:spcAft>
            </a:pPr>
            <a:r>
              <a:rPr lang="en-US" sz="2400" b="0" i="0" u="none" strike="noStrike" dirty="0">
                <a:solidFill>
                  <a:srgbClr val="333333"/>
                </a:solidFill>
                <a:effectLst/>
                <a:latin typeface="Laila"/>
              </a:rPr>
              <a:t>Boundary value analysis is one of the widely used case design techniques for black box testing. It is used to test boundary values because the input values near the boundary have higher chances of error.</a:t>
            </a:r>
          </a:p>
          <a:p>
            <a:pPr marL="914400" rtl="0">
              <a:spcBef>
                <a:spcPts val="0"/>
              </a:spcBef>
              <a:spcAft>
                <a:spcPts val="0"/>
              </a:spcAft>
            </a:pPr>
            <a:endParaRPr lang="en-US" sz="2400" b="0" i="0" u="none" strike="noStrike" dirty="0">
              <a:solidFill>
                <a:srgbClr val="333333"/>
              </a:solidFill>
              <a:effectLst/>
              <a:latin typeface="Laila"/>
            </a:endParaRPr>
          </a:p>
          <a:p>
            <a:pPr marL="914400" rtl="0">
              <a:spcBef>
                <a:spcPts val="0"/>
              </a:spcBef>
              <a:spcAft>
                <a:spcPts val="0"/>
              </a:spcAft>
            </a:pPr>
            <a:r>
              <a:rPr lang="en-US" sz="2400" b="0" i="0" u="none" strike="noStrike" dirty="0">
                <a:solidFill>
                  <a:srgbClr val="333333"/>
                </a:solidFill>
                <a:effectLst/>
                <a:highlight>
                  <a:srgbClr val="FFFFFF"/>
                </a:highlight>
                <a:latin typeface="Laila"/>
              </a:rPr>
              <a:t>(Lower Boundary, Lower Boundary +1, Lower Boundary -1, Middle,</a:t>
            </a:r>
            <a:endParaRPr lang="en-US" sz="2400" b="0" dirty="0">
              <a:effectLst/>
              <a:highlight>
                <a:srgbClr val="FFFFFF"/>
              </a:highlight>
            </a:endParaRPr>
          </a:p>
          <a:p>
            <a:pPr marL="914400" rtl="0">
              <a:spcBef>
                <a:spcPts val="0"/>
              </a:spcBef>
              <a:spcAft>
                <a:spcPts val="1200"/>
              </a:spcAft>
            </a:pPr>
            <a:r>
              <a:rPr lang="en-US" sz="2400" b="0" i="0" u="none" strike="noStrike" dirty="0">
                <a:solidFill>
                  <a:srgbClr val="333333"/>
                </a:solidFill>
                <a:effectLst/>
                <a:highlight>
                  <a:srgbClr val="FFFFFF"/>
                </a:highlight>
                <a:latin typeface="Laila"/>
              </a:rPr>
              <a:t>Upper Boundary, Upper Boundary +1, Lower Boundary -1)</a:t>
            </a:r>
            <a:endParaRPr lang="en-US" sz="2400" b="0" dirty="0">
              <a:effectLst/>
              <a:highlight>
                <a:srgbClr val="FFFFFF"/>
              </a:highlight>
            </a:endParaRPr>
          </a:p>
          <a:p>
            <a:pPr marL="914400" indent="457200" rtl="0">
              <a:spcBef>
                <a:spcPts val="1200"/>
              </a:spcBef>
              <a:spcAft>
                <a:spcPts val="1200"/>
              </a:spcAft>
            </a:pPr>
            <a:r>
              <a:rPr lang="en-US" sz="2400" b="0" i="0" u="none" strike="noStrike" dirty="0">
                <a:solidFill>
                  <a:srgbClr val="333333"/>
                </a:solidFill>
                <a:effectLst/>
                <a:highlight>
                  <a:srgbClr val="FFFFFF"/>
                </a:highlight>
                <a:latin typeface="Laila"/>
              </a:rPr>
              <a:t>For example - age is a variable of any function, and its minimum value is 18 and the maximum value is 30, both 18 and 30 will be considered as boundary values. And 17,18,30,31 are used for testing. Also, middle values are used for testing like 24.</a:t>
            </a:r>
            <a:endParaRPr lang="en-US" sz="2400" b="0" dirty="0">
              <a:effectLst/>
              <a:highlight>
                <a:srgbClr val="FFFFFF"/>
              </a:highlight>
            </a:endParaRPr>
          </a:p>
          <a:p>
            <a:br>
              <a:rPr lang="en-US" dirty="0"/>
            </a:br>
            <a:br>
              <a:rPr lang="en-US" dirty="0"/>
            </a:br>
            <a:endParaRPr lang="en-US" b="0" dirty="0">
              <a:effectLst/>
            </a:endParaRPr>
          </a:p>
          <a:p>
            <a:br>
              <a:rPr lang="en-US" dirty="0"/>
            </a:br>
            <a:endParaRPr lang="en-IN" dirty="0"/>
          </a:p>
        </p:txBody>
      </p:sp>
    </p:spTree>
    <p:extLst>
      <p:ext uri="{BB962C8B-B14F-4D97-AF65-F5344CB8AC3E}">
        <p14:creationId xmlns:p14="http://schemas.microsoft.com/office/powerpoint/2010/main" val="3209124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fect/Bug Life Cycle in Software Testing">
            <a:extLst>
              <a:ext uri="{FF2B5EF4-FFF2-40B4-BE49-F238E27FC236}">
                <a16:creationId xmlns:a16="http://schemas.microsoft.com/office/drawing/2014/main" id="{86FA8418-6935-8ABE-3857-76052769FC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20" y="0"/>
            <a:ext cx="6278880" cy="696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545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7DE5A4F-B795-6F6C-F7A3-0CF4455DEE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89315"/>
            <a:ext cx="6803572" cy="48114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7C264F-0A84-74C7-8404-2B8E52225CCE}"/>
              </a:ext>
            </a:extLst>
          </p:cNvPr>
          <p:cNvSpPr txBox="1"/>
          <p:nvPr/>
        </p:nvSpPr>
        <p:spPr>
          <a:xfrm>
            <a:off x="340178" y="593505"/>
            <a:ext cx="7290708" cy="1231106"/>
          </a:xfrm>
          <a:prstGeom prst="rect">
            <a:avLst/>
          </a:prstGeom>
          <a:noFill/>
        </p:spPr>
        <p:txBody>
          <a:bodyPr wrap="square">
            <a:spAutoFit/>
          </a:bodyPr>
          <a:lstStyle/>
          <a:p>
            <a:pPr marL="457200" indent="457200" algn="just" rtl="0">
              <a:spcBef>
                <a:spcPts val="1200"/>
              </a:spcBef>
              <a:spcAft>
                <a:spcPts val="1200"/>
              </a:spcAft>
            </a:pPr>
            <a:r>
              <a:rPr lang="en-US" sz="2800" b="0" i="0" u="none" strike="noStrike" dirty="0">
                <a:solidFill>
                  <a:srgbClr val="333333"/>
                </a:solidFill>
                <a:effectLst/>
                <a:highlight>
                  <a:srgbClr val="FFFFFF"/>
                </a:highlight>
                <a:latin typeface="Laila"/>
              </a:rPr>
              <a:t> four major components of  </a:t>
            </a:r>
            <a:r>
              <a:rPr lang="en-US" sz="2800" dirty="0">
                <a:solidFill>
                  <a:srgbClr val="333333"/>
                </a:solidFill>
                <a:highlight>
                  <a:srgbClr val="FFFFFF"/>
                </a:highlight>
                <a:latin typeface="Laila"/>
              </a:rPr>
              <a:t>Selenium:</a:t>
            </a:r>
            <a:endParaRPr lang="en-US" b="0" dirty="0">
              <a:effectLst/>
              <a:highlight>
                <a:srgbClr val="FFFFFF"/>
              </a:highlight>
            </a:endParaRPr>
          </a:p>
          <a:p>
            <a:br>
              <a:rPr lang="en-US" dirty="0"/>
            </a:br>
            <a:endParaRPr lang="en-IN" dirty="0"/>
          </a:p>
        </p:txBody>
      </p:sp>
    </p:spTree>
    <p:extLst>
      <p:ext uri="{BB962C8B-B14F-4D97-AF65-F5344CB8AC3E}">
        <p14:creationId xmlns:p14="http://schemas.microsoft.com/office/powerpoint/2010/main" val="3287019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7C6D0-F4FD-5AE6-4C3F-6C12AF04558B}"/>
              </a:ext>
            </a:extLst>
          </p:cNvPr>
          <p:cNvSpPr>
            <a:spLocks noGrp="1"/>
          </p:cNvSpPr>
          <p:nvPr>
            <p:ph type="ctrTitle"/>
          </p:nvPr>
        </p:nvSpPr>
        <p:spPr>
          <a:xfrm>
            <a:off x="1507067" y="223520"/>
            <a:ext cx="7766936" cy="1096899"/>
          </a:xfrm>
        </p:spPr>
        <p:txBody>
          <a:bodyPr/>
          <a:lstStyle/>
          <a:p>
            <a:pPr algn="ctr"/>
            <a:r>
              <a:rPr lang="en-US" sz="4400" b="1" dirty="0">
                <a:solidFill>
                  <a:schemeClr val="accent5">
                    <a:lumMod val="50000"/>
                  </a:schemeClr>
                </a:solidFill>
                <a:latin typeface="Times New Roman" panose="02020603050405020304" pitchFamily="18" charset="0"/>
                <a:cs typeface="Times New Roman" panose="02020603050405020304" pitchFamily="18" charset="0"/>
              </a:rPr>
              <a:t>Automation Testing</a:t>
            </a:r>
            <a:endParaRPr lang="en-IN" sz="44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AD49D23-534E-A7DF-0C73-E878B57FFCC0}"/>
              </a:ext>
            </a:extLst>
          </p:cNvPr>
          <p:cNvSpPr>
            <a:spLocks noGrp="1"/>
          </p:cNvSpPr>
          <p:nvPr>
            <p:ph type="subTitle" idx="1"/>
          </p:nvPr>
        </p:nvSpPr>
        <p:spPr>
          <a:xfrm>
            <a:off x="650240" y="1554480"/>
            <a:ext cx="9580880" cy="4724400"/>
          </a:xfrm>
        </p:spPr>
        <p:txBody>
          <a:bodyPr>
            <a:normAutofit fontScale="92500"/>
          </a:bodyPr>
          <a:lstStyle/>
          <a:p>
            <a:pPr algn="l"/>
            <a:r>
              <a:rPr lang="en-US" sz="2800" dirty="0">
                <a:solidFill>
                  <a:srgbClr val="7030A0"/>
                </a:solidFill>
                <a:latin typeface="Times New Roman" panose="02020603050405020304" pitchFamily="18" charset="0"/>
                <a:cs typeface="Times New Roman" panose="02020603050405020304" pitchFamily="18" charset="0"/>
              </a:rPr>
              <a:t>Automation Testing uses automation tools to write and execute test cases, No manual involvement is necessary for executing an automated suite</a:t>
            </a:r>
            <a:r>
              <a:rPr lang="en-US" sz="2800" dirty="0">
                <a:solidFill>
                  <a:srgbClr val="7030A0"/>
                </a:solidFill>
              </a:rPr>
              <a:t>.</a:t>
            </a:r>
          </a:p>
          <a:p>
            <a:pPr algn="l"/>
            <a:endParaRPr lang="en-US" sz="2800" dirty="0">
              <a:solidFill>
                <a:srgbClr val="7030A0"/>
              </a:solidFill>
            </a:endParaRPr>
          </a:p>
          <a:p>
            <a:pPr algn="ctr"/>
            <a:r>
              <a:rPr lang="en-US" sz="3600" b="1" dirty="0">
                <a:solidFill>
                  <a:schemeClr val="accent5">
                    <a:lumMod val="50000"/>
                  </a:schemeClr>
                </a:solidFill>
                <a:latin typeface="Times New Roman" panose="02020603050405020304" pitchFamily="18" charset="0"/>
                <a:cs typeface="Times New Roman" panose="02020603050405020304" pitchFamily="18" charset="0"/>
              </a:rPr>
              <a:t>Advantages of Automation Testing</a:t>
            </a:r>
          </a:p>
          <a:p>
            <a:pPr marL="342900" indent="-342900" algn="l">
              <a:buFont typeface="Arial" panose="020B0604020202020204" pitchFamily="34" charset="0"/>
              <a:buChar char="•"/>
            </a:pPr>
            <a:r>
              <a:rPr lang="en-US" sz="2800" dirty="0">
                <a:solidFill>
                  <a:srgbClr val="7030A0"/>
                </a:solidFill>
                <a:latin typeface="Times New Roman" panose="02020603050405020304" pitchFamily="18" charset="0"/>
                <a:cs typeface="Times New Roman" panose="02020603050405020304" pitchFamily="18" charset="0"/>
              </a:rPr>
              <a:t>It saves time and money.</a:t>
            </a:r>
          </a:p>
          <a:p>
            <a:pPr marL="342900" indent="-342900" algn="l">
              <a:buFont typeface="Arial" panose="020B0604020202020204" pitchFamily="34" charset="0"/>
              <a:buChar char="•"/>
            </a:pPr>
            <a:r>
              <a:rPr lang="en-US" sz="2800" dirty="0">
                <a:solidFill>
                  <a:srgbClr val="7030A0"/>
                </a:solidFill>
                <a:latin typeface="Times New Roman" panose="02020603050405020304" pitchFamily="18" charset="0"/>
                <a:cs typeface="Times New Roman" panose="02020603050405020304" pitchFamily="18" charset="0"/>
              </a:rPr>
              <a:t>It improves accuracy because there are no chances of human error.</a:t>
            </a:r>
          </a:p>
          <a:p>
            <a:pPr marL="342900" indent="-342900" algn="l">
              <a:buFont typeface="Arial" panose="020B0604020202020204" pitchFamily="34" charset="0"/>
              <a:buChar char="•"/>
            </a:pPr>
            <a:r>
              <a:rPr lang="en-US" sz="2800" dirty="0">
                <a:solidFill>
                  <a:srgbClr val="7030A0"/>
                </a:solidFill>
                <a:latin typeface="Times New Roman" panose="02020603050405020304" pitchFamily="18" charset="0"/>
                <a:cs typeface="Times New Roman" panose="02020603050405020304" pitchFamily="18" charset="0"/>
              </a:rPr>
              <a:t>It facilitates parallel execution.</a:t>
            </a:r>
          </a:p>
          <a:p>
            <a:pPr marL="342900" indent="-342900" algn="l">
              <a:buFont typeface="Arial" panose="020B0604020202020204" pitchFamily="34" charset="0"/>
              <a:buChar char="•"/>
            </a:pPr>
            <a:r>
              <a:rPr lang="en-US" sz="2800" dirty="0">
                <a:solidFill>
                  <a:srgbClr val="7030A0"/>
                </a:solidFill>
                <a:latin typeface="Times New Roman" panose="02020603050405020304" pitchFamily="18" charset="0"/>
                <a:cs typeface="Times New Roman" panose="02020603050405020304" pitchFamily="18" charset="0"/>
              </a:rPr>
              <a:t>It supports the execution of repeated test cases.</a:t>
            </a:r>
          </a:p>
          <a:p>
            <a:pPr algn="l"/>
            <a:endParaRPr lang="en-US" sz="2400" b="1" dirty="0">
              <a:solidFill>
                <a:srgbClr val="7030A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endParaRPr lang="en-US" sz="2000" b="1" dirty="0">
              <a:solidFill>
                <a:schemeClr val="accent5">
                  <a:lumMod val="50000"/>
                </a:schemeClr>
              </a:solidFill>
              <a:latin typeface="Times New Roman" panose="02020603050405020304" pitchFamily="18" charset="0"/>
              <a:cs typeface="Times New Roman" panose="02020603050405020304" pitchFamily="18" charset="0"/>
            </a:endParaRPr>
          </a:p>
          <a:p>
            <a:pPr marL="571500" indent="-571500" algn="l">
              <a:buFont typeface="Arial" panose="020B0604020202020204" pitchFamily="34" charset="0"/>
              <a:buChar char="•"/>
            </a:pPr>
            <a:endParaRPr lang="en-US" sz="3600" b="1" dirty="0">
              <a:solidFill>
                <a:schemeClr val="accent5">
                  <a:lumMod val="50000"/>
                </a:schemeClr>
              </a:solidFill>
              <a:latin typeface="Times New Roman" panose="02020603050405020304" pitchFamily="18" charset="0"/>
              <a:cs typeface="Times New Roman" panose="02020603050405020304" pitchFamily="18" charset="0"/>
            </a:endParaRPr>
          </a:p>
          <a:p>
            <a:pPr marL="571500" indent="-571500" algn="l">
              <a:buFont typeface="Arial" panose="020B0604020202020204" pitchFamily="34" charset="0"/>
              <a:buChar char="•"/>
            </a:pPr>
            <a:endParaRPr lang="en-IN" sz="3200" b="1" dirty="0">
              <a:solidFill>
                <a:schemeClr val="accent5">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070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191CB-31A9-2E9E-4AC6-CC9653FB4A93}"/>
              </a:ext>
            </a:extLst>
          </p:cNvPr>
          <p:cNvSpPr>
            <a:spLocks noGrp="1"/>
          </p:cNvSpPr>
          <p:nvPr>
            <p:ph type="title"/>
          </p:nvPr>
        </p:nvSpPr>
        <p:spPr>
          <a:xfrm>
            <a:off x="677334" y="609600"/>
            <a:ext cx="8596668" cy="924560"/>
          </a:xfrm>
        </p:spPr>
        <p:txBody>
          <a:bodyPr>
            <a:normAutofit/>
          </a:bodyPr>
          <a:lstStyle/>
          <a:p>
            <a:pPr algn="ctr"/>
            <a:r>
              <a:rPr lang="en-US" sz="4000" b="1" dirty="0">
                <a:solidFill>
                  <a:schemeClr val="accent5">
                    <a:lumMod val="50000"/>
                  </a:schemeClr>
                </a:solidFill>
                <a:latin typeface="Times New Roman" panose="02020603050405020304" pitchFamily="18" charset="0"/>
                <a:cs typeface="Times New Roman" panose="02020603050405020304" pitchFamily="18" charset="0"/>
              </a:rPr>
              <a:t>Selenium</a:t>
            </a:r>
            <a:endParaRPr lang="en-IN" sz="40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2705EA-8B5A-A548-1C51-1CD89C64B39A}"/>
              </a:ext>
            </a:extLst>
          </p:cNvPr>
          <p:cNvSpPr>
            <a:spLocks noGrp="1"/>
          </p:cNvSpPr>
          <p:nvPr>
            <p:ph idx="1"/>
          </p:nvPr>
        </p:nvSpPr>
        <p:spPr>
          <a:xfrm>
            <a:off x="677334" y="1788161"/>
            <a:ext cx="8596668" cy="4253202"/>
          </a:xfrm>
        </p:spPr>
        <p:txBody>
          <a:bodyPr>
            <a:normAutofit fontScale="92500" lnSpcReduction="10000"/>
          </a:bodyPr>
          <a:lstStyle/>
          <a:p>
            <a:r>
              <a:rPr lang="en-US" sz="2400" dirty="0">
                <a:solidFill>
                  <a:srgbClr val="7030A0"/>
                </a:solidFill>
                <a:latin typeface="Times New Roman" panose="02020603050405020304" pitchFamily="18" charset="0"/>
                <a:cs typeface="Times New Roman" panose="02020603050405020304" pitchFamily="18" charset="0"/>
              </a:rPr>
              <a:t>Selenium is one of the most widely used open-source Web UI automation testing suites.</a:t>
            </a:r>
          </a:p>
          <a:p>
            <a:pPr marL="0" indent="0">
              <a:buNone/>
            </a:pPr>
            <a:endParaRPr lang="en-US" sz="2400" dirty="0">
              <a:solidFill>
                <a:srgbClr val="7030A0"/>
              </a:solidFill>
              <a:latin typeface="Times New Roman" panose="02020603050405020304" pitchFamily="18" charset="0"/>
              <a:cs typeface="Times New Roman" panose="02020603050405020304" pitchFamily="18" charset="0"/>
            </a:endParaRPr>
          </a:p>
          <a:p>
            <a:pPr marL="0" indent="0">
              <a:buNone/>
            </a:pPr>
            <a:r>
              <a:rPr lang="en-US" sz="2600" b="1" dirty="0">
                <a:solidFill>
                  <a:schemeClr val="accent5">
                    <a:lumMod val="50000"/>
                  </a:schemeClr>
                </a:solidFill>
                <a:latin typeface="Times New Roman" panose="02020603050405020304" pitchFamily="18" charset="0"/>
                <a:cs typeface="Times New Roman" panose="02020603050405020304" pitchFamily="18" charset="0"/>
              </a:rPr>
              <a:t>Locators in Selenium-</a:t>
            </a:r>
          </a:p>
          <a:p>
            <a:pPr marL="0" indent="0">
              <a:buNone/>
            </a:pPr>
            <a:r>
              <a:rPr lang="en-US" sz="2400" dirty="0">
                <a:solidFill>
                  <a:srgbClr val="7030A0"/>
                </a:solidFill>
                <a:latin typeface="Times New Roman" panose="02020603050405020304" pitchFamily="18" charset="0"/>
                <a:cs typeface="Times New Roman" panose="02020603050405020304" pitchFamily="18" charset="0"/>
              </a:rPr>
              <a:t>1)ID                                                 7)XPath</a:t>
            </a:r>
          </a:p>
          <a:p>
            <a:pPr marL="0" indent="0">
              <a:buNone/>
            </a:pPr>
            <a:r>
              <a:rPr lang="en-US" sz="2400" dirty="0">
                <a:solidFill>
                  <a:srgbClr val="7030A0"/>
                </a:solidFill>
                <a:latin typeface="Times New Roman" panose="02020603050405020304" pitchFamily="18" charset="0"/>
                <a:cs typeface="Times New Roman" panose="02020603050405020304" pitchFamily="18" charset="0"/>
              </a:rPr>
              <a:t>2)Class name                                   8)CSS Selector</a:t>
            </a:r>
          </a:p>
          <a:p>
            <a:pPr marL="0" indent="0">
              <a:buNone/>
            </a:pPr>
            <a:r>
              <a:rPr lang="en-US" sz="2400" dirty="0">
                <a:solidFill>
                  <a:srgbClr val="7030A0"/>
                </a:solidFill>
                <a:latin typeface="Times New Roman" panose="02020603050405020304" pitchFamily="18" charset="0"/>
                <a:cs typeface="Times New Roman" panose="02020603050405020304" pitchFamily="18" charset="0"/>
              </a:rPr>
              <a:t>3)Name</a:t>
            </a:r>
          </a:p>
          <a:p>
            <a:pPr marL="0" indent="0">
              <a:buNone/>
            </a:pPr>
            <a:r>
              <a:rPr lang="en-US" sz="2400" dirty="0">
                <a:solidFill>
                  <a:srgbClr val="7030A0"/>
                </a:solidFill>
                <a:latin typeface="Times New Roman" panose="02020603050405020304" pitchFamily="18" charset="0"/>
                <a:cs typeface="Times New Roman" panose="02020603050405020304" pitchFamily="18" charset="0"/>
              </a:rPr>
              <a:t>4)Tag name</a:t>
            </a:r>
          </a:p>
          <a:p>
            <a:pPr marL="0" indent="0">
              <a:buNone/>
            </a:pPr>
            <a:r>
              <a:rPr lang="en-US" sz="2400" dirty="0">
                <a:solidFill>
                  <a:srgbClr val="7030A0"/>
                </a:solidFill>
                <a:latin typeface="Times New Roman" panose="02020603050405020304" pitchFamily="18" charset="0"/>
                <a:cs typeface="Times New Roman" panose="02020603050405020304" pitchFamily="18" charset="0"/>
              </a:rPr>
              <a:t>5)Link text</a:t>
            </a:r>
          </a:p>
          <a:p>
            <a:pPr marL="0" indent="0">
              <a:buNone/>
            </a:pPr>
            <a:r>
              <a:rPr lang="en-US" sz="2400" dirty="0">
                <a:solidFill>
                  <a:srgbClr val="7030A0"/>
                </a:solidFill>
                <a:latin typeface="Times New Roman" panose="02020603050405020304" pitchFamily="18" charset="0"/>
                <a:cs typeface="Times New Roman" panose="02020603050405020304" pitchFamily="18" charset="0"/>
              </a:rPr>
              <a:t>6)Partial Link Text</a:t>
            </a:r>
            <a:endParaRPr lang="en-IN" sz="2400"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0056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66705-6C56-2B9C-1D25-30F6682B99BD}"/>
              </a:ext>
            </a:extLst>
          </p:cNvPr>
          <p:cNvSpPr>
            <a:spLocks noGrp="1"/>
          </p:cNvSpPr>
          <p:nvPr>
            <p:ph type="title"/>
          </p:nvPr>
        </p:nvSpPr>
        <p:spPr/>
        <p:txBody>
          <a:bodyPr/>
          <a:lstStyle/>
          <a:p>
            <a:r>
              <a:rPr lang="en-US" dirty="0">
                <a:solidFill>
                  <a:schemeClr val="accent5">
                    <a:lumMod val="50000"/>
                  </a:schemeClr>
                </a:solidFill>
              </a:rPr>
              <a:t>Architecture of Selenium</a:t>
            </a:r>
            <a:endParaRPr lang="en-IN" dirty="0">
              <a:solidFill>
                <a:schemeClr val="accent5">
                  <a:lumMod val="50000"/>
                </a:schemeClr>
              </a:solidFill>
            </a:endParaRPr>
          </a:p>
        </p:txBody>
      </p:sp>
      <p:pic>
        <p:nvPicPr>
          <p:cNvPr id="2050" name="Picture 2">
            <a:extLst>
              <a:ext uri="{FF2B5EF4-FFF2-40B4-BE49-F238E27FC236}">
                <a16:creationId xmlns:a16="http://schemas.microsoft.com/office/drawing/2014/main" id="{56586EDE-9B28-851D-5912-03A44E6FA5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2151288"/>
            <a:ext cx="9448800" cy="4097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1505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7607C5-6334-152B-C5D7-BE0B4E3B6BE1}"/>
              </a:ext>
            </a:extLst>
          </p:cNvPr>
          <p:cNvPicPr>
            <a:picLocks noChangeAspect="1"/>
          </p:cNvPicPr>
          <p:nvPr/>
        </p:nvPicPr>
        <p:blipFill>
          <a:blip r:embed="rId2"/>
          <a:stretch>
            <a:fillRect/>
          </a:stretch>
        </p:blipFill>
        <p:spPr>
          <a:xfrm>
            <a:off x="613610" y="180474"/>
            <a:ext cx="10768264" cy="6545179"/>
          </a:xfrm>
          <a:prstGeom prst="rect">
            <a:avLst/>
          </a:prstGeom>
        </p:spPr>
      </p:pic>
    </p:spTree>
    <p:extLst>
      <p:ext uri="{BB962C8B-B14F-4D97-AF65-F5344CB8AC3E}">
        <p14:creationId xmlns:p14="http://schemas.microsoft.com/office/powerpoint/2010/main" val="38614261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3AA41F-67F5-9839-6B3B-3148CDC767A8}"/>
              </a:ext>
            </a:extLst>
          </p:cNvPr>
          <p:cNvSpPr txBox="1"/>
          <p:nvPr/>
        </p:nvSpPr>
        <p:spPr>
          <a:xfrm>
            <a:off x="1472293" y="191478"/>
            <a:ext cx="7497536" cy="1015663"/>
          </a:xfrm>
          <a:prstGeom prst="rect">
            <a:avLst/>
          </a:prstGeom>
          <a:noFill/>
        </p:spPr>
        <p:txBody>
          <a:bodyPr wrap="square">
            <a:spAutoFit/>
          </a:bodyPr>
          <a:lstStyle/>
          <a:p>
            <a:pPr marL="457200" indent="457200" rtl="0">
              <a:spcBef>
                <a:spcPts val="0"/>
              </a:spcBef>
              <a:spcAft>
                <a:spcPts val="0"/>
              </a:spcAft>
            </a:pPr>
            <a:r>
              <a:rPr lang="en-US" sz="2400" b="1" i="0" u="none" strike="noStrike" dirty="0">
                <a:solidFill>
                  <a:srgbClr val="990000"/>
                </a:solidFill>
                <a:effectLst/>
                <a:latin typeface="Laila"/>
              </a:rPr>
              <a:t>Basic Selenium </a:t>
            </a:r>
            <a:r>
              <a:rPr lang="en-US" sz="2400" b="1" i="0" u="none" strike="noStrike" dirty="0" err="1">
                <a:solidFill>
                  <a:srgbClr val="990000"/>
                </a:solidFill>
                <a:effectLst/>
                <a:latin typeface="Laila"/>
              </a:rPr>
              <a:t>Webdriver</a:t>
            </a:r>
            <a:r>
              <a:rPr lang="en-US" sz="2400" b="1" i="0" u="none" strike="noStrike" dirty="0">
                <a:solidFill>
                  <a:srgbClr val="990000"/>
                </a:solidFill>
                <a:effectLst/>
                <a:latin typeface="Laila"/>
              </a:rPr>
              <a:t> Commands / Methods</a:t>
            </a:r>
            <a:endParaRPr lang="en-US" sz="2400" b="0" dirty="0">
              <a:effectLst/>
            </a:endParaRPr>
          </a:p>
          <a:p>
            <a:br>
              <a:rPr lang="en-US" dirty="0"/>
            </a:br>
            <a:endParaRPr lang="en-IN" dirty="0"/>
          </a:p>
        </p:txBody>
      </p:sp>
      <p:sp>
        <p:nvSpPr>
          <p:cNvPr id="11" name="TextBox 10">
            <a:extLst>
              <a:ext uri="{FF2B5EF4-FFF2-40B4-BE49-F238E27FC236}">
                <a16:creationId xmlns:a16="http://schemas.microsoft.com/office/drawing/2014/main" id="{876BD299-A1B3-5211-662B-198363578B59}"/>
              </a:ext>
            </a:extLst>
          </p:cNvPr>
          <p:cNvSpPr txBox="1"/>
          <p:nvPr/>
        </p:nvSpPr>
        <p:spPr>
          <a:xfrm>
            <a:off x="612323" y="1114808"/>
            <a:ext cx="6101442" cy="523220"/>
          </a:xfrm>
          <a:prstGeom prst="rect">
            <a:avLst/>
          </a:prstGeom>
          <a:noFill/>
        </p:spPr>
        <p:txBody>
          <a:bodyPr wrap="square">
            <a:spAutoFit/>
          </a:bodyPr>
          <a:lstStyle/>
          <a:p>
            <a:r>
              <a:rPr lang="en-US" sz="2800" b="1" i="0" u="none" strike="noStrike" dirty="0">
                <a:solidFill>
                  <a:srgbClr val="434343"/>
                </a:solidFill>
                <a:effectLst/>
                <a:latin typeface="Laila"/>
              </a:rPr>
              <a:t> get() - </a:t>
            </a:r>
            <a:r>
              <a:rPr lang="en-US" sz="2800" b="0" i="0" u="none" strike="noStrike" dirty="0">
                <a:solidFill>
                  <a:srgbClr val="434343"/>
                </a:solidFill>
                <a:effectLst/>
                <a:latin typeface="Laila"/>
              </a:rPr>
              <a:t>Fetching the web page</a:t>
            </a:r>
            <a:endParaRPr lang="en-IN" sz="2800" dirty="0"/>
          </a:p>
        </p:txBody>
      </p:sp>
      <p:sp>
        <p:nvSpPr>
          <p:cNvPr id="13" name="TextBox 12">
            <a:extLst>
              <a:ext uri="{FF2B5EF4-FFF2-40B4-BE49-F238E27FC236}">
                <a16:creationId xmlns:a16="http://schemas.microsoft.com/office/drawing/2014/main" id="{F8754E1F-EA62-5E7E-EBEA-36F7C27329FE}"/>
              </a:ext>
            </a:extLst>
          </p:cNvPr>
          <p:cNvSpPr txBox="1"/>
          <p:nvPr/>
        </p:nvSpPr>
        <p:spPr>
          <a:xfrm>
            <a:off x="525235" y="2046906"/>
            <a:ext cx="7149193" cy="523220"/>
          </a:xfrm>
          <a:prstGeom prst="rect">
            <a:avLst/>
          </a:prstGeom>
          <a:noFill/>
        </p:spPr>
        <p:txBody>
          <a:bodyPr wrap="square">
            <a:spAutoFit/>
          </a:bodyPr>
          <a:lstStyle/>
          <a:p>
            <a:r>
              <a:rPr lang="en-US" sz="2800" b="1" i="0" u="none" strike="noStrike" dirty="0">
                <a:solidFill>
                  <a:srgbClr val="434343"/>
                </a:solidFill>
                <a:effectLst/>
                <a:latin typeface="Laila"/>
              </a:rPr>
              <a:t>navigate().to() - </a:t>
            </a:r>
            <a:r>
              <a:rPr lang="en-US" sz="2800" b="0" i="0" u="none" strike="noStrike" dirty="0">
                <a:solidFill>
                  <a:srgbClr val="434343"/>
                </a:solidFill>
                <a:effectLst/>
                <a:latin typeface="Laila"/>
              </a:rPr>
              <a:t>Navigating  the web page </a:t>
            </a:r>
            <a:endParaRPr lang="en-IN" sz="2800" dirty="0"/>
          </a:p>
        </p:txBody>
      </p:sp>
      <p:sp>
        <p:nvSpPr>
          <p:cNvPr id="15" name="TextBox 14">
            <a:extLst>
              <a:ext uri="{FF2B5EF4-FFF2-40B4-BE49-F238E27FC236}">
                <a16:creationId xmlns:a16="http://schemas.microsoft.com/office/drawing/2014/main" id="{B2BF6F3E-59A5-D2D0-8074-88590C5C7B77}"/>
              </a:ext>
            </a:extLst>
          </p:cNvPr>
          <p:cNvSpPr txBox="1"/>
          <p:nvPr/>
        </p:nvSpPr>
        <p:spPr>
          <a:xfrm>
            <a:off x="1973036" y="2809373"/>
            <a:ext cx="6101442" cy="400110"/>
          </a:xfrm>
          <a:prstGeom prst="rect">
            <a:avLst/>
          </a:prstGeom>
          <a:noFill/>
        </p:spPr>
        <p:txBody>
          <a:bodyPr wrap="square">
            <a:spAutoFit/>
          </a:bodyPr>
          <a:lstStyle/>
          <a:p>
            <a:r>
              <a:rPr lang="en-IN" sz="2000" b="0" i="0" u="none" strike="noStrike" dirty="0" err="1">
                <a:solidFill>
                  <a:srgbClr val="585050"/>
                </a:solidFill>
                <a:effectLst/>
                <a:highlight>
                  <a:srgbClr val="F4ECEC"/>
                </a:highlight>
                <a:latin typeface="Consolas" panose="020B0609020204030204" pitchFamily="49" charset="0"/>
              </a:rPr>
              <a:t>driver.navigate</a:t>
            </a:r>
            <a:r>
              <a:rPr lang="en-IN" sz="2000" b="0" i="0" u="none" strike="noStrike" dirty="0">
                <a:solidFill>
                  <a:srgbClr val="585050"/>
                </a:solidFill>
                <a:effectLst/>
                <a:highlight>
                  <a:srgbClr val="F4ECEC"/>
                </a:highlight>
                <a:latin typeface="Consolas" panose="020B0609020204030204" pitchFamily="49" charset="0"/>
              </a:rPr>
              <a:t>().forward(); </a:t>
            </a:r>
            <a:endParaRPr lang="en-IN" sz="2000" dirty="0"/>
          </a:p>
        </p:txBody>
      </p:sp>
      <p:sp>
        <p:nvSpPr>
          <p:cNvPr id="17" name="TextBox 16">
            <a:extLst>
              <a:ext uri="{FF2B5EF4-FFF2-40B4-BE49-F238E27FC236}">
                <a16:creationId xmlns:a16="http://schemas.microsoft.com/office/drawing/2014/main" id="{D66C7113-8318-B2C4-2B77-6CB01F494235}"/>
              </a:ext>
            </a:extLst>
          </p:cNvPr>
          <p:cNvSpPr txBox="1"/>
          <p:nvPr/>
        </p:nvSpPr>
        <p:spPr>
          <a:xfrm>
            <a:off x="1973036" y="3244334"/>
            <a:ext cx="6101442" cy="400110"/>
          </a:xfrm>
          <a:prstGeom prst="rect">
            <a:avLst/>
          </a:prstGeom>
          <a:noFill/>
        </p:spPr>
        <p:txBody>
          <a:bodyPr wrap="square">
            <a:spAutoFit/>
          </a:bodyPr>
          <a:lstStyle/>
          <a:p>
            <a:r>
              <a:rPr lang="en-IN" sz="2000" b="0" i="0" u="none" strike="noStrike" dirty="0">
                <a:solidFill>
                  <a:srgbClr val="585050"/>
                </a:solidFill>
                <a:effectLst/>
                <a:highlight>
                  <a:srgbClr val="F4ECEC"/>
                </a:highlight>
                <a:latin typeface="Consolas" panose="020B0609020204030204" pitchFamily="49" charset="0"/>
              </a:rPr>
              <a:t>driver.navigate().back();</a:t>
            </a:r>
            <a:endParaRPr lang="en-IN" sz="2000" dirty="0"/>
          </a:p>
        </p:txBody>
      </p:sp>
      <p:sp>
        <p:nvSpPr>
          <p:cNvPr id="19" name="TextBox 18">
            <a:extLst>
              <a:ext uri="{FF2B5EF4-FFF2-40B4-BE49-F238E27FC236}">
                <a16:creationId xmlns:a16="http://schemas.microsoft.com/office/drawing/2014/main" id="{67172FA7-7B0E-AFAD-1095-26A13CD8D554}"/>
              </a:ext>
            </a:extLst>
          </p:cNvPr>
          <p:cNvSpPr txBox="1"/>
          <p:nvPr/>
        </p:nvSpPr>
        <p:spPr>
          <a:xfrm>
            <a:off x="1973036" y="3694330"/>
            <a:ext cx="6101442" cy="400110"/>
          </a:xfrm>
          <a:prstGeom prst="rect">
            <a:avLst/>
          </a:prstGeom>
          <a:noFill/>
        </p:spPr>
        <p:txBody>
          <a:bodyPr wrap="square">
            <a:spAutoFit/>
          </a:bodyPr>
          <a:lstStyle/>
          <a:p>
            <a:r>
              <a:rPr lang="en-IN" sz="2000" b="0" i="0" u="none" strike="noStrike" dirty="0" err="1">
                <a:solidFill>
                  <a:srgbClr val="585050"/>
                </a:solidFill>
                <a:effectLst/>
                <a:highlight>
                  <a:srgbClr val="F4ECEC"/>
                </a:highlight>
                <a:latin typeface="Consolas" panose="020B0609020204030204" pitchFamily="49" charset="0"/>
              </a:rPr>
              <a:t>driver.navigate</a:t>
            </a:r>
            <a:r>
              <a:rPr lang="en-IN" sz="2000" b="0" i="0" u="none" strike="noStrike" dirty="0">
                <a:solidFill>
                  <a:srgbClr val="585050"/>
                </a:solidFill>
                <a:effectLst/>
                <a:highlight>
                  <a:srgbClr val="F4ECEC"/>
                </a:highlight>
                <a:latin typeface="Consolas" panose="020B0609020204030204" pitchFamily="49" charset="0"/>
              </a:rPr>
              <a:t>().refresh();</a:t>
            </a:r>
            <a:endParaRPr lang="en-IN" sz="2000" dirty="0"/>
          </a:p>
        </p:txBody>
      </p:sp>
      <p:sp>
        <p:nvSpPr>
          <p:cNvPr id="21" name="TextBox 20">
            <a:extLst>
              <a:ext uri="{FF2B5EF4-FFF2-40B4-BE49-F238E27FC236}">
                <a16:creationId xmlns:a16="http://schemas.microsoft.com/office/drawing/2014/main" id="{AD79541B-54BA-1D0C-D9D3-C504A0B89E5B}"/>
              </a:ext>
            </a:extLst>
          </p:cNvPr>
          <p:cNvSpPr txBox="1"/>
          <p:nvPr/>
        </p:nvSpPr>
        <p:spPr>
          <a:xfrm>
            <a:off x="525235" y="4426252"/>
            <a:ext cx="6471557" cy="523220"/>
          </a:xfrm>
          <a:prstGeom prst="rect">
            <a:avLst/>
          </a:prstGeom>
          <a:noFill/>
        </p:spPr>
        <p:txBody>
          <a:bodyPr wrap="square">
            <a:spAutoFit/>
          </a:bodyPr>
          <a:lstStyle/>
          <a:p>
            <a:r>
              <a:rPr lang="en-IN" sz="2800" b="1" i="0" u="none" strike="noStrike" dirty="0">
                <a:solidFill>
                  <a:srgbClr val="333333"/>
                </a:solidFill>
                <a:effectLst/>
                <a:latin typeface="Laila"/>
              </a:rPr>
              <a:t> Clear() - </a:t>
            </a:r>
            <a:r>
              <a:rPr lang="en-IN" sz="2800" b="0" i="0" u="none" strike="noStrike" dirty="0">
                <a:solidFill>
                  <a:srgbClr val="333333"/>
                </a:solidFill>
                <a:effectLst/>
                <a:latin typeface="Laila"/>
              </a:rPr>
              <a:t>Clear input</a:t>
            </a:r>
            <a:endParaRPr lang="en-IN" sz="2800" dirty="0"/>
          </a:p>
        </p:txBody>
      </p:sp>
      <p:sp>
        <p:nvSpPr>
          <p:cNvPr id="23" name="TextBox 22">
            <a:extLst>
              <a:ext uri="{FF2B5EF4-FFF2-40B4-BE49-F238E27FC236}">
                <a16:creationId xmlns:a16="http://schemas.microsoft.com/office/drawing/2014/main" id="{7A6DA028-DAE2-E3FB-8105-C2CE49E8FE9A}"/>
              </a:ext>
            </a:extLst>
          </p:cNvPr>
          <p:cNvSpPr txBox="1"/>
          <p:nvPr/>
        </p:nvSpPr>
        <p:spPr>
          <a:xfrm>
            <a:off x="525235" y="5546614"/>
            <a:ext cx="8313965" cy="523220"/>
          </a:xfrm>
          <a:prstGeom prst="rect">
            <a:avLst/>
          </a:prstGeom>
          <a:noFill/>
        </p:spPr>
        <p:txBody>
          <a:bodyPr wrap="square">
            <a:spAutoFit/>
          </a:bodyPr>
          <a:lstStyle/>
          <a:p>
            <a:r>
              <a:rPr lang="en-US" sz="2800" b="1" i="0" u="none" strike="noStrike" dirty="0">
                <a:solidFill>
                  <a:srgbClr val="333333"/>
                </a:solidFill>
                <a:effectLst/>
                <a:latin typeface="Laila"/>
              </a:rPr>
              <a:t> </a:t>
            </a:r>
            <a:r>
              <a:rPr lang="en-US" sz="2800" b="1" i="0" u="none" strike="noStrike" dirty="0" err="1">
                <a:solidFill>
                  <a:srgbClr val="333333"/>
                </a:solidFill>
                <a:effectLst/>
                <a:latin typeface="Laila"/>
              </a:rPr>
              <a:t>getText</a:t>
            </a:r>
            <a:r>
              <a:rPr lang="en-US" sz="2800" b="1" i="0" u="none" strike="noStrike" dirty="0">
                <a:solidFill>
                  <a:srgbClr val="333333"/>
                </a:solidFill>
                <a:effectLst/>
                <a:latin typeface="Laila"/>
              </a:rPr>
              <a:t>() -</a:t>
            </a:r>
            <a:r>
              <a:rPr lang="en-US" sz="2800" b="0" i="0" u="none" strike="noStrike" dirty="0">
                <a:solidFill>
                  <a:srgbClr val="333333"/>
                </a:solidFill>
                <a:effectLst/>
                <a:latin typeface="Laila"/>
              </a:rPr>
              <a:t> </a:t>
            </a:r>
            <a:r>
              <a:rPr lang="en-US" sz="2800" b="0" i="0" u="none" strike="noStrike" dirty="0">
                <a:solidFill>
                  <a:srgbClr val="333333"/>
                </a:solidFill>
                <a:effectLst/>
                <a:highlight>
                  <a:srgbClr val="FFFFFF"/>
                </a:highlight>
                <a:latin typeface="Laila"/>
              </a:rPr>
              <a:t> Fetch the text written over a web element</a:t>
            </a:r>
            <a:endParaRPr lang="en-IN" sz="2800" dirty="0"/>
          </a:p>
        </p:txBody>
      </p:sp>
    </p:spTree>
    <p:extLst>
      <p:ext uri="{BB962C8B-B14F-4D97-AF65-F5344CB8AC3E}">
        <p14:creationId xmlns:p14="http://schemas.microsoft.com/office/powerpoint/2010/main" val="3133762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C0A3BB-1A94-6DCB-B9D0-876B93756B6C}"/>
              </a:ext>
            </a:extLst>
          </p:cNvPr>
          <p:cNvSpPr txBox="1"/>
          <p:nvPr/>
        </p:nvSpPr>
        <p:spPr>
          <a:xfrm>
            <a:off x="555171" y="0"/>
            <a:ext cx="6637564" cy="1461939"/>
          </a:xfrm>
          <a:prstGeom prst="rect">
            <a:avLst/>
          </a:prstGeom>
          <a:noFill/>
        </p:spPr>
        <p:txBody>
          <a:bodyPr wrap="square">
            <a:spAutoFit/>
          </a:bodyPr>
          <a:lstStyle/>
          <a:p>
            <a:pPr marL="914400" rtl="0">
              <a:spcBef>
                <a:spcPts val="600"/>
              </a:spcBef>
              <a:spcAft>
                <a:spcPts val="600"/>
              </a:spcAft>
            </a:pPr>
            <a:br>
              <a:rPr lang="en-US" sz="2800" b="0" dirty="0">
                <a:effectLst/>
              </a:rPr>
            </a:br>
            <a:endParaRPr lang="en-US" sz="2800" b="0" dirty="0">
              <a:effectLst/>
            </a:endParaRPr>
          </a:p>
          <a:p>
            <a:r>
              <a:rPr lang="en-US" sz="2800" b="1" i="0" u="none" strike="noStrike" dirty="0">
                <a:solidFill>
                  <a:srgbClr val="333333"/>
                </a:solidFill>
                <a:effectLst/>
                <a:highlight>
                  <a:srgbClr val="FFFFFF"/>
                </a:highlight>
                <a:latin typeface="Laila"/>
              </a:rPr>
              <a:t> </a:t>
            </a:r>
            <a:r>
              <a:rPr lang="en-US" sz="2800" b="1" i="0" u="none" strike="noStrike" dirty="0" err="1">
                <a:solidFill>
                  <a:srgbClr val="333333"/>
                </a:solidFill>
                <a:effectLst/>
                <a:highlight>
                  <a:srgbClr val="FFFFFF"/>
                </a:highlight>
                <a:latin typeface="Laila"/>
              </a:rPr>
              <a:t>getTitle</a:t>
            </a:r>
            <a:r>
              <a:rPr lang="en-US" sz="2800" b="1" i="0" u="none" strike="noStrike" dirty="0">
                <a:solidFill>
                  <a:srgbClr val="333333"/>
                </a:solidFill>
                <a:effectLst/>
                <a:highlight>
                  <a:srgbClr val="FFFFFF"/>
                </a:highlight>
                <a:latin typeface="Laila"/>
              </a:rPr>
              <a:t>()</a:t>
            </a:r>
            <a:r>
              <a:rPr lang="en-US" sz="2800" b="1" i="0" u="none" strike="noStrike" dirty="0">
                <a:solidFill>
                  <a:srgbClr val="333333"/>
                </a:solidFill>
                <a:effectLst/>
                <a:highlight>
                  <a:srgbClr val="FFFFFF"/>
                </a:highlight>
                <a:latin typeface="Roboto" panose="02000000000000000000" pitchFamily="2" charset="0"/>
              </a:rPr>
              <a:t> - </a:t>
            </a:r>
            <a:r>
              <a:rPr lang="en-US" sz="2800" b="0" i="0" u="none" strike="noStrike" dirty="0">
                <a:solidFill>
                  <a:srgbClr val="333333"/>
                </a:solidFill>
                <a:effectLst/>
                <a:highlight>
                  <a:srgbClr val="FFFFFF"/>
                </a:highlight>
                <a:latin typeface="Laila"/>
              </a:rPr>
              <a:t>Fetch the title of the webpage</a:t>
            </a:r>
            <a:endParaRPr lang="en-IN" sz="2800" dirty="0"/>
          </a:p>
        </p:txBody>
      </p:sp>
      <p:sp>
        <p:nvSpPr>
          <p:cNvPr id="7" name="TextBox 6">
            <a:extLst>
              <a:ext uri="{FF2B5EF4-FFF2-40B4-BE49-F238E27FC236}">
                <a16:creationId xmlns:a16="http://schemas.microsoft.com/office/drawing/2014/main" id="{CFE1EAF1-A632-0B04-099A-96021BDE9181}"/>
              </a:ext>
            </a:extLst>
          </p:cNvPr>
          <p:cNvSpPr txBox="1"/>
          <p:nvPr/>
        </p:nvSpPr>
        <p:spPr>
          <a:xfrm>
            <a:off x="555171" y="1809079"/>
            <a:ext cx="6474279" cy="523220"/>
          </a:xfrm>
          <a:prstGeom prst="rect">
            <a:avLst/>
          </a:prstGeom>
          <a:noFill/>
        </p:spPr>
        <p:txBody>
          <a:bodyPr wrap="square">
            <a:spAutoFit/>
          </a:bodyPr>
          <a:lstStyle/>
          <a:p>
            <a:r>
              <a:rPr lang="en-IN" sz="2800" b="1" i="0" u="none" strike="noStrike" dirty="0">
                <a:solidFill>
                  <a:srgbClr val="333333"/>
                </a:solidFill>
                <a:effectLst/>
                <a:highlight>
                  <a:srgbClr val="FFFFFF"/>
                </a:highlight>
                <a:latin typeface="Laila"/>
              </a:rPr>
              <a:t> click() -</a:t>
            </a:r>
            <a:r>
              <a:rPr lang="en-IN" sz="2800" b="1" i="0" u="none" strike="noStrike" dirty="0">
                <a:solidFill>
                  <a:srgbClr val="333333"/>
                </a:solidFill>
                <a:effectLst/>
                <a:highlight>
                  <a:srgbClr val="FFFFFF"/>
                </a:highlight>
                <a:latin typeface="Roboto" panose="02000000000000000000" pitchFamily="2" charset="0"/>
              </a:rPr>
              <a:t> </a:t>
            </a:r>
            <a:r>
              <a:rPr lang="en-IN" sz="2800" b="0" i="0" u="none" strike="noStrike" dirty="0">
                <a:solidFill>
                  <a:srgbClr val="333333"/>
                </a:solidFill>
                <a:effectLst/>
                <a:highlight>
                  <a:srgbClr val="FFFFFF"/>
                </a:highlight>
                <a:latin typeface="Laila"/>
              </a:rPr>
              <a:t>Perform click</a:t>
            </a:r>
            <a:endParaRPr lang="en-IN" sz="2800" dirty="0"/>
          </a:p>
        </p:txBody>
      </p:sp>
      <p:sp>
        <p:nvSpPr>
          <p:cNvPr id="9" name="TextBox 8">
            <a:extLst>
              <a:ext uri="{FF2B5EF4-FFF2-40B4-BE49-F238E27FC236}">
                <a16:creationId xmlns:a16="http://schemas.microsoft.com/office/drawing/2014/main" id="{C2238BF9-2B17-E70F-41CA-0D61F09EFDCD}"/>
              </a:ext>
            </a:extLst>
          </p:cNvPr>
          <p:cNvSpPr txBox="1"/>
          <p:nvPr/>
        </p:nvSpPr>
        <p:spPr>
          <a:xfrm>
            <a:off x="555171" y="2679440"/>
            <a:ext cx="8596993" cy="523220"/>
          </a:xfrm>
          <a:prstGeom prst="rect">
            <a:avLst/>
          </a:prstGeom>
          <a:noFill/>
        </p:spPr>
        <p:txBody>
          <a:bodyPr wrap="square">
            <a:spAutoFit/>
          </a:bodyPr>
          <a:lstStyle/>
          <a:p>
            <a:r>
              <a:rPr lang="en-IN" sz="2800" b="1" i="0" u="none" strike="noStrike" dirty="0">
                <a:solidFill>
                  <a:srgbClr val="333333"/>
                </a:solidFill>
                <a:effectLst/>
                <a:highlight>
                  <a:srgbClr val="FFFFFF"/>
                </a:highlight>
                <a:latin typeface="Laila"/>
              </a:rPr>
              <a:t> close()</a:t>
            </a:r>
            <a:r>
              <a:rPr lang="en-IN" sz="2800" b="1" i="0" u="none" strike="noStrike" dirty="0">
                <a:solidFill>
                  <a:srgbClr val="333333"/>
                </a:solidFill>
                <a:effectLst/>
                <a:highlight>
                  <a:srgbClr val="FFFFFF"/>
                </a:highlight>
                <a:latin typeface="Roboto" panose="02000000000000000000" pitchFamily="2" charset="0"/>
              </a:rPr>
              <a:t> - </a:t>
            </a:r>
            <a:r>
              <a:rPr lang="en-IN" sz="2800" b="0" i="0" u="none" strike="noStrike" dirty="0">
                <a:solidFill>
                  <a:srgbClr val="333333"/>
                </a:solidFill>
                <a:effectLst/>
                <a:highlight>
                  <a:srgbClr val="FFFFFF"/>
                </a:highlight>
                <a:latin typeface="Laila"/>
              </a:rPr>
              <a:t>Closing the browser</a:t>
            </a:r>
            <a:endParaRPr lang="en-IN" sz="2800" dirty="0"/>
          </a:p>
        </p:txBody>
      </p:sp>
      <p:sp>
        <p:nvSpPr>
          <p:cNvPr id="11" name="TextBox 10">
            <a:extLst>
              <a:ext uri="{FF2B5EF4-FFF2-40B4-BE49-F238E27FC236}">
                <a16:creationId xmlns:a16="http://schemas.microsoft.com/office/drawing/2014/main" id="{0E9132C1-7D28-5636-980B-2906AC01F373}"/>
              </a:ext>
            </a:extLst>
          </p:cNvPr>
          <p:cNvSpPr txBox="1"/>
          <p:nvPr/>
        </p:nvSpPr>
        <p:spPr>
          <a:xfrm>
            <a:off x="555171" y="3520894"/>
            <a:ext cx="8596993" cy="523220"/>
          </a:xfrm>
          <a:prstGeom prst="rect">
            <a:avLst/>
          </a:prstGeom>
          <a:noFill/>
        </p:spPr>
        <p:txBody>
          <a:bodyPr wrap="square">
            <a:spAutoFit/>
          </a:bodyPr>
          <a:lstStyle/>
          <a:p>
            <a:r>
              <a:rPr lang="en-US" sz="2800" b="1" i="0" u="none" strike="noStrike" dirty="0">
                <a:solidFill>
                  <a:srgbClr val="333333"/>
                </a:solidFill>
                <a:effectLst/>
                <a:highlight>
                  <a:srgbClr val="FFFFFF"/>
                </a:highlight>
                <a:latin typeface="Laila"/>
              </a:rPr>
              <a:t> quit() - </a:t>
            </a:r>
            <a:r>
              <a:rPr lang="en-US" sz="2800" b="0" i="0" u="none" strike="noStrike" dirty="0">
                <a:solidFill>
                  <a:srgbClr val="333333"/>
                </a:solidFill>
                <a:effectLst/>
                <a:highlight>
                  <a:srgbClr val="FFFFFF"/>
                </a:highlight>
                <a:latin typeface="Laila"/>
              </a:rPr>
              <a:t>Close browser and all associated windows.</a:t>
            </a:r>
            <a:endParaRPr lang="en-IN" sz="2800" dirty="0"/>
          </a:p>
        </p:txBody>
      </p:sp>
      <p:sp>
        <p:nvSpPr>
          <p:cNvPr id="13" name="TextBox 12">
            <a:extLst>
              <a:ext uri="{FF2B5EF4-FFF2-40B4-BE49-F238E27FC236}">
                <a16:creationId xmlns:a16="http://schemas.microsoft.com/office/drawing/2014/main" id="{F114DEAF-4F7D-6D40-865E-2912BC9B5CE1}"/>
              </a:ext>
            </a:extLst>
          </p:cNvPr>
          <p:cNvSpPr txBox="1"/>
          <p:nvPr/>
        </p:nvSpPr>
        <p:spPr>
          <a:xfrm>
            <a:off x="653143" y="4201886"/>
            <a:ext cx="8371114" cy="523220"/>
          </a:xfrm>
          <a:prstGeom prst="rect">
            <a:avLst/>
          </a:prstGeom>
          <a:noFill/>
        </p:spPr>
        <p:txBody>
          <a:bodyPr wrap="square">
            <a:spAutoFit/>
          </a:bodyPr>
          <a:lstStyle/>
          <a:p>
            <a:r>
              <a:rPr lang="en-US" sz="2800" b="1" i="0" u="none" strike="noStrike" dirty="0" err="1">
                <a:solidFill>
                  <a:srgbClr val="333333"/>
                </a:solidFill>
                <a:effectLst/>
                <a:highlight>
                  <a:srgbClr val="FFFFFF"/>
                </a:highlight>
                <a:latin typeface="Laila"/>
              </a:rPr>
              <a:t>switchTo</a:t>
            </a:r>
            <a:r>
              <a:rPr lang="en-US" sz="2800" b="1" i="0" u="none" strike="noStrike" dirty="0">
                <a:solidFill>
                  <a:srgbClr val="333333"/>
                </a:solidFill>
                <a:effectLst/>
                <a:highlight>
                  <a:srgbClr val="FFFFFF"/>
                </a:highlight>
                <a:latin typeface="Laila"/>
              </a:rPr>
              <a:t>() - </a:t>
            </a:r>
            <a:r>
              <a:rPr lang="en-US" sz="2800" b="0" i="0" u="none" strike="noStrike" dirty="0">
                <a:solidFill>
                  <a:srgbClr val="333333"/>
                </a:solidFill>
                <a:effectLst/>
                <a:highlight>
                  <a:srgbClr val="FFFFFF"/>
                </a:highlight>
                <a:latin typeface="Laila"/>
              </a:rPr>
              <a:t>Move between the windows and frames</a:t>
            </a:r>
            <a:endParaRPr lang="en-IN" sz="2800" dirty="0"/>
          </a:p>
        </p:txBody>
      </p:sp>
      <p:sp>
        <p:nvSpPr>
          <p:cNvPr id="15" name="TextBox 14">
            <a:extLst>
              <a:ext uri="{FF2B5EF4-FFF2-40B4-BE49-F238E27FC236}">
                <a16:creationId xmlns:a16="http://schemas.microsoft.com/office/drawing/2014/main" id="{BF49A323-6739-605D-07A4-000485BE09F9}"/>
              </a:ext>
            </a:extLst>
          </p:cNvPr>
          <p:cNvSpPr txBox="1"/>
          <p:nvPr/>
        </p:nvSpPr>
        <p:spPr>
          <a:xfrm>
            <a:off x="468086" y="4986049"/>
            <a:ext cx="8762999" cy="523220"/>
          </a:xfrm>
          <a:prstGeom prst="rect">
            <a:avLst/>
          </a:prstGeom>
          <a:noFill/>
        </p:spPr>
        <p:txBody>
          <a:bodyPr wrap="square">
            <a:spAutoFit/>
          </a:bodyPr>
          <a:lstStyle/>
          <a:p>
            <a:r>
              <a:rPr lang="en-US" sz="2800" b="1" i="0" u="none" strike="noStrike" dirty="0">
                <a:solidFill>
                  <a:srgbClr val="333333"/>
                </a:solidFill>
                <a:effectLst/>
                <a:highlight>
                  <a:srgbClr val="FFFFFF"/>
                </a:highlight>
                <a:latin typeface="Laila"/>
              </a:rPr>
              <a:t>  </a:t>
            </a:r>
            <a:r>
              <a:rPr lang="en-US" sz="2800" b="1" i="0" u="none" strike="noStrike" dirty="0" err="1">
                <a:solidFill>
                  <a:srgbClr val="333333"/>
                </a:solidFill>
                <a:effectLst/>
                <a:highlight>
                  <a:srgbClr val="FFFFFF"/>
                </a:highlight>
                <a:latin typeface="Laila"/>
              </a:rPr>
              <a:t>getPageSource</a:t>
            </a:r>
            <a:r>
              <a:rPr lang="en-US" sz="2800" b="1" i="0" u="none" strike="noStrike" dirty="0">
                <a:solidFill>
                  <a:srgbClr val="333333"/>
                </a:solidFill>
                <a:effectLst/>
                <a:highlight>
                  <a:srgbClr val="FFFFFF"/>
                </a:highlight>
                <a:latin typeface="Laila"/>
              </a:rPr>
              <a:t>() -</a:t>
            </a:r>
            <a:r>
              <a:rPr lang="en-US" sz="2800" b="0" i="0" u="none" strike="noStrike" dirty="0">
                <a:solidFill>
                  <a:srgbClr val="333333"/>
                </a:solidFill>
                <a:effectLst/>
                <a:highlight>
                  <a:srgbClr val="FFFFFF"/>
                </a:highlight>
                <a:latin typeface="Laila"/>
              </a:rPr>
              <a:t> Get last page visited / reference URL</a:t>
            </a:r>
            <a:endParaRPr lang="en-IN" sz="2800" dirty="0"/>
          </a:p>
        </p:txBody>
      </p:sp>
      <p:sp>
        <p:nvSpPr>
          <p:cNvPr id="17" name="TextBox 16">
            <a:extLst>
              <a:ext uri="{FF2B5EF4-FFF2-40B4-BE49-F238E27FC236}">
                <a16:creationId xmlns:a16="http://schemas.microsoft.com/office/drawing/2014/main" id="{7B72E718-59F6-BFB7-4035-18F61857CD2F}"/>
              </a:ext>
            </a:extLst>
          </p:cNvPr>
          <p:cNvSpPr txBox="1"/>
          <p:nvPr/>
        </p:nvSpPr>
        <p:spPr>
          <a:xfrm>
            <a:off x="555171" y="5804873"/>
            <a:ext cx="9895115" cy="523220"/>
          </a:xfrm>
          <a:prstGeom prst="rect">
            <a:avLst/>
          </a:prstGeom>
          <a:noFill/>
        </p:spPr>
        <p:txBody>
          <a:bodyPr wrap="square">
            <a:spAutoFit/>
          </a:bodyPr>
          <a:lstStyle/>
          <a:p>
            <a:r>
              <a:rPr lang="en-US" sz="2800" b="1" i="0" u="none" strike="noStrike" dirty="0">
                <a:solidFill>
                  <a:srgbClr val="333333"/>
                </a:solidFill>
                <a:effectLst/>
                <a:latin typeface="Laila"/>
              </a:rPr>
              <a:t> </a:t>
            </a:r>
            <a:r>
              <a:rPr lang="en-US" sz="2800" b="1" i="0" u="none" strike="noStrike" dirty="0" err="1">
                <a:solidFill>
                  <a:srgbClr val="333333"/>
                </a:solidFill>
                <a:effectLst/>
                <a:latin typeface="Laila"/>
              </a:rPr>
              <a:t>sendKeys</a:t>
            </a:r>
            <a:r>
              <a:rPr lang="en-US" sz="2800" b="1" i="0" u="none" strike="noStrike" dirty="0">
                <a:solidFill>
                  <a:srgbClr val="333333"/>
                </a:solidFill>
                <a:effectLst/>
                <a:latin typeface="Laila"/>
              </a:rPr>
              <a:t>() - </a:t>
            </a:r>
            <a:r>
              <a:rPr lang="en-US" sz="2800" b="0" i="0" u="none" strike="noStrike" dirty="0">
                <a:solidFill>
                  <a:srgbClr val="333333"/>
                </a:solidFill>
                <a:effectLst/>
                <a:latin typeface="Laila"/>
              </a:rPr>
              <a:t>Send character sequence to input fields / elements.</a:t>
            </a:r>
            <a:endParaRPr lang="en-IN" sz="2800" dirty="0"/>
          </a:p>
        </p:txBody>
      </p:sp>
    </p:spTree>
    <p:extLst>
      <p:ext uri="{BB962C8B-B14F-4D97-AF65-F5344CB8AC3E}">
        <p14:creationId xmlns:p14="http://schemas.microsoft.com/office/powerpoint/2010/main" val="1786040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6F390C-7663-6443-3D11-2FB2ABA3C36D}"/>
              </a:ext>
            </a:extLst>
          </p:cNvPr>
          <p:cNvSpPr txBox="1"/>
          <p:nvPr/>
        </p:nvSpPr>
        <p:spPr>
          <a:xfrm>
            <a:off x="1276349" y="533791"/>
            <a:ext cx="7900307" cy="523220"/>
          </a:xfrm>
          <a:prstGeom prst="rect">
            <a:avLst/>
          </a:prstGeom>
          <a:noFill/>
        </p:spPr>
        <p:txBody>
          <a:bodyPr wrap="square">
            <a:spAutoFit/>
          </a:bodyPr>
          <a:lstStyle/>
          <a:p>
            <a:r>
              <a:rPr lang="en-US" sz="2800" b="1" i="0" u="none" strike="noStrike" dirty="0" err="1">
                <a:solidFill>
                  <a:srgbClr val="333333"/>
                </a:solidFill>
                <a:effectLst/>
                <a:latin typeface="Laila"/>
              </a:rPr>
              <a:t>isDisplayed</a:t>
            </a:r>
            <a:r>
              <a:rPr lang="en-US" sz="2800" b="1" i="0" u="none" strike="noStrike" dirty="0">
                <a:solidFill>
                  <a:srgbClr val="333333"/>
                </a:solidFill>
                <a:effectLst/>
                <a:latin typeface="Laila"/>
              </a:rPr>
              <a:t>() -</a:t>
            </a:r>
            <a:r>
              <a:rPr lang="en-US" sz="2800" b="0" i="0" u="none" strike="noStrike" dirty="0">
                <a:solidFill>
                  <a:srgbClr val="333333"/>
                </a:solidFill>
                <a:effectLst/>
                <a:latin typeface="Laila"/>
              </a:rPr>
              <a:t> Check if element is displayed or not.</a:t>
            </a:r>
            <a:endParaRPr lang="en-IN" sz="2800" dirty="0"/>
          </a:p>
        </p:txBody>
      </p:sp>
      <p:sp>
        <p:nvSpPr>
          <p:cNvPr id="7" name="TextBox 6">
            <a:extLst>
              <a:ext uri="{FF2B5EF4-FFF2-40B4-BE49-F238E27FC236}">
                <a16:creationId xmlns:a16="http://schemas.microsoft.com/office/drawing/2014/main" id="{3BE36B3B-40D4-1D41-DDFD-C101FB99DD12}"/>
              </a:ext>
            </a:extLst>
          </p:cNvPr>
          <p:cNvSpPr txBox="1"/>
          <p:nvPr/>
        </p:nvSpPr>
        <p:spPr>
          <a:xfrm>
            <a:off x="1276348" y="1350219"/>
            <a:ext cx="7508423" cy="523220"/>
          </a:xfrm>
          <a:prstGeom prst="rect">
            <a:avLst/>
          </a:prstGeom>
          <a:noFill/>
        </p:spPr>
        <p:txBody>
          <a:bodyPr wrap="square">
            <a:spAutoFit/>
          </a:bodyPr>
          <a:lstStyle/>
          <a:p>
            <a:r>
              <a:rPr lang="en-US" sz="2800" b="1" i="0" u="none" strike="noStrike" dirty="0" err="1">
                <a:solidFill>
                  <a:srgbClr val="333333"/>
                </a:solidFill>
                <a:effectLst/>
                <a:latin typeface="Laila"/>
              </a:rPr>
              <a:t>isEnabled</a:t>
            </a:r>
            <a:r>
              <a:rPr lang="en-US" sz="2800" b="1" i="0" u="none" strike="noStrike" dirty="0">
                <a:solidFill>
                  <a:srgbClr val="333333"/>
                </a:solidFill>
                <a:effectLst/>
                <a:latin typeface="Laila"/>
              </a:rPr>
              <a:t>() </a:t>
            </a:r>
            <a:r>
              <a:rPr lang="en-US" sz="2800" b="0" i="0" u="none" strike="noStrike" dirty="0">
                <a:solidFill>
                  <a:srgbClr val="333333"/>
                </a:solidFill>
                <a:effectLst/>
                <a:latin typeface="Laila"/>
              </a:rPr>
              <a:t>- Checks if element is enabled or not</a:t>
            </a:r>
            <a:endParaRPr lang="en-IN" sz="2800" dirty="0"/>
          </a:p>
        </p:txBody>
      </p:sp>
      <p:sp>
        <p:nvSpPr>
          <p:cNvPr id="9" name="TextBox 8">
            <a:extLst>
              <a:ext uri="{FF2B5EF4-FFF2-40B4-BE49-F238E27FC236}">
                <a16:creationId xmlns:a16="http://schemas.microsoft.com/office/drawing/2014/main" id="{6209A73C-0BE4-99E8-B48A-ED382FC34A51}"/>
              </a:ext>
            </a:extLst>
          </p:cNvPr>
          <p:cNvSpPr txBox="1"/>
          <p:nvPr/>
        </p:nvSpPr>
        <p:spPr>
          <a:xfrm>
            <a:off x="1276348" y="2166647"/>
            <a:ext cx="7649938" cy="523220"/>
          </a:xfrm>
          <a:prstGeom prst="rect">
            <a:avLst/>
          </a:prstGeom>
          <a:noFill/>
        </p:spPr>
        <p:txBody>
          <a:bodyPr wrap="square">
            <a:spAutoFit/>
          </a:bodyPr>
          <a:lstStyle/>
          <a:p>
            <a:r>
              <a:rPr lang="en-US" sz="2800" b="1" i="0" u="none" strike="noStrike" dirty="0" err="1">
                <a:solidFill>
                  <a:srgbClr val="333333"/>
                </a:solidFill>
                <a:effectLst/>
                <a:latin typeface="Laila"/>
              </a:rPr>
              <a:t>isSelected</a:t>
            </a:r>
            <a:r>
              <a:rPr lang="en-US" sz="2800" b="1" i="0" u="none" strike="noStrike" dirty="0">
                <a:solidFill>
                  <a:srgbClr val="333333"/>
                </a:solidFill>
                <a:effectLst/>
                <a:latin typeface="Laila"/>
              </a:rPr>
              <a:t>() </a:t>
            </a:r>
            <a:r>
              <a:rPr lang="en-US" sz="2800" b="0" i="0" u="none" strike="noStrike" dirty="0">
                <a:solidFill>
                  <a:srgbClr val="333333"/>
                </a:solidFill>
                <a:effectLst/>
                <a:latin typeface="Laila"/>
              </a:rPr>
              <a:t>-  Checks if element is selected or not.</a:t>
            </a:r>
            <a:endParaRPr lang="en-IN" sz="2800" dirty="0"/>
          </a:p>
        </p:txBody>
      </p:sp>
      <p:sp>
        <p:nvSpPr>
          <p:cNvPr id="11" name="TextBox 10">
            <a:extLst>
              <a:ext uri="{FF2B5EF4-FFF2-40B4-BE49-F238E27FC236}">
                <a16:creationId xmlns:a16="http://schemas.microsoft.com/office/drawing/2014/main" id="{9AD86509-3821-FE45-F1BF-6EBF4297320E}"/>
              </a:ext>
            </a:extLst>
          </p:cNvPr>
          <p:cNvSpPr txBox="1"/>
          <p:nvPr/>
        </p:nvSpPr>
        <p:spPr>
          <a:xfrm>
            <a:off x="1276348" y="2983075"/>
            <a:ext cx="7875816" cy="523220"/>
          </a:xfrm>
          <a:prstGeom prst="rect">
            <a:avLst/>
          </a:prstGeom>
          <a:noFill/>
        </p:spPr>
        <p:txBody>
          <a:bodyPr wrap="square">
            <a:spAutoFit/>
          </a:bodyPr>
          <a:lstStyle/>
          <a:p>
            <a:r>
              <a:rPr lang="en-US" sz="2800" b="1" i="0" u="none" strike="noStrike" dirty="0">
                <a:solidFill>
                  <a:srgbClr val="333333"/>
                </a:solidFill>
                <a:effectLst/>
                <a:latin typeface="Laila"/>
              </a:rPr>
              <a:t>submit() </a:t>
            </a:r>
            <a:r>
              <a:rPr lang="en-US" sz="2800" b="0" i="0" u="none" strike="noStrike" dirty="0">
                <a:solidFill>
                  <a:srgbClr val="333333"/>
                </a:solidFill>
                <a:effectLst/>
                <a:latin typeface="Laila"/>
              </a:rPr>
              <a:t>-  Used to perform submit action.</a:t>
            </a:r>
            <a:endParaRPr lang="en-IN" sz="2800" dirty="0"/>
          </a:p>
        </p:txBody>
      </p:sp>
      <p:sp>
        <p:nvSpPr>
          <p:cNvPr id="13" name="TextBox 12">
            <a:extLst>
              <a:ext uri="{FF2B5EF4-FFF2-40B4-BE49-F238E27FC236}">
                <a16:creationId xmlns:a16="http://schemas.microsoft.com/office/drawing/2014/main" id="{56EEEF1C-BC6F-752D-781B-C86F89F85032}"/>
              </a:ext>
            </a:extLst>
          </p:cNvPr>
          <p:cNvSpPr txBox="1"/>
          <p:nvPr/>
        </p:nvSpPr>
        <p:spPr>
          <a:xfrm>
            <a:off x="982434" y="4161750"/>
            <a:ext cx="9620252" cy="954107"/>
          </a:xfrm>
          <a:prstGeom prst="rect">
            <a:avLst/>
          </a:prstGeom>
          <a:noFill/>
        </p:spPr>
        <p:txBody>
          <a:bodyPr wrap="square">
            <a:spAutoFit/>
          </a:bodyPr>
          <a:lstStyle/>
          <a:p>
            <a:r>
              <a:rPr lang="en-US" sz="2800" b="1" i="0" u="none" strike="noStrike" dirty="0" err="1">
                <a:solidFill>
                  <a:srgbClr val="333333"/>
                </a:solidFill>
                <a:effectLst/>
                <a:latin typeface="Laila"/>
              </a:rPr>
              <a:t>getText</a:t>
            </a:r>
            <a:r>
              <a:rPr lang="en-US" sz="2800" b="1" i="0" u="none" strike="noStrike" dirty="0">
                <a:solidFill>
                  <a:srgbClr val="333333"/>
                </a:solidFill>
                <a:effectLst/>
                <a:latin typeface="Laila"/>
              </a:rPr>
              <a:t>(), </a:t>
            </a:r>
            <a:r>
              <a:rPr lang="en-US" sz="2800" b="1" i="0" u="none" strike="noStrike" dirty="0" err="1">
                <a:solidFill>
                  <a:srgbClr val="333333"/>
                </a:solidFill>
                <a:effectLst/>
                <a:latin typeface="Laila"/>
              </a:rPr>
              <a:t>getName</a:t>
            </a:r>
            <a:r>
              <a:rPr lang="en-US" sz="2800" b="1" i="0" u="none" strike="noStrike" dirty="0">
                <a:solidFill>
                  <a:srgbClr val="333333"/>
                </a:solidFill>
                <a:effectLst/>
                <a:latin typeface="Laila"/>
              </a:rPr>
              <a:t>(), </a:t>
            </a:r>
            <a:r>
              <a:rPr lang="en-US" sz="2800" b="1" i="0" u="none" strike="noStrike" dirty="0" err="1">
                <a:solidFill>
                  <a:srgbClr val="333333"/>
                </a:solidFill>
                <a:effectLst/>
                <a:latin typeface="Laila"/>
              </a:rPr>
              <a:t>getCssValue</a:t>
            </a:r>
            <a:r>
              <a:rPr lang="en-US" sz="2800" b="1" i="0" u="none" strike="noStrike" dirty="0">
                <a:solidFill>
                  <a:srgbClr val="333333"/>
                </a:solidFill>
                <a:effectLst/>
                <a:latin typeface="Laila"/>
              </a:rPr>
              <a:t>(),</a:t>
            </a:r>
            <a:r>
              <a:rPr lang="en-US" sz="2800" b="1" i="0" u="none" strike="noStrike" dirty="0" err="1">
                <a:solidFill>
                  <a:srgbClr val="333333"/>
                </a:solidFill>
                <a:effectLst/>
                <a:latin typeface="Laila"/>
              </a:rPr>
              <a:t>getAttribute</a:t>
            </a:r>
            <a:r>
              <a:rPr lang="en-US" sz="2800" b="1" i="0" u="none" strike="noStrike" dirty="0">
                <a:solidFill>
                  <a:srgbClr val="333333"/>
                </a:solidFill>
                <a:effectLst/>
                <a:latin typeface="Laila"/>
              </a:rPr>
              <a:t>(),</a:t>
            </a:r>
            <a:r>
              <a:rPr lang="en-US" sz="2800" b="1" i="0" u="none" strike="noStrike" dirty="0" err="1">
                <a:solidFill>
                  <a:srgbClr val="333333"/>
                </a:solidFill>
                <a:effectLst/>
                <a:latin typeface="Laila"/>
              </a:rPr>
              <a:t>getSize</a:t>
            </a:r>
            <a:r>
              <a:rPr lang="en-US" sz="2800" b="1" i="0" u="none" strike="noStrike" dirty="0">
                <a:solidFill>
                  <a:srgbClr val="333333"/>
                </a:solidFill>
                <a:effectLst/>
                <a:latin typeface="Laila"/>
              </a:rPr>
              <a:t>(),</a:t>
            </a:r>
            <a:r>
              <a:rPr lang="en-US" sz="2800" b="1" i="0" u="none" strike="noStrike" dirty="0" err="1">
                <a:solidFill>
                  <a:srgbClr val="333333"/>
                </a:solidFill>
                <a:effectLst/>
                <a:latin typeface="Laila"/>
              </a:rPr>
              <a:t>getLocation</a:t>
            </a:r>
            <a:r>
              <a:rPr lang="en-US" sz="2800" b="1" i="0" u="none" strike="noStrike" dirty="0">
                <a:solidFill>
                  <a:srgbClr val="333333"/>
                </a:solidFill>
                <a:effectLst/>
                <a:latin typeface="Laila"/>
              </a:rPr>
              <a:t>() commands</a:t>
            </a:r>
            <a:endParaRPr lang="en-IN" sz="2800" dirty="0"/>
          </a:p>
        </p:txBody>
      </p:sp>
    </p:spTree>
    <p:extLst>
      <p:ext uri="{BB962C8B-B14F-4D97-AF65-F5344CB8AC3E}">
        <p14:creationId xmlns:p14="http://schemas.microsoft.com/office/powerpoint/2010/main" val="39210416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4547D-737C-2A74-85CA-09CA39153BE9}"/>
              </a:ext>
            </a:extLst>
          </p:cNvPr>
          <p:cNvSpPr>
            <a:spLocks noGrp="1"/>
          </p:cNvSpPr>
          <p:nvPr>
            <p:ph type="title"/>
          </p:nvPr>
        </p:nvSpPr>
        <p:spPr>
          <a:xfrm>
            <a:off x="677334" y="254000"/>
            <a:ext cx="8596668" cy="640080"/>
          </a:xfrm>
        </p:spPr>
        <p:txBody>
          <a:bodyPr>
            <a:noAutofit/>
          </a:bodyPr>
          <a:lstStyle/>
          <a:p>
            <a:pPr algn="ctr"/>
            <a:r>
              <a:rPr lang="en-US" b="1" dirty="0">
                <a:solidFill>
                  <a:schemeClr val="accent5">
                    <a:lumMod val="50000"/>
                  </a:schemeClr>
                </a:solidFill>
                <a:latin typeface="Times New Roman" panose="02020603050405020304" pitchFamily="18" charset="0"/>
                <a:cs typeface="Times New Roman" panose="02020603050405020304" pitchFamily="18" charset="0"/>
              </a:rPr>
              <a:t>XPath</a:t>
            </a:r>
            <a:br>
              <a:rPr lang="en-US" b="1" dirty="0">
                <a:solidFill>
                  <a:schemeClr val="accent5">
                    <a:lumMod val="50000"/>
                  </a:schemeClr>
                </a:solidFill>
                <a:latin typeface="Times New Roman" panose="02020603050405020304" pitchFamily="18" charset="0"/>
                <a:cs typeface="Times New Roman" panose="02020603050405020304" pitchFamily="18" charset="0"/>
              </a:rPr>
            </a:br>
            <a:endParaRPr lang="en-IN"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C1C1DC-1BAA-0196-2861-5F95565FAE7E}"/>
              </a:ext>
            </a:extLst>
          </p:cNvPr>
          <p:cNvSpPr>
            <a:spLocks noGrp="1"/>
          </p:cNvSpPr>
          <p:nvPr>
            <p:ph idx="1"/>
          </p:nvPr>
        </p:nvSpPr>
        <p:spPr>
          <a:xfrm>
            <a:off x="335279" y="894080"/>
            <a:ext cx="9934994" cy="5147282"/>
          </a:xfrm>
        </p:spPr>
        <p:txBody>
          <a:bodyPr/>
          <a:lstStyle/>
          <a:p>
            <a:r>
              <a:rPr lang="en-US" sz="2400" dirty="0">
                <a:solidFill>
                  <a:srgbClr val="0070C0"/>
                </a:solidFill>
              </a:rPr>
              <a:t>Xpath is a language used for locating nodes in XML documents.</a:t>
            </a:r>
          </a:p>
          <a:p>
            <a:pPr marL="0" indent="0">
              <a:buNone/>
            </a:pPr>
            <a:endParaRPr lang="en-US" dirty="0"/>
          </a:p>
          <a:p>
            <a:pPr marL="0" indent="0">
              <a:buNone/>
            </a:pPr>
            <a:r>
              <a:rPr lang="en-US" sz="2400" b="1" dirty="0">
                <a:solidFill>
                  <a:srgbClr val="002060"/>
                </a:solidFill>
              </a:rPr>
              <a:t>Xpath provides locating strategies like:</a:t>
            </a:r>
          </a:p>
          <a:p>
            <a:pPr marL="0" indent="0">
              <a:buNone/>
            </a:pPr>
            <a:r>
              <a:rPr lang="en-US" sz="2000" b="1" dirty="0">
                <a:solidFill>
                  <a:srgbClr val="002060"/>
                </a:solidFill>
              </a:rPr>
              <a:t>1)Absolute Xpath </a:t>
            </a:r>
            <a:r>
              <a:rPr lang="en-US" dirty="0"/>
              <a:t>– </a:t>
            </a:r>
            <a:r>
              <a:rPr lang="en-US" sz="2000" dirty="0">
                <a:solidFill>
                  <a:srgbClr val="0070C0"/>
                </a:solidFill>
              </a:rPr>
              <a:t>A single slash is used to create an xpath with absolute Xpath i.e.</a:t>
            </a:r>
          </a:p>
          <a:p>
            <a:pPr marL="0" indent="0">
              <a:buNone/>
            </a:pPr>
            <a:r>
              <a:rPr lang="en-US" sz="2000" dirty="0">
                <a:solidFill>
                  <a:srgbClr val="0070C0"/>
                </a:solidFill>
              </a:rPr>
              <a:t>The XPath would be created to start selection from the document node/start node.</a:t>
            </a:r>
          </a:p>
          <a:p>
            <a:pPr marL="0" indent="0">
              <a:buNone/>
            </a:pPr>
            <a:endParaRPr lang="en-US" sz="2000" dirty="0">
              <a:solidFill>
                <a:srgbClr val="0070C0"/>
              </a:solidFill>
            </a:endParaRPr>
          </a:p>
          <a:p>
            <a:pPr marL="0" indent="0">
              <a:buNone/>
            </a:pPr>
            <a:r>
              <a:rPr lang="en-US" sz="2000" b="1" dirty="0">
                <a:solidFill>
                  <a:srgbClr val="002060"/>
                </a:solidFill>
              </a:rPr>
              <a:t>2)Relative Xpath </a:t>
            </a:r>
            <a:r>
              <a:rPr lang="en-US" dirty="0"/>
              <a:t>– </a:t>
            </a:r>
            <a:r>
              <a:rPr lang="en-US" sz="2000" dirty="0">
                <a:solidFill>
                  <a:srgbClr val="0070C0"/>
                </a:solidFill>
              </a:rPr>
              <a:t>Double slash is used to create Xpath with relative Xpath i.e.</a:t>
            </a:r>
          </a:p>
          <a:p>
            <a:pPr marL="0" indent="0">
              <a:buNone/>
            </a:pPr>
            <a:r>
              <a:rPr lang="en-US" sz="2000" dirty="0">
                <a:solidFill>
                  <a:srgbClr val="0070C0"/>
                </a:solidFill>
              </a:rPr>
              <a:t>The XPath would be created to start selection from anywhere within the documents</a:t>
            </a:r>
            <a:r>
              <a:rPr lang="en-US" dirty="0">
                <a:solidFill>
                  <a:srgbClr val="0070C0"/>
                </a:solidFill>
              </a:rPr>
              <a:t>.</a:t>
            </a:r>
            <a:endParaRPr lang="en-IN" dirty="0">
              <a:solidFill>
                <a:srgbClr val="0070C0"/>
              </a:solidFill>
            </a:endParaRPr>
          </a:p>
        </p:txBody>
      </p:sp>
    </p:spTree>
    <p:extLst>
      <p:ext uri="{BB962C8B-B14F-4D97-AF65-F5344CB8AC3E}">
        <p14:creationId xmlns:p14="http://schemas.microsoft.com/office/powerpoint/2010/main" val="4013439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BD769-22C8-9C7E-E4EA-82389294BB23}"/>
              </a:ext>
            </a:extLst>
          </p:cNvPr>
          <p:cNvSpPr>
            <a:spLocks noGrp="1"/>
          </p:cNvSpPr>
          <p:nvPr>
            <p:ph type="ctrTitle"/>
          </p:nvPr>
        </p:nvSpPr>
        <p:spPr>
          <a:xfrm>
            <a:off x="680720" y="640080"/>
            <a:ext cx="9428479" cy="894080"/>
          </a:xfrm>
        </p:spPr>
        <p:txBody>
          <a:bodyPr/>
          <a:lstStyle/>
          <a:p>
            <a:pPr algn="ctr"/>
            <a:r>
              <a:rPr lang="en-US" sz="4800" b="1" dirty="0">
                <a:solidFill>
                  <a:schemeClr val="accent5">
                    <a:lumMod val="50000"/>
                  </a:schemeClr>
                </a:solidFill>
                <a:latin typeface="Times New Roman" panose="02020603050405020304" pitchFamily="18" charset="0"/>
                <a:cs typeface="Times New Roman" panose="02020603050405020304" pitchFamily="18" charset="0"/>
              </a:rPr>
              <a:t>Dropdown handling strategies </a:t>
            </a:r>
            <a:endParaRPr lang="en-IN" sz="48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F46D6BF-58A6-D66C-767D-02E62F623023}"/>
              </a:ext>
            </a:extLst>
          </p:cNvPr>
          <p:cNvSpPr>
            <a:spLocks noGrp="1"/>
          </p:cNvSpPr>
          <p:nvPr>
            <p:ph type="subTitle" idx="1"/>
          </p:nvPr>
        </p:nvSpPr>
        <p:spPr>
          <a:xfrm>
            <a:off x="680720" y="1696720"/>
            <a:ext cx="8818879" cy="4521199"/>
          </a:xfrm>
        </p:spPr>
        <p:txBody>
          <a:bodyPr>
            <a:normAutofit/>
          </a:bodyPr>
          <a:lstStyle/>
          <a:p>
            <a:pPr algn="l"/>
            <a:r>
              <a:rPr lang="en-US" sz="2400" b="1" dirty="0">
                <a:solidFill>
                  <a:srgbClr val="7030A0"/>
                </a:solidFill>
                <a:latin typeface="Times New Roman" panose="02020603050405020304" pitchFamily="18" charset="0"/>
                <a:cs typeface="Times New Roman" panose="02020603050405020304" pitchFamily="18" charset="0"/>
              </a:rPr>
              <a:t>The ‘Select’ class is used for selecting and deselecting options in a dropdown.</a:t>
            </a:r>
          </a:p>
          <a:p>
            <a:pPr algn="l"/>
            <a:r>
              <a:rPr lang="en-US" sz="2400" dirty="0">
                <a:solidFill>
                  <a:srgbClr val="002060"/>
                </a:solidFill>
                <a:latin typeface="Times New Roman" panose="02020603050405020304" pitchFamily="18" charset="0"/>
                <a:cs typeface="Times New Roman" panose="02020603050405020304" pitchFamily="18" charset="0"/>
              </a:rPr>
              <a:t>Select dropdown=new Select(test);</a:t>
            </a:r>
          </a:p>
          <a:p>
            <a:pPr algn="l"/>
            <a:r>
              <a:rPr lang="en-US" sz="2400" dirty="0">
                <a:solidFill>
                  <a:srgbClr val="0070C0"/>
                </a:solidFill>
                <a:latin typeface="Times New Roman" panose="02020603050405020304" pitchFamily="18" charset="0"/>
                <a:cs typeface="Times New Roman" panose="02020603050405020304" pitchFamily="18" charset="0"/>
              </a:rPr>
              <a:t>1)selectByIndex()-</a:t>
            </a:r>
          </a:p>
          <a:p>
            <a:pPr algn="l"/>
            <a:r>
              <a:rPr lang="en-US" sz="2400" dirty="0">
                <a:solidFill>
                  <a:srgbClr val="0070C0"/>
                </a:solidFill>
                <a:latin typeface="Times New Roman" panose="02020603050405020304" pitchFamily="18" charset="0"/>
                <a:cs typeface="Times New Roman" panose="02020603050405020304" pitchFamily="18" charset="0"/>
              </a:rPr>
              <a:t>   dropdown. selectByIndex(5);</a:t>
            </a:r>
          </a:p>
          <a:p>
            <a:pPr algn="l"/>
            <a:r>
              <a:rPr lang="en-US" sz="2400" dirty="0">
                <a:solidFill>
                  <a:srgbClr val="0070C0"/>
                </a:solidFill>
                <a:latin typeface="Times New Roman" panose="02020603050405020304" pitchFamily="18" charset="0"/>
                <a:cs typeface="Times New Roman" panose="02020603050405020304" pitchFamily="18" charset="0"/>
              </a:rPr>
              <a:t>2)selectByValue() – </a:t>
            </a:r>
          </a:p>
          <a:p>
            <a:pPr algn="l"/>
            <a:r>
              <a:rPr lang="en-US" sz="2400" dirty="0">
                <a:solidFill>
                  <a:srgbClr val="0070C0"/>
                </a:solidFill>
                <a:latin typeface="Times New Roman" panose="02020603050405020304" pitchFamily="18" charset="0"/>
                <a:cs typeface="Times New Roman" panose="02020603050405020304" pitchFamily="18" charset="0"/>
              </a:rPr>
              <a:t>dropdown. selectByValue(“database”);</a:t>
            </a:r>
          </a:p>
          <a:p>
            <a:pPr algn="l"/>
            <a:r>
              <a:rPr lang="en-US" sz="2400" dirty="0">
                <a:solidFill>
                  <a:srgbClr val="0070C0"/>
                </a:solidFill>
                <a:latin typeface="Times New Roman" panose="02020603050405020304" pitchFamily="18" charset="0"/>
                <a:cs typeface="Times New Roman" panose="02020603050405020304" pitchFamily="18" charset="0"/>
              </a:rPr>
              <a:t>3)selectByVisibleText() – </a:t>
            </a:r>
          </a:p>
          <a:p>
            <a:pPr algn="l"/>
            <a:r>
              <a:rPr lang="en-US" sz="2400" dirty="0">
                <a:solidFill>
                  <a:srgbClr val="0070C0"/>
                </a:solidFill>
                <a:latin typeface="Times New Roman" panose="02020603050405020304" pitchFamily="18" charset="0"/>
                <a:cs typeface="Times New Roman" panose="02020603050405020304" pitchFamily="18" charset="0"/>
              </a:rPr>
              <a:t>dropdown. selectByVisibleText(“database testing”);</a:t>
            </a:r>
          </a:p>
          <a:p>
            <a:pPr algn="l"/>
            <a:endParaRPr lang="en-US" sz="2400" dirty="0">
              <a:solidFill>
                <a:srgbClr val="0070C0"/>
              </a:solidFill>
              <a:latin typeface="Times New Roman" panose="02020603050405020304" pitchFamily="18" charset="0"/>
              <a:cs typeface="Times New Roman" panose="02020603050405020304" pitchFamily="18" charset="0"/>
            </a:endParaRPr>
          </a:p>
          <a:p>
            <a:pPr algn="l"/>
            <a:endParaRPr lang="en-US" dirty="0"/>
          </a:p>
          <a:p>
            <a:pPr algn="l"/>
            <a:endParaRPr lang="en-IN" dirty="0"/>
          </a:p>
        </p:txBody>
      </p:sp>
    </p:spTree>
    <p:extLst>
      <p:ext uri="{BB962C8B-B14F-4D97-AF65-F5344CB8AC3E}">
        <p14:creationId xmlns:p14="http://schemas.microsoft.com/office/powerpoint/2010/main" val="658823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00A12-CCE5-BC97-CBBE-E04CA9FEE4DC}"/>
              </a:ext>
            </a:extLst>
          </p:cNvPr>
          <p:cNvSpPr>
            <a:spLocks noGrp="1"/>
          </p:cNvSpPr>
          <p:nvPr>
            <p:ph type="title"/>
          </p:nvPr>
        </p:nvSpPr>
        <p:spPr>
          <a:xfrm>
            <a:off x="-409074" y="609599"/>
            <a:ext cx="6906127" cy="5129464"/>
          </a:xfrm>
        </p:spPr>
        <p:txBody>
          <a:bodyPr>
            <a:normAutofit fontScale="90000"/>
          </a:bodyPr>
          <a:lstStyle/>
          <a:p>
            <a:pPr marL="914400" fontAlgn="base">
              <a:spcBef>
                <a:spcPts val="0"/>
              </a:spcBef>
            </a:pPr>
            <a:r>
              <a:rPr lang="en-US" sz="3100" b="1" i="0" u="none" strike="noStrike" dirty="0">
                <a:solidFill>
                  <a:srgbClr val="B45F06"/>
                </a:solidFill>
                <a:effectLst/>
                <a:latin typeface="Laila"/>
              </a:rPr>
              <a:t>Error -</a:t>
            </a:r>
            <a:r>
              <a:rPr lang="en-US" sz="3100" b="0" i="0" u="none" strike="noStrike" dirty="0">
                <a:solidFill>
                  <a:srgbClr val="333333"/>
                </a:solidFill>
                <a:effectLst/>
                <a:highlight>
                  <a:srgbClr val="FFFFFF"/>
                </a:highlight>
                <a:latin typeface="Laila"/>
              </a:rPr>
              <a:t>An Error is a mistake made in the code; that's why we cannot execute or compile code.</a:t>
            </a:r>
            <a:br>
              <a:rPr lang="en-US" sz="3100" b="1" i="0" u="none" strike="noStrike" dirty="0">
                <a:solidFill>
                  <a:srgbClr val="000000"/>
                </a:solidFill>
                <a:effectLst/>
                <a:latin typeface="Laila"/>
              </a:rPr>
            </a:br>
            <a:r>
              <a:rPr lang="en-US" sz="3100" b="0" i="0" u="none" strike="noStrike" dirty="0">
                <a:solidFill>
                  <a:srgbClr val="333333"/>
                </a:solidFill>
                <a:effectLst/>
                <a:highlight>
                  <a:srgbClr val="FFFFFF"/>
                </a:highlight>
                <a:latin typeface="Laila"/>
              </a:rPr>
              <a:t>Error is an human mistake.</a:t>
            </a:r>
            <a:br>
              <a:rPr lang="en-US" sz="3100" b="0" i="0" u="none" strike="noStrike" dirty="0">
                <a:solidFill>
                  <a:srgbClr val="333333"/>
                </a:solidFill>
                <a:effectLst/>
                <a:highlight>
                  <a:srgbClr val="FFFFFF"/>
                </a:highlight>
                <a:latin typeface="Laila"/>
              </a:rPr>
            </a:br>
            <a:br>
              <a:rPr lang="en-US" sz="3100" b="0" i="0" u="none" strike="noStrike" dirty="0">
                <a:solidFill>
                  <a:srgbClr val="333333"/>
                </a:solidFill>
                <a:effectLst/>
                <a:highlight>
                  <a:srgbClr val="FFFFFF"/>
                </a:highlight>
                <a:latin typeface="Laila"/>
              </a:rPr>
            </a:br>
            <a:r>
              <a:rPr lang="en-US" sz="3100" b="1" i="0" u="none" strike="noStrike" dirty="0">
                <a:solidFill>
                  <a:srgbClr val="B45F06"/>
                </a:solidFill>
                <a:effectLst/>
                <a:latin typeface="Laila"/>
              </a:rPr>
              <a:t>Bug / Defect  - </a:t>
            </a:r>
            <a:r>
              <a:rPr lang="en-US" sz="3100" b="0" i="0" u="none" strike="noStrike" dirty="0">
                <a:solidFill>
                  <a:srgbClr val="333333"/>
                </a:solidFill>
                <a:effectLst/>
                <a:highlight>
                  <a:srgbClr val="FFFFFF"/>
                </a:highlight>
                <a:latin typeface="Laila"/>
              </a:rPr>
              <a:t>The Defect is the difference between the actual outcomes and expected outputs.</a:t>
            </a:r>
            <a:br>
              <a:rPr lang="en-US" sz="3100" b="0" i="0" u="none" strike="noStrike" dirty="0">
                <a:solidFill>
                  <a:srgbClr val="333333"/>
                </a:solidFill>
                <a:effectLst/>
                <a:highlight>
                  <a:srgbClr val="FFFFFF"/>
                </a:highlight>
                <a:latin typeface="Laila"/>
              </a:rPr>
            </a:br>
            <a:br>
              <a:rPr lang="en-US" sz="3100" b="0" i="0" u="none" strike="noStrike" dirty="0">
                <a:solidFill>
                  <a:srgbClr val="333333"/>
                </a:solidFill>
                <a:effectLst/>
                <a:highlight>
                  <a:srgbClr val="FFFFFF"/>
                </a:highlight>
                <a:latin typeface="Laila"/>
              </a:rPr>
            </a:br>
            <a:r>
              <a:rPr lang="en-US" sz="3100" b="1" i="0" u="none" strike="noStrike" dirty="0">
                <a:solidFill>
                  <a:srgbClr val="B45F06"/>
                </a:solidFill>
                <a:effectLst/>
                <a:latin typeface="Laila"/>
              </a:rPr>
              <a:t>Failure - </a:t>
            </a:r>
            <a:r>
              <a:rPr lang="en-US" sz="3100" b="0" i="0" u="none" strike="noStrike" dirty="0">
                <a:solidFill>
                  <a:srgbClr val="333333"/>
                </a:solidFill>
                <a:effectLst/>
                <a:latin typeface="Laila"/>
              </a:rPr>
              <a:t>This is the difference between the actual results and expected results identified by end user.</a:t>
            </a:r>
            <a:br>
              <a:rPr lang="en-US" sz="3100" b="0" i="0" u="none" strike="noStrike" dirty="0">
                <a:solidFill>
                  <a:srgbClr val="333333"/>
                </a:solidFill>
                <a:effectLst/>
                <a:highlight>
                  <a:srgbClr val="FFFFFF"/>
                </a:highlight>
                <a:latin typeface="Laila"/>
              </a:rPr>
            </a:br>
            <a:br>
              <a:rPr lang="en-US" sz="2000" b="0" i="0" u="none" strike="noStrike" dirty="0">
                <a:solidFill>
                  <a:srgbClr val="333333"/>
                </a:solidFill>
                <a:effectLst/>
                <a:latin typeface="Laila"/>
              </a:rPr>
            </a:br>
            <a:br>
              <a:rPr lang="en-US" sz="4000" b="0" dirty="0">
                <a:effectLst/>
              </a:rPr>
            </a:br>
            <a:br>
              <a:rPr lang="en-US" dirty="0"/>
            </a:br>
            <a:endParaRPr lang="en-IN" dirty="0"/>
          </a:p>
        </p:txBody>
      </p:sp>
      <p:pic>
        <p:nvPicPr>
          <p:cNvPr id="1026" name="Picture 2">
            <a:extLst>
              <a:ext uri="{FF2B5EF4-FFF2-40B4-BE49-F238E27FC236}">
                <a16:creationId xmlns:a16="http://schemas.microsoft.com/office/drawing/2014/main" id="{4D5A30CA-2488-701C-D871-52B2FEF0F7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93305" y="1"/>
            <a:ext cx="5450306" cy="6581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43577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BB94C-7337-D8B5-6A34-12FCAC29A559}"/>
              </a:ext>
            </a:extLst>
          </p:cNvPr>
          <p:cNvSpPr>
            <a:spLocks noGrp="1"/>
          </p:cNvSpPr>
          <p:nvPr>
            <p:ph type="title"/>
          </p:nvPr>
        </p:nvSpPr>
        <p:spPr>
          <a:xfrm>
            <a:off x="-1" y="264695"/>
            <a:ext cx="11754853" cy="6304547"/>
          </a:xfrm>
        </p:spPr>
        <p:txBody>
          <a:bodyPr>
            <a:normAutofit fontScale="90000"/>
          </a:bodyPr>
          <a:lstStyle/>
          <a:p>
            <a:pPr marL="914400" rtl="0" fontAlgn="base">
              <a:spcBef>
                <a:spcPts val="0"/>
              </a:spcBef>
              <a:spcAft>
                <a:spcPts val="0"/>
              </a:spcAft>
            </a:pPr>
            <a:r>
              <a:rPr lang="en-US" b="1" i="0" u="none" strike="noStrike" dirty="0">
                <a:solidFill>
                  <a:srgbClr val="B45F06"/>
                </a:solidFill>
                <a:effectLst/>
                <a:latin typeface="Laila"/>
              </a:rPr>
              <a:t>GUI Testing - </a:t>
            </a:r>
            <a:r>
              <a:rPr lang="en-US" b="0" i="0" u="none" strike="noStrike" dirty="0">
                <a:solidFill>
                  <a:srgbClr val="333333"/>
                </a:solidFill>
                <a:effectLst/>
                <a:highlight>
                  <a:srgbClr val="FFFFFF"/>
                </a:highlight>
                <a:latin typeface="Laila"/>
              </a:rPr>
              <a:t>GUI testing is to check the Graphical user interface features for the application or the software.</a:t>
            </a:r>
            <a:br>
              <a:rPr lang="en-US" b="0" i="0" u="none" strike="noStrike" dirty="0">
                <a:solidFill>
                  <a:srgbClr val="333333"/>
                </a:solidFill>
                <a:effectLst/>
                <a:highlight>
                  <a:srgbClr val="FFFFFF"/>
                </a:highlight>
                <a:latin typeface="Laila"/>
              </a:rPr>
            </a:br>
            <a:br>
              <a:rPr lang="en-US" b="1" i="0" u="none" strike="noStrike" dirty="0">
                <a:solidFill>
                  <a:srgbClr val="333333"/>
                </a:solidFill>
                <a:effectLst/>
                <a:latin typeface="Laila"/>
              </a:rPr>
            </a:br>
            <a:r>
              <a:rPr lang="en-US" b="0" i="0" u="none" strike="noStrike" dirty="0">
                <a:solidFill>
                  <a:srgbClr val="333333"/>
                </a:solidFill>
                <a:effectLst/>
                <a:highlight>
                  <a:srgbClr val="FFFFFF"/>
                </a:highlight>
                <a:latin typeface="Laila"/>
              </a:rPr>
              <a:t>E.g. 1)size, position, width, height,</a:t>
            </a:r>
            <a:br>
              <a:rPr lang="en-US" b="0" i="0" u="none" strike="noStrike" dirty="0">
                <a:solidFill>
                  <a:srgbClr val="333333"/>
                </a:solidFill>
                <a:effectLst/>
                <a:highlight>
                  <a:srgbClr val="FFFFFF"/>
                </a:highlight>
                <a:latin typeface="Laila"/>
              </a:rPr>
            </a:br>
            <a:r>
              <a:rPr lang="en-US" b="0" i="0" u="none" strike="noStrike" dirty="0">
                <a:solidFill>
                  <a:srgbClr val="333333"/>
                </a:solidFill>
                <a:effectLst/>
                <a:highlight>
                  <a:srgbClr val="FFFFFF"/>
                </a:highlight>
                <a:latin typeface="Laila"/>
              </a:rPr>
              <a:t>2) error message, font whether it is readable or not</a:t>
            </a:r>
            <a:br>
              <a:rPr lang="en-US" b="0" i="0" u="none" strike="noStrike" dirty="0">
                <a:solidFill>
                  <a:srgbClr val="333333"/>
                </a:solidFill>
                <a:effectLst/>
                <a:highlight>
                  <a:srgbClr val="FFFFFF"/>
                </a:highlight>
                <a:latin typeface="Laila"/>
              </a:rPr>
            </a:br>
            <a:r>
              <a:rPr lang="en-US" b="0" i="0" u="none" strike="noStrike" dirty="0">
                <a:solidFill>
                  <a:srgbClr val="333333"/>
                </a:solidFill>
                <a:effectLst/>
                <a:highlight>
                  <a:srgbClr val="FFFFFF"/>
                </a:highlight>
                <a:latin typeface="Laila"/>
              </a:rPr>
              <a:t>3)screen in different resolution </a:t>
            </a:r>
            <a:br>
              <a:rPr lang="en-US" b="0" i="0" u="none" strike="noStrike" dirty="0">
                <a:solidFill>
                  <a:srgbClr val="333333"/>
                </a:solidFill>
                <a:effectLst/>
                <a:highlight>
                  <a:srgbClr val="FFFFFF"/>
                </a:highlight>
                <a:latin typeface="Laila"/>
              </a:rPr>
            </a:br>
            <a:r>
              <a:rPr lang="en-US" b="0" i="0" u="none" strike="noStrike" dirty="0">
                <a:solidFill>
                  <a:srgbClr val="333333"/>
                </a:solidFill>
                <a:effectLst/>
                <a:highlight>
                  <a:srgbClr val="FFFFFF"/>
                </a:highlight>
                <a:latin typeface="Laila"/>
              </a:rPr>
              <a:t>4)Alignment of the text, icon, buttons</a:t>
            </a:r>
            <a:br>
              <a:rPr lang="en-US" b="0" i="0" u="none" strike="noStrike" dirty="0">
                <a:solidFill>
                  <a:srgbClr val="333333"/>
                </a:solidFill>
                <a:effectLst/>
                <a:highlight>
                  <a:srgbClr val="FFFFFF"/>
                </a:highlight>
                <a:latin typeface="Laila"/>
              </a:rPr>
            </a:br>
            <a:r>
              <a:rPr lang="en-US" b="0" i="0" u="none" strike="noStrike" dirty="0">
                <a:solidFill>
                  <a:srgbClr val="333333"/>
                </a:solidFill>
                <a:effectLst/>
                <a:highlight>
                  <a:srgbClr val="FFFFFF"/>
                </a:highlight>
                <a:latin typeface="Laila"/>
              </a:rPr>
              <a:t>5)color of fonts, color of hyperlinks</a:t>
            </a:r>
            <a:br>
              <a:rPr lang="en-US" b="0" i="0" u="none" strike="noStrike" dirty="0">
                <a:solidFill>
                  <a:srgbClr val="333333"/>
                </a:solidFill>
                <a:effectLst/>
                <a:highlight>
                  <a:srgbClr val="FFFFFF"/>
                </a:highlight>
                <a:latin typeface="Laila"/>
              </a:rPr>
            </a:br>
            <a:r>
              <a:rPr lang="en-US" b="0" i="0" u="none" strike="noStrike" dirty="0">
                <a:solidFill>
                  <a:srgbClr val="333333"/>
                </a:solidFill>
                <a:effectLst/>
                <a:highlight>
                  <a:srgbClr val="FFFFFF"/>
                </a:highlight>
                <a:latin typeface="Laila"/>
              </a:rPr>
              <a:t>6) images clarity, size of the images</a:t>
            </a:r>
            <a:br>
              <a:rPr lang="en-US" b="0" i="0" u="none" strike="noStrike" dirty="0">
                <a:solidFill>
                  <a:srgbClr val="333333"/>
                </a:solidFill>
                <a:effectLst/>
                <a:highlight>
                  <a:srgbClr val="FFFFFF"/>
                </a:highlight>
                <a:latin typeface="Laila"/>
              </a:rPr>
            </a:br>
            <a:r>
              <a:rPr lang="en-US" b="0" i="0" u="none" strike="noStrike" dirty="0">
                <a:solidFill>
                  <a:srgbClr val="333333"/>
                </a:solidFill>
                <a:effectLst/>
                <a:highlight>
                  <a:srgbClr val="FFFFFF"/>
                </a:highlight>
                <a:latin typeface="Laila"/>
              </a:rPr>
              <a:t>7)Spelling mistake</a:t>
            </a:r>
            <a:br>
              <a:rPr lang="en-US" b="0" i="0" u="none" strike="noStrike" dirty="0">
                <a:solidFill>
                  <a:srgbClr val="333333"/>
                </a:solidFill>
                <a:effectLst/>
                <a:highlight>
                  <a:srgbClr val="FFFFFF"/>
                </a:highlight>
                <a:latin typeface="Laila"/>
              </a:rPr>
            </a:br>
            <a:r>
              <a:rPr lang="en-US" b="0" i="0" u="none" strike="noStrike" dirty="0">
                <a:solidFill>
                  <a:srgbClr val="333333"/>
                </a:solidFill>
                <a:effectLst/>
                <a:highlight>
                  <a:srgbClr val="FFFFFF"/>
                </a:highlight>
                <a:latin typeface="Laila"/>
              </a:rPr>
              <a:t>8)UI Elements like button, text box, check box, radio buttons, dropdowns, links</a:t>
            </a:r>
            <a:br>
              <a:rPr lang="en-US" sz="6000" b="0" dirty="0">
                <a:effectLst/>
              </a:rPr>
            </a:br>
            <a:br>
              <a:rPr lang="en-US" sz="6000" dirty="0"/>
            </a:br>
            <a:endParaRPr lang="en-IN" sz="6000" dirty="0"/>
          </a:p>
        </p:txBody>
      </p:sp>
    </p:spTree>
    <p:extLst>
      <p:ext uri="{BB962C8B-B14F-4D97-AF65-F5344CB8AC3E}">
        <p14:creationId xmlns:p14="http://schemas.microsoft.com/office/powerpoint/2010/main" val="41890538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AE7BA571-EEE2-9426-097E-2C4A9E958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779" y="577516"/>
            <a:ext cx="6220326" cy="5317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034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020B86-DFA1-8A5C-D6C8-37C16717AE1E}"/>
              </a:ext>
            </a:extLst>
          </p:cNvPr>
          <p:cNvSpPr txBox="1"/>
          <p:nvPr/>
        </p:nvSpPr>
        <p:spPr>
          <a:xfrm>
            <a:off x="-854242" y="381261"/>
            <a:ext cx="10287000" cy="3016210"/>
          </a:xfrm>
          <a:prstGeom prst="rect">
            <a:avLst/>
          </a:prstGeom>
          <a:noFill/>
        </p:spPr>
        <p:txBody>
          <a:bodyPr wrap="square">
            <a:spAutoFit/>
          </a:bodyPr>
          <a:lstStyle/>
          <a:p>
            <a:pPr marL="1371600" indent="457200" algn="just" rtl="0">
              <a:spcBef>
                <a:spcPts val="1200"/>
              </a:spcBef>
              <a:spcAft>
                <a:spcPts val="1200"/>
              </a:spcAft>
            </a:pPr>
            <a:r>
              <a:rPr lang="en-US" sz="3200" b="1" i="0" u="none" strike="noStrike" dirty="0">
                <a:solidFill>
                  <a:schemeClr val="accent5"/>
                </a:solidFill>
                <a:effectLst/>
                <a:highlight>
                  <a:srgbClr val="FFFFFF"/>
                </a:highlight>
                <a:latin typeface="Laila"/>
              </a:rPr>
              <a:t>Test Scenario </a:t>
            </a:r>
            <a:r>
              <a:rPr lang="en-US" sz="2800" b="0" i="0" u="none" strike="noStrike" dirty="0">
                <a:solidFill>
                  <a:srgbClr val="333333"/>
                </a:solidFill>
                <a:effectLst/>
                <a:highlight>
                  <a:srgbClr val="FFFFFF"/>
                </a:highlight>
                <a:latin typeface="Laila"/>
              </a:rPr>
              <a:t>- It is a document that defines the multiple ways or combinations of testing the application. Generally, it is prepared to understand the flow of an application. It does not consist of any inputs and navigation steps.</a:t>
            </a:r>
            <a:endParaRPr lang="en-US" sz="2800" b="0" dirty="0">
              <a:effectLst/>
              <a:highlight>
                <a:srgbClr val="FFFFFF"/>
              </a:highlight>
            </a:endParaRPr>
          </a:p>
          <a:p>
            <a:br>
              <a:rPr lang="en-US" dirty="0"/>
            </a:br>
            <a:endParaRPr lang="en-IN" dirty="0"/>
          </a:p>
        </p:txBody>
      </p:sp>
      <p:pic>
        <p:nvPicPr>
          <p:cNvPr id="3078" name="Picture 6">
            <a:extLst>
              <a:ext uri="{FF2B5EF4-FFF2-40B4-BE49-F238E27FC236}">
                <a16:creationId xmlns:a16="http://schemas.microsoft.com/office/drawing/2014/main" id="{CEDA5C49-F6BE-728D-A2FE-42B8AFAF7D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1620" y="3031958"/>
            <a:ext cx="6545179" cy="3308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516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EDF892-E8CA-7108-169D-AB09391E6E08}"/>
              </a:ext>
            </a:extLst>
          </p:cNvPr>
          <p:cNvSpPr txBox="1"/>
          <p:nvPr/>
        </p:nvSpPr>
        <p:spPr>
          <a:xfrm>
            <a:off x="421105" y="669167"/>
            <a:ext cx="8975558" cy="1877437"/>
          </a:xfrm>
          <a:prstGeom prst="rect">
            <a:avLst/>
          </a:prstGeom>
          <a:noFill/>
        </p:spPr>
        <p:txBody>
          <a:bodyPr wrap="square">
            <a:spAutoFit/>
          </a:bodyPr>
          <a:lstStyle/>
          <a:p>
            <a:r>
              <a:rPr lang="en-US" sz="3200" b="1" i="0" u="none" strike="noStrike" dirty="0">
                <a:solidFill>
                  <a:schemeClr val="accent5"/>
                </a:solidFill>
                <a:effectLst/>
                <a:highlight>
                  <a:srgbClr val="FFFFFF"/>
                </a:highlight>
                <a:latin typeface="Laila"/>
              </a:rPr>
              <a:t>Test Case </a:t>
            </a:r>
            <a:r>
              <a:rPr lang="en-US" sz="2800" b="0" i="0" u="none" strike="noStrike" dirty="0">
                <a:solidFill>
                  <a:srgbClr val="333333"/>
                </a:solidFill>
                <a:effectLst/>
                <a:highlight>
                  <a:srgbClr val="FFFFFF"/>
                </a:highlight>
                <a:latin typeface="Laila"/>
              </a:rPr>
              <a:t>- It is an in-details document that describes step by step procedure to test an application. It consists of the complete navigation steps and inputs and all the scenarios that need to be tested for the application. </a:t>
            </a:r>
            <a:endParaRPr lang="en-IN" sz="2800" dirty="0"/>
          </a:p>
        </p:txBody>
      </p:sp>
      <p:sp>
        <p:nvSpPr>
          <p:cNvPr id="5" name="TextBox 4">
            <a:extLst>
              <a:ext uri="{FF2B5EF4-FFF2-40B4-BE49-F238E27FC236}">
                <a16:creationId xmlns:a16="http://schemas.microsoft.com/office/drawing/2014/main" id="{80DDDD2C-D901-82E7-0D36-B182AACA739B}"/>
              </a:ext>
            </a:extLst>
          </p:cNvPr>
          <p:cNvSpPr txBox="1"/>
          <p:nvPr/>
        </p:nvSpPr>
        <p:spPr>
          <a:xfrm>
            <a:off x="-457200" y="3273050"/>
            <a:ext cx="10443411" cy="4278094"/>
          </a:xfrm>
          <a:prstGeom prst="rect">
            <a:avLst/>
          </a:prstGeom>
          <a:noFill/>
        </p:spPr>
        <p:txBody>
          <a:bodyPr wrap="square">
            <a:spAutoFit/>
          </a:bodyPr>
          <a:lstStyle/>
          <a:p>
            <a:pPr marL="914400" rtl="0">
              <a:spcBef>
                <a:spcPts val="0"/>
              </a:spcBef>
              <a:spcAft>
                <a:spcPts val="0"/>
              </a:spcAft>
            </a:pPr>
            <a:r>
              <a:rPr lang="en-US" sz="2800" b="1" i="0" u="none" strike="noStrike" dirty="0">
                <a:solidFill>
                  <a:schemeClr val="accent5"/>
                </a:solidFill>
                <a:effectLst/>
                <a:highlight>
                  <a:srgbClr val="FFFFFF"/>
                </a:highlight>
                <a:latin typeface="Laila"/>
              </a:rPr>
              <a:t>Test Plan </a:t>
            </a:r>
            <a:r>
              <a:rPr lang="en-US" sz="2400" b="0" i="0" u="none" strike="noStrike" dirty="0">
                <a:solidFill>
                  <a:srgbClr val="333333"/>
                </a:solidFill>
                <a:effectLst/>
                <a:highlight>
                  <a:srgbClr val="FFFFFF"/>
                </a:highlight>
                <a:latin typeface="Laila"/>
              </a:rPr>
              <a:t>- </a:t>
            </a:r>
            <a:r>
              <a:rPr lang="en-US" sz="2800" b="0" i="0" u="none" strike="noStrike" dirty="0">
                <a:solidFill>
                  <a:srgbClr val="333333"/>
                </a:solidFill>
                <a:effectLst/>
                <a:highlight>
                  <a:srgbClr val="FFFFFF"/>
                </a:highlight>
                <a:latin typeface="Laila"/>
              </a:rPr>
              <a:t>It is a document that is prepared by the managers or test lead. It consists of all information about the testing activities. </a:t>
            </a:r>
            <a:endParaRPr lang="en-US" sz="2800" b="0" dirty="0">
              <a:effectLst/>
            </a:endParaRPr>
          </a:p>
          <a:p>
            <a:pPr marL="914400" indent="457200" rtl="0">
              <a:spcBef>
                <a:spcPts val="0"/>
              </a:spcBef>
              <a:spcAft>
                <a:spcPts val="0"/>
              </a:spcAft>
            </a:pPr>
            <a:r>
              <a:rPr lang="en-US" sz="2800" b="0" i="0" u="none" strike="noStrike" dirty="0">
                <a:solidFill>
                  <a:srgbClr val="333333"/>
                </a:solidFill>
                <a:effectLst/>
                <a:highlight>
                  <a:srgbClr val="FFFFFF"/>
                </a:highlight>
                <a:latin typeface="Laila"/>
              </a:rPr>
              <a:t>The test plan consists of multiple components such as Objectives, Scope, Approach, Test Environments, Test methodology, Template, Role &amp; Responsibility, Effort estimation, Entry and Exit criteria, Schedule, Tools, Defect tracking, Test Deliverable</a:t>
            </a:r>
            <a:endParaRPr lang="en-US" sz="2800" b="0" dirty="0">
              <a:effectLst/>
            </a:endParaRPr>
          </a:p>
          <a:p>
            <a:br>
              <a:rPr lang="en-US" sz="2400" dirty="0"/>
            </a:br>
            <a:endParaRPr lang="en-IN" sz="2400" dirty="0"/>
          </a:p>
        </p:txBody>
      </p:sp>
    </p:spTree>
    <p:extLst>
      <p:ext uri="{BB962C8B-B14F-4D97-AF65-F5344CB8AC3E}">
        <p14:creationId xmlns:p14="http://schemas.microsoft.com/office/powerpoint/2010/main" val="28996336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824214-5154-8329-C52B-A1577452262F}"/>
              </a:ext>
            </a:extLst>
          </p:cNvPr>
          <p:cNvSpPr txBox="1"/>
          <p:nvPr/>
        </p:nvSpPr>
        <p:spPr>
          <a:xfrm>
            <a:off x="-517358" y="2203909"/>
            <a:ext cx="11057021" cy="3262432"/>
          </a:xfrm>
          <a:prstGeom prst="rect">
            <a:avLst/>
          </a:prstGeom>
          <a:noFill/>
        </p:spPr>
        <p:txBody>
          <a:bodyPr wrap="square">
            <a:spAutoFit/>
          </a:bodyPr>
          <a:lstStyle/>
          <a:p>
            <a:pPr marL="914400" indent="457200" algn="just" rtl="0">
              <a:spcBef>
                <a:spcPts val="1200"/>
              </a:spcBef>
              <a:spcAft>
                <a:spcPts val="1200"/>
              </a:spcAft>
            </a:pPr>
            <a:r>
              <a:rPr lang="en-US" sz="3200" b="1" i="0" u="none" strike="noStrike" dirty="0">
                <a:solidFill>
                  <a:schemeClr val="accent5">
                    <a:lumMod val="75000"/>
                  </a:schemeClr>
                </a:solidFill>
                <a:effectLst/>
                <a:highlight>
                  <a:srgbClr val="FFFFFF"/>
                </a:highlight>
                <a:latin typeface="Laila"/>
              </a:rPr>
              <a:t>RTM (Requirement Traceability Matrix)</a:t>
            </a:r>
            <a:r>
              <a:rPr lang="en-US" sz="3200" b="0" i="0" u="none" strike="noStrike" dirty="0">
                <a:solidFill>
                  <a:schemeClr val="accent5">
                    <a:lumMod val="75000"/>
                  </a:schemeClr>
                </a:solidFill>
                <a:effectLst/>
                <a:highlight>
                  <a:srgbClr val="FFFFFF"/>
                </a:highlight>
                <a:latin typeface="Laila"/>
              </a:rPr>
              <a:t> </a:t>
            </a:r>
            <a:r>
              <a:rPr lang="en-US" sz="3200" b="0" i="0" u="none" strike="noStrike" dirty="0">
                <a:solidFill>
                  <a:srgbClr val="333333"/>
                </a:solidFill>
                <a:effectLst/>
                <a:highlight>
                  <a:srgbClr val="FFFFFF"/>
                </a:highlight>
                <a:latin typeface="Laila"/>
              </a:rPr>
              <a:t>Requirement Traceability Matrix is the industry-level format, used for tracking requirements. Each test case is mapped with the requirement specification. Backward &amp; forward traceability can be done via RTM.</a:t>
            </a:r>
            <a:endParaRPr lang="en-US" sz="3200" b="0" dirty="0">
              <a:effectLst/>
              <a:highlight>
                <a:srgbClr val="FFFFFF"/>
              </a:highlight>
            </a:endParaRPr>
          </a:p>
          <a:p>
            <a:br>
              <a:rPr lang="en-US" dirty="0"/>
            </a:br>
            <a:endParaRPr lang="en-IN" dirty="0"/>
          </a:p>
        </p:txBody>
      </p:sp>
    </p:spTree>
    <p:extLst>
      <p:ext uri="{BB962C8B-B14F-4D97-AF65-F5344CB8AC3E}">
        <p14:creationId xmlns:p14="http://schemas.microsoft.com/office/powerpoint/2010/main" val="2923786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5B3214-B35E-E3D7-B8DC-949C2E7A01EE}"/>
              </a:ext>
            </a:extLst>
          </p:cNvPr>
          <p:cNvSpPr txBox="1"/>
          <p:nvPr/>
        </p:nvSpPr>
        <p:spPr>
          <a:xfrm>
            <a:off x="-625642" y="621892"/>
            <a:ext cx="10768263" cy="5478423"/>
          </a:xfrm>
          <a:prstGeom prst="rect">
            <a:avLst/>
          </a:prstGeom>
          <a:noFill/>
        </p:spPr>
        <p:txBody>
          <a:bodyPr wrap="square">
            <a:spAutoFit/>
          </a:bodyPr>
          <a:lstStyle/>
          <a:p>
            <a:pPr marL="914400" indent="457200" algn="just" rtl="0">
              <a:spcBef>
                <a:spcPts val="1200"/>
              </a:spcBef>
              <a:spcAft>
                <a:spcPts val="1200"/>
              </a:spcAft>
            </a:pPr>
            <a:r>
              <a:rPr lang="en-US" sz="3200" b="1" i="0" u="none" strike="noStrike" dirty="0">
                <a:solidFill>
                  <a:schemeClr val="accent5">
                    <a:lumMod val="75000"/>
                  </a:schemeClr>
                </a:solidFill>
                <a:effectLst/>
                <a:highlight>
                  <a:srgbClr val="FFFFFF"/>
                </a:highlight>
                <a:latin typeface="Laila"/>
              </a:rPr>
              <a:t>Test Data </a:t>
            </a:r>
            <a:r>
              <a:rPr lang="en-US" sz="2400" b="0" i="0" u="none" strike="noStrike" dirty="0">
                <a:solidFill>
                  <a:srgbClr val="333333"/>
                </a:solidFill>
                <a:effectLst/>
                <a:highlight>
                  <a:srgbClr val="FFFFFF"/>
                </a:highlight>
                <a:latin typeface="Laila"/>
              </a:rPr>
              <a:t>- </a:t>
            </a:r>
            <a:r>
              <a:rPr lang="en-US" sz="2800" b="0" i="0" u="none" strike="noStrike" dirty="0">
                <a:solidFill>
                  <a:srgbClr val="333333"/>
                </a:solidFill>
                <a:effectLst/>
                <a:highlight>
                  <a:srgbClr val="FFFFFF"/>
                </a:highlight>
                <a:latin typeface="Laila"/>
              </a:rPr>
              <a:t>It is data that occurs before the test is executed. It is mainly used when we are implementing the test case. Mostly, we will have the test data in the Excel sheet format and enter it manually while performing the test case.</a:t>
            </a:r>
          </a:p>
          <a:p>
            <a:pPr marL="914400" indent="457200" algn="just" rtl="0">
              <a:spcBef>
                <a:spcPts val="1200"/>
              </a:spcBef>
              <a:spcAft>
                <a:spcPts val="1200"/>
              </a:spcAft>
            </a:pPr>
            <a:r>
              <a:rPr lang="en-US" sz="2800" dirty="0">
                <a:solidFill>
                  <a:srgbClr val="333333"/>
                </a:solidFill>
                <a:highlight>
                  <a:srgbClr val="FFFFFF"/>
                </a:highlight>
                <a:latin typeface="Laila"/>
              </a:rPr>
              <a:t>	</a:t>
            </a:r>
            <a:r>
              <a:rPr lang="en-US" sz="2800" b="0" i="0" u="none" strike="noStrike" dirty="0">
                <a:solidFill>
                  <a:srgbClr val="333333"/>
                </a:solidFill>
                <a:effectLst/>
                <a:highlight>
                  <a:srgbClr val="FFFFFF"/>
                </a:highlight>
                <a:latin typeface="Laila"/>
              </a:rPr>
              <a:t>The test data can be used to check the expected result, which means that when the test data is entered, the expected outcome will meet the actual result and also check the application performance by entering the incorrect input data.</a:t>
            </a:r>
            <a:endParaRPr lang="en-US" sz="4000" b="0" dirty="0">
              <a:effectLst/>
              <a:highlight>
                <a:srgbClr val="FFFFFF"/>
              </a:highlight>
            </a:endParaRPr>
          </a:p>
          <a:p>
            <a:br>
              <a:rPr lang="en-US" sz="2800" dirty="0"/>
            </a:br>
            <a:endParaRPr lang="en-US" sz="2800" b="0" dirty="0">
              <a:effectLst/>
              <a:highlight>
                <a:srgbClr val="FFFFFF"/>
              </a:highlight>
            </a:endParaRPr>
          </a:p>
          <a:p>
            <a:br>
              <a:rPr lang="en-US" dirty="0"/>
            </a:br>
            <a:endParaRPr lang="en-IN" dirty="0"/>
          </a:p>
        </p:txBody>
      </p:sp>
    </p:spTree>
    <p:extLst>
      <p:ext uri="{BB962C8B-B14F-4D97-AF65-F5344CB8AC3E}">
        <p14:creationId xmlns:p14="http://schemas.microsoft.com/office/powerpoint/2010/main" val="32523370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C336F3-0A3C-7208-3249-B30A16FCF751}"/>
              </a:ext>
            </a:extLst>
          </p:cNvPr>
          <p:cNvSpPr txBox="1"/>
          <p:nvPr/>
        </p:nvSpPr>
        <p:spPr>
          <a:xfrm>
            <a:off x="288757" y="621313"/>
            <a:ext cx="10347159" cy="1569660"/>
          </a:xfrm>
          <a:prstGeom prst="rect">
            <a:avLst/>
          </a:prstGeom>
          <a:noFill/>
        </p:spPr>
        <p:txBody>
          <a:bodyPr wrap="square">
            <a:spAutoFit/>
          </a:bodyPr>
          <a:lstStyle/>
          <a:p>
            <a:r>
              <a:rPr lang="en-US" sz="3200" b="1" i="0" u="none" strike="noStrike" dirty="0">
                <a:solidFill>
                  <a:schemeClr val="accent5">
                    <a:lumMod val="75000"/>
                  </a:schemeClr>
                </a:solidFill>
                <a:effectLst/>
                <a:highlight>
                  <a:srgbClr val="FFFFFF"/>
                </a:highlight>
                <a:latin typeface="Laila"/>
              </a:rPr>
              <a:t>Bug Report </a:t>
            </a:r>
            <a:r>
              <a:rPr lang="en-US" sz="2800" b="0" i="0" u="none" strike="noStrike" dirty="0">
                <a:solidFill>
                  <a:srgbClr val="333333"/>
                </a:solidFill>
                <a:effectLst/>
                <a:highlight>
                  <a:srgbClr val="FFFFFF"/>
                </a:highlight>
                <a:latin typeface="Laila"/>
              </a:rPr>
              <a:t>- </a:t>
            </a:r>
            <a:r>
              <a:rPr lang="en-US" sz="3200" b="0" i="0" u="none" strike="noStrike" dirty="0">
                <a:solidFill>
                  <a:srgbClr val="333333"/>
                </a:solidFill>
                <a:effectLst/>
                <a:highlight>
                  <a:srgbClr val="FFFFFF"/>
                </a:highlight>
                <a:latin typeface="Laila"/>
              </a:rPr>
              <a:t>The bug report is a document where we maintain a summary of all the bugs that occurred during the testing process.</a:t>
            </a:r>
            <a:endParaRPr lang="en-IN" dirty="0"/>
          </a:p>
        </p:txBody>
      </p:sp>
      <p:sp>
        <p:nvSpPr>
          <p:cNvPr id="7" name="TextBox 6">
            <a:extLst>
              <a:ext uri="{FF2B5EF4-FFF2-40B4-BE49-F238E27FC236}">
                <a16:creationId xmlns:a16="http://schemas.microsoft.com/office/drawing/2014/main" id="{F94B1A7E-3E6C-60E3-D31D-ACC58931F5B6}"/>
              </a:ext>
            </a:extLst>
          </p:cNvPr>
          <p:cNvSpPr txBox="1"/>
          <p:nvPr/>
        </p:nvSpPr>
        <p:spPr>
          <a:xfrm>
            <a:off x="288756" y="2696351"/>
            <a:ext cx="10347159" cy="3042712"/>
          </a:xfrm>
          <a:prstGeom prst="rect">
            <a:avLst/>
          </a:prstGeom>
          <a:noFill/>
        </p:spPr>
        <p:txBody>
          <a:bodyPr wrap="square">
            <a:spAutoFit/>
          </a:bodyPr>
          <a:lstStyle/>
          <a:p>
            <a:r>
              <a:rPr lang="en-US" sz="3200" b="1" i="0" u="none" strike="noStrike" dirty="0">
                <a:solidFill>
                  <a:schemeClr val="accent5">
                    <a:lumMod val="75000"/>
                  </a:schemeClr>
                </a:solidFill>
                <a:effectLst/>
                <a:highlight>
                  <a:srgbClr val="FFFFFF"/>
                </a:highlight>
                <a:latin typeface="Laila"/>
              </a:rPr>
              <a:t>Test Execution &amp; Closure Report </a:t>
            </a:r>
            <a:r>
              <a:rPr lang="en-US" sz="2800" b="0" i="0" u="none" strike="noStrike" dirty="0">
                <a:solidFill>
                  <a:srgbClr val="333333"/>
                </a:solidFill>
                <a:effectLst/>
                <a:highlight>
                  <a:srgbClr val="FFFFFF"/>
                </a:highlight>
                <a:latin typeface="Laila"/>
              </a:rPr>
              <a:t>- </a:t>
            </a:r>
            <a:r>
              <a:rPr lang="en-US" sz="3200" b="0" i="0" u="none" strike="noStrike" dirty="0">
                <a:solidFill>
                  <a:srgbClr val="333333"/>
                </a:solidFill>
                <a:effectLst/>
                <a:highlight>
                  <a:srgbClr val="FFFFFF"/>
                </a:highlight>
                <a:latin typeface="Laila"/>
              </a:rPr>
              <a:t>This is the document prepared by test leads after the entire testing execution process is completed. The test summary report defines the constancy of the product, and it contains information like the modules, the number of written test cases, executed, pass, fail, and their percentage.</a:t>
            </a:r>
            <a:endParaRPr lang="en-IN" dirty="0"/>
          </a:p>
        </p:txBody>
      </p:sp>
    </p:spTree>
    <p:extLst>
      <p:ext uri="{BB962C8B-B14F-4D97-AF65-F5344CB8AC3E}">
        <p14:creationId xmlns:p14="http://schemas.microsoft.com/office/powerpoint/2010/main" val="2867273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85268-7DA7-D45B-5742-6FC6EB3CB8EA}"/>
              </a:ext>
            </a:extLst>
          </p:cNvPr>
          <p:cNvSpPr>
            <a:spLocks noGrp="1"/>
          </p:cNvSpPr>
          <p:nvPr>
            <p:ph type="title"/>
          </p:nvPr>
        </p:nvSpPr>
        <p:spPr>
          <a:xfrm>
            <a:off x="385011" y="609600"/>
            <a:ext cx="10226842" cy="1320800"/>
          </a:xfrm>
        </p:spPr>
        <p:txBody>
          <a:bodyPr>
            <a:normAutofit fontScale="90000"/>
          </a:bodyPr>
          <a:lstStyle/>
          <a:p>
            <a:r>
              <a:rPr lang="en-US" sz="3200" b="1" dirty="0">
                <a:solidFill>
                  <a:schemeClr val="accent5">
                    <a:lumMod val="75000"/>
                  </a:schemeClr>
                </a:solidFill>
              </a:rPr>
              <a:t>Defect Severity- </a:t>
            </a:r>
            <a:r>
              <a:rPr lang="en-US" sz="3100" dirty="0">
                <a:solidFill>
                  <a:schemeClr val="tx1"/>
                </a:solidFill>
              </a:rPr>
              <a:t>How critical the defect is and how much it affects the functionality &amp; usability of the product</a:t>
            </a:r>
            <a:br>
              <a:rPr lang="en-US" sz="3100" dirty="0">
                <a:solidFill>
                  <a:schemeClr val="tx1"/>
                </a:solidFill>
              </a:rPr>
            </a:br>
            <a:r>
              <a:rPr lang="en-US" sz="3100" dirty="0">
                <a:solidFill>
                  <a:schemeClr val="tx1"/>
                </a:solidFill>
              </a:rPr>
              <a:t>(</a:t>
            </a:r>
            <a:r>
              <a:rPr lang="en-US" sz="2700" b="0" i="0" u="none" strike="noStrike" dirty="0">
                <a:solidFill>
                  <a:srgbClr val="333333"/>
                </a:solidFill>
                <a:effectLst/>
                <a:latin typeface="Laila"/>
              </a:rPr>
              <a:t>The impact of the bug on the application is known as severity)</a:t>
            </a:r>
            <a:endParaRPr lang="en-IN" sz="3200" dirty="0">
              <a:solidFill>
                <a:schemeClr val="tx1"/>
              </a:solidFill>
            </a:endParaRPr>
          </a:p>
        </p:txBody>
      </p:sp>
      <p:sp>
        <p:nvSpPr>
          <p:cNvPr id="5" name="TextBox 4">
            <a:extLst>
              <a:ext uri="{FF2B5EF4-FFF2-40B4-BE49-F238E27FC236}">
                <a16:creationId xmlns:a16="http://schemas.microsoft.com/office/drawing/2014/main" id="{5BB7359A-4514-4D01-B973-2CB47F0D1BC6}"/>
              </a:ext>
            </a:extLst>
          </p:cNvPr>
          <p:cNvSpPr txBox="1"/>
          <p:nvPr/>
        </p:nvSpPr>
        <p:spPr>
          <a:xfrm>
            <a:off x="-818147" y="2086811"/>
            <a:ext cx="11706726" cy="4216539"/>
          </a:xfrm>
          <a:prstGeom prst="rect">
            <a:avLst/>
          </a:prstGeom>
          <a:noFill/>
        </p:spPr>
        <p:txBody>
          <a:bodyPr wrap="square">
            <a:spAutoFit/>
          </a:bodyPr>
          <a:lstStyle/>
          <a:p>
            <a:pPr marL="1371600" indent="457200" algn="just" rtl="0">
              <a:spcBef>
                <a:spcPts val="1200"/>
              </a:spcBef>
              <a:spcAft>
                <a:spcPts val="0"/>
              </a:spcAft>
            </a:pPr>
            <a:r>
              <a:rPr lang="en-US" sz="2800" b="1" i="0" u="none" strike="noStrike" dirty="0">
                <a:solidFill>
                  <a:srgbClr val="333333"/>
                </a:solidFill>
                <a:effectLst/>
                <a:highlight>
                  <a:srgbClr val="FFFFFF"/>
                </a:highlight>
                <a:latin typeface="Laila"/>
              </a:rPr>
              <a:t>Critical:</a:t>
            </a:r>
            <a:r>
              <a:rPr lang="en-US" sz="2800" b="0" i="0" u="none" strike="noStrike" dirty="0">
                <a:solidFill>
                  <a:srgbClr val="333333"/>
                </a:solidFill>
                <a:effectLst/>
                <a:highlight>
                  <a:srgbClr val="FFFFFF"/>
                </a:highlight>
                <a:latin typeface="Laila"/>
              </a:rPr>
              <a:t> if it is critical, that means the main functionality is not working,      and the test engineer cannot continue testing.</a:t>
            </a:r>
            <a:endParaRPr lang="en-US" sz="2800" dirty="0">
              <a:highlight>
                <a:srgbClr val="FFFFFF"/>
              </a:highlight>
            </a:endParaRPr>
          </a:p>
          <a:p>
            <a:pPr marL="1371600" indent="457200" algn="just" rtl="0">
              <a:spcBef>
                <a:spcPts val="1200"/>
              </a:spcBef>
              <a:spcAft>
                <a:spcPts val="0"/>
              </a:spcAft>
            </a:pPr>
            <a:r>
              <a:rPr lang="en-US" sz="2800" b="1" i="0" u="none" strike="noStrike" dirty="0">
                <a:solidFill>
                  <a:srgbClr val="333333"/>
                </a:solidFill>
                <a:effectLst/>
                <a:highlight>
                  <a:srgbClr val="FFFFFF"/>
                </a:highlight>
                <a:latin typeface="Laila"/>
              </a:rPr>
              <a:t>Major:</a:t>
            </a:r>
            <a:r>
              <a:rPr lang="en-US" sz="2800" b="0" i="0" u="none" strike="noStrike" dirty="0">
                <a:solidFill>
                  <a:srgbClr val="333333"/>
                </a:solidFill>
                <a:effectLst/>
                <a:highlight>
                  <a:srgbClr val="FFFFFF"/>
                </a:highlight>
                <a:latin typeface="Laila"/>
              </a:rPr>
              <a:t> if it is major, it means that the supporting components and modules are not working fine, but the test engineer can continue the testing.</a:t>
            </a:r>
          </a:p>
          <a:p>
            <a:pPr marL="1371600" indent="457200" algn="just" rtl="0">
              <a:spcBef>
                <a:spcPts val="1200"/>
              </a:spcBef>
              <a:spcAft>
                <a:spcPts val="0"/>
              </a:spcAft>
            </a:pPr>
            <a:r>
              <a:rPr lang="en-US" sz="2800" b="1" i="0" u="none" strike="noStrike" dirty="0">
                <a:solidFill>
                  <a:srgbClr val="333333"/>
                </a:solidFill>
                <a:effectLst/>
                <a:latin typeface="Laila"/>
              </a:rPr>
              <a:t>Minor</a:t>
            </a:r>
            <a:r>
              <a:rPr lang="en-US" sz="2800" b="1" i="0" u="none" strike="noStrike" dirty="0">
                <a:solidFill>
                  <a:srgbClr val="333333"/>
                </a:solidFill>
                <a:effectLst/>
                <a:latin typeface="Roboto" panose="02000000000000000000" pitchFamily="2" charset="0"/>
              </a:rPr>
              <a:t>:</a:t>
            </a:r>
            <a:r>
              <a:rPr lang="en-US" sz="2800" b="0" i="0" u="none" strike="noStrike" dirty="0">
                <a:solidFill>
                  <a:srgbClr val="333333"/>
                </a:solidFill>
                <a:effectLst/>
                <a:latin typeface="Roboto" panose="02000000000000000000" pitchFamily="2" charset="0"/>
              </a:rPr>
              <a:t> </a:t>
            </a:r>
            <a:r>
              <a:rPr lang="en-US" sz="2800" b="0" i="0" u="none" strike="noStrike" dirty="0">
                <a:solidFill>
                  <a:srgbClr val="333333"/>
                </a:solidFill>
                <a:effectLst/>
                <a:latin typeface="Laila"/>
              </a:rPr>
              <a:t>If the severity of a bug is minor, it means that all the U.I. problems are not working fine, but testing can be processed without interruption.</a:t>
            </a:r>
            <a:endParaRPr lang="en-US" sz="2800" b="0" dirty="0">
              <a:effectLst/>
              <a:highlight>
                <a:srgbClr val="FFFFFF"/>
              </a:highlight>
            </a:endParaRPr>
          </a:p>
          <a:p>
            <a:r>
              <a:rPr lang="en-US" sz="2400" b="1" i="0" u="none" strike="noStrike" dirty="0">
                <a:solidFill>
                  <a:srgbClr val="333333"/>
                </a:solidFill>
                <a:effectLst/>
                <a:latin typeface="Laila"/>
              </a:rPr>
              <a:t>                                </a:t>
            </a:r>
            <a:endParaRPr lang="en-IN" sz="2400" dirty="0"/>
          </a:p>
        </p:txBody>
      </p:sp>
    </p:spTree>
    <p:extLst>
      <p:ext uri="{BB962C8B-B14F-4D97-AF65-F5344CB8AC3E}">
        <p14:creationId xmlns:p14="http://schemas.microsoft.com/office/powerpoint/2010/main" val="23841202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7BB67-8DD3-0629-8A56-4F7126CDC577}"/>
              </a:ext>
            </a:extLst>
          </p:cNvPr>
          <p:cNvSpPr>
            <a:spLocks noGrp="1"/>
          </p:cNvSpPr>
          <p:nvPr>
            <p:ph type="title"/>
          </p:nvPr>
        </p:nvSpPr>
        <p:spPr>
          <a:xfrm>
            <a:off x="-541420" y="304800"/>
            <a:ext cx="10720136" cy="6248400"/>
          </a:xfrm>
        </p:spPr>
        <p:txBody>
          <a:bodyPr>
            <a:normAutofit/>
          </a:bodyPr>
          <a:lstStyle/>
          <a:p>
            <a:pPr marL="914400" indent="457200" rtl="0">
              <a:spcBef>
                <a:spcPts val="1200"/>
              </a:spcBef>
              <a:spcAft>
                <a:spcPts val="1200"/>
              </a:spcAft>
            </a:pPr>
            <a:r>
              <a:rPr lang="en-US" sz="3100" b="1" i="0" u="none" strike="noStrike" dirty="0">
                <a:solidFill>
                  <a:schemeClr val="accent5">
                    <a:lumMod val="75000"/>
                  </a:schemeClr>
                </a:solidFill>
                <a:effectLst/>
                <a:highlight>
                  <a:srgbClr val="FFFFFF"/>
                </a:highlight>
                <a:latin typeface="Laila"/>
              </a:rPr>
              <a:t>Defect Priority- </a:t>
            </a:r>
            <a:r>
              <a:rPr lang="en-US" sz="3100" b="0" i="0" u="none" strike="noStrike" dirty="0">
                <a:solidFill>
                  <a:srgbClr val="333333"/>
                </a:solidFill>
                <a:effectLst/>
                <a:highlight>
                  <a:srgbClr val="FFFFFF"/>
                </a:highlight>
                <a:latin typeface="Laila"/>
              </a:rPr>
              <a:t>Priority is important for fixing the bug or which bug to be fixed first or how soon the bug should be fixed.</a:t>
            </a:r>
            <a:br>
              <a:rPr lang="en-US" sz="3100" b="0" i="0" u="none" strike="noStrike" dirty="0">
                <a:solidFill>
                  <a:srgbClr val="333333"/>
                </a:solidFill>
                <a:effectLst/>
                <a:highlight>
                  <a:srgbClr val="FFFFFF"/>
                </a:highlight>
                <a:latin typeface="Laila"/>
              </a:rPr>
            </a:br>
            <a:r>
              <a:rPr lang="en-US" sz="3100" b="0" i="0" u="none" strike="noStrike" dirty="0">
                <a:solidFill>
                  <a:srgbClr val="333333"/>
                </a:solidFill>
                <a:effectLst/>
                <a:highlight>
                  <a:srgbClr val="FFFFFF"/>
                </a:highlight>
                <a:latin typeface="Laila"/>
              </a:rPr>
              <a:t>          Rating that indicates how quickly the defect needs to be fixed based on its severity.</a:t>
            </a:r>
            <a:br>
              <a:rPr lang="en-US" sz="3100" b="0" i="0" u="none" strike="noStrike" dirty="0">
                <a:solidFill>
                  <a:srgbClr val="333333"/>
                </a:solidFill>
                <a:effectLst/>
                <a:highlight>
                  <a:srgbClr val="FFFFFF"/>
                </a:highlight>
                <a:latin typeface="Laila"/>
              </a:rPr>
            </a:br>
            <a:br>
              <a:rPr lang="en-US" sz="3100" b="0" i="0" u="none" strike="noStrike" dirty="0">
                <a:solidFill>
                  <a:srgbClr val="333333"/>
                </a:solidFill>
                <a:effectLst/>
                <a:highlight>
                  <a:srgbClr val="FFFFFF"/>
                </a:highlight>
                <a:latin typeface="Laila"/>
              </a:rPr>
            </a:br>
            <a:br>
              <a:rPr lang="en-US" sz="5300" b="0" dirty="0">
                <a:effectLst/>
                <a:highlight>
                  <a:srgbClr val="FFFFFF"/>
                </a:highlight>
              </a:rPr>
            </a:br>
            <a:br>
              <a:rPr lang="en-US" dirty="0"/>
            </a:br>
            <a:endParaRPr lang="en-IN" dirty="0"/>
          </a:p>
        </p:txBody>
      </p:sp>
      <p:sp>
        <p:nvSpPr>
          <p:cNvPr id="5" name="TextBox 4">
            <a:extLst>
              <a:ext uri="{FF2B5EF4-FFF2-40B4-BE49-F238E27FC236}">
                <a16:creationId xmlns:a16="http://schemas.microsoft.com/office/drawing/2014/main" id="{817D2C56-D338-76F7-7E6D-CA759F7D3F56}"/>
              </a:ext>
            </a:extLst>
          </p:cNvPr>
          <p:cNvSpPr txBox="1"/>
          <p:nvPr/>
        </p:nvSpPr>
        <p:spPr>
          <a:xfrm>
            <a:off x="1320465" y="3133904"/>
            <a:ext cx="8413081" cy="3724096"/>
          </a:xfrm>
          <a:prstGeom prst="rect">
            <a:avLst/>
          </a:prstGeom>
          <a:noFill/>
        </p:spPr>
        <p:txBody>
          <a:bodyPr wrap="square">
            <a:spAutoFit/>
          </a:bodyPr>
          <a:lstStyle/>
          <a:p>
            <a:r>
              <a:rPr lang="en-US" sz="2400" b="1" i="0" u="none" strike="noStrike" dirty="0">
                <a:solidFill>
                  <a:srgbClr val="333333"/>
                </a:solidFill>
                <a:effectLst/>
                <a:highlight>
                  <a:srgbClr val="FFFFFF"/>
                </a:highlight>
                <a:latin typeface="Laila"/>
              </a:rPr>
              <a:t>High</a:t>
            </a:r>
            <a:r>
              <a:rPr lang="en-US" sz="2400" b="0" i="0" u="none" strike="noStrike" dirty="0">
                <a:solidFill>
                  <a:srgbClr val="333333"/>
                </a:solidFill>
                <a:effectLst/>
                <a:highlight>
                  <a:srgbClr val="FFFFFF"/>
                </a:highlight>
                <a:latin typeface="Laila"/>
              </a:rPr>
              <a:t>: </a:t>
            </a:r>
            <a:r>
              <a:rPr lang="en-US" sz="2400" dirty="0">
                <a:solidFill>
                  <a:srgbClr val="333333"/>
                </a:solidFill>
                <a:highlight>
                  <a:srgbClr val="FFFFFF"/>
                </a:highlight>
                <a:latin typeface="Laila"/>
              </a:rPr>
              <a:t>I</a:t>
            </a:r>
            <a:r>
              <a:rPr lang="en-US" sz="2400" b="0" i="0" u="none" strike="noStrike" dirty="0">
                <a:solidFill>
                  <a:srgbClr val="333333"/>
                </a:solidFill>
                <a:effectLst/>
                <a:highlight>
                  <a:srgbClr val="FFFFFF"/>
                </a:highlight>
                <a:latin typeface="Laila"/>
              </a:rPr>
              <a:t>t has a major impact on the customer application, and it has to be fixed first.</a:t>
            </a:r>
          </a:p>
          <a:p>
            <a:br>
              <a:rPr lang="en-US" sz="2000" b="0" dirty="0">
                <a:effectLst/>
                <a:highlight>
                  <a:srgbClr val="FFFFFF"/>
                </a:highlight>
              </a:rPr>
            </a:br>
            <a:r>
              <a:rPr lang="en-US" sz="2400" b="1" i="0" u="none" strike="noStrike" dirty="0">
                <a:solidFill>
                  <a:srgbClr val="333333"/>
                </a:solidFill>
                <a:effectLst/>
                <a:highlight>
                  <a:srgbClr val="FFFFFF"/>
                </a:highlight>
                <a:latin typeface="Laila"/>
              </a:rPr>
              <a:t>Medium:</a:t>
            </a:r>
            <a:r>
              <a:rPr lang="en-US" sz="2400" b="0" i="0" u="none" strike="noStrike" dirty="0">
                <a:solidFill>
                  <a:srgbClr val="333333"/>
                </a:solidFill>
                <a:effectLst/>
                <a:highlight>
                  <a:srgbClr val="FFFFFF"/>
                </a:highlight>
                <a:latin typeface="Laila"/>
              </a:rPr>
              <a:t> In this, the problem should be fixed before the release of the current version in development.</a:t>
            </a:r>
          </a:p>
          <a:p>
            <a:br>
              <a:rPr lang="en-US" sz="2000" b="0" dirty="0">
                <a:effectLst/>
                <a:highlight>
                  <a:srgbClr val="FFFFFF"/>
                </a:highlight>
              </a:rPr>
            </a:br>
            <a:r>
              <a:rPr lang="en-US" sz="2400" b="1" i="0" u="none" strike="noStrike" dirty="0">
                <a:solidFill>
                  <a:srgbClr val="333333"/>
                </a:solidFill>
                <a:effectLst/>
                <a:highlight>
                  <a:srgbClr val="FFFFFF"/>
                </a:highlight>
                <a:latin typeface="Laila"/>
              </a:rPr>
              <a:t>Low:</a:t>
            </a:r>
            <a:r>
              <a:rPr lang="en-US" sz="2400" b="0" i="0" u="none" strike="noStrike" dirty="0">
                <a:solidFill>
                  <a:srgbClr val="333333"/>
                </a:solidFill>
                <a:effectLst/>
                <a:highlight>
                  <a:srgbClr val="FFFFFF"/>
                </a:highlight>
                <a:latin typeface="Laila"/>
              </a:rPr>
              <a:t> The flow should be fixed if there is time, but it can be deferred with the next release</a:t>
            </a:r>
            <a:r>
              <a:rPr lang="en-US" sz="1600" b="0" i="0" u="none" strike="noStrike" dirty="0">
                <a:solidFill>
                  <a:srgbClr val="333333"/>
                </a:solidFill>
                <a:effectLst/>
                <a:highlight>
                  <a:srgbClr val="FFFFFF"/>
                </a:highlight>
                <a:latin typeface="Laila"/>
              </a:rPr>
              <a:t>.</a:t>
            </a:r>
            <a:br>
              <a:rPr lang="en-US" sz="1400" b="0" dirty="0">
                <a:effectLst/>
                <a:highlight>
                  <a:srgbClr val="FFFFFF"/>
                </a:highlight>
              </a:rPr>
            </a:br>
            <a:br>
              <a:rPr lang="en-US" sz="1400" dirty="0"/>
            </a:br>
            <a:br>
              <a:rPr lang="en-US" sz="2000" b="0" i="0" u="none" strike="noStrike" dirty="0">
                <a:solidFill>
                  <a:srgbClr val="333333"/>
                </a:solidFill>
                <a:effectLst/>
                <a:highlight>
                  <a:srgbClr val="FFFFFF"/>
                </a:highlight>
                <a:latin typeface="Laila"/>
              </a:rPr>
            </a:br>
            <a:endParaRPr lang="en-IN" dirty="0"/>
          </a:p>
        </p:txBody>
      </p:sp>
    </p:spTree>
    <p:extLst>
      <p:ext uri="{BB962C8B-B14F-4D97-AF65-F5344CB8AC3E}">
        <p14:creationId xmlns:p14="http://schemas.microsoft.com/office/powerpoint/2010/main" val="30365672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A34A-FF33-4B66-CF0B-835B55B9B7D9}"/>
              </a:ext>
            </a:extLst>
          </p:cNvPr>
          <p:cNvSpPr>
            <a:spLocks noGrp="1"/>
          </p:cNvSpPr>
          <p:nvPr>
            <p:ph type="title"/>
          </p:nvPr>
        </p:nvSpPr>
        <p:spPr>
          <a:xfrm>
            <a:off x="360946" y="312822"/>
            <a:ext cx="11237495" cy="6232356"/>
          </a:xfrm>
        </p:spPr>
        <p:txBody>
          <a:bodyPr>
            <a:normAutofit fontScale="90000"/>
          </a:bodyPr>
          <a:lstStyle/>
          <a:p>
            <a:r>
              <a:rPr lang="en-US" b="1" u="sng" dirty="0">
                <a:solidFill>
                  <a:schemeClr val="accent5">
                    <a:lumMod val="75000"/>
                  </a:schemeClr>
                </a:solidFill>
              </a:rPr>
              <a:t>AGILE MODEL</a:t>
            </a:r>
            <a:br>
              <a:rPr lang="en-US" dirty="0"/>
            </a:br>
            <a:r>
              <a:rPr lang="en-US" sz="3100" dirty="0">
                <a:solidFill>
                  <a:schemeClr val="tx1"/>
                </a:solidFill>
                <a:latin typeface="Times New Roman" panose="02020603050405020304" pitchFamily="18" charset="0"/>
                <a:cs typeface="Times New Roman" panose="02020603050405020304" pitchFamily="18" charset="0"/>
              </a:rPr>
              <a:t>It is an Incremental Approach.</a:t>
            </a:r>
            <a:br>
              <a:rPr lang="en-US" dirty="0">
                <a:latin typeface="Times New Roman" panose="02020603050405020304" pitchFamily="18" charset="0"/>
                <a:cs typeface="Times New Roman" panose="02020603050405020304" pitchFamily="18" charset="0"/>
              </a:rPr>
            </a:br>
            <a:br>
              <a:rPr lang="en-US" dirty="0"/>
            </a:br>
            <a:r>
              <a:rPr lang="en-US" sz="4000" b="1" u="sng" dirty="0">
                <a:solidFill>
                  <a:schemeClr val="accent5">
                    <a:lumMod val="75000"/>
                  </a:schemeClr>
                </a:solidFill>
                <a:latin typeface="Times New Roman" panose="02020603050405020304" pitchFamily="18" charset="0"/>
                <a:cs typeface="Times New Roman" panose="02020603050405020304" pitchFamily="18" charset="0"/>
              </a:rPr>
              <a:t>Agile Principals</a:t>
            </a:r>
            <a:br>
              <a:rPr lang="en-US" sz="4000" b="1" u="sng" dirty="0">
                <a:solidFill>
                  <a:schemeClr val="accent5">
                    <a:lumMod val="75000"/>
                  </a:schemeClr>
                </a:solidFill>
              </a:rPr>
            </a:br>
            <a:r>
              <a:rPr lang="en-US" sz="3200" dirty="0">
                <a:solidFill>
                  <a:schemeClr val="tx1"/>
                </a:solidFill>
              </a:rPr>
              <a:t>1) </a:t>
            </a:r>
            <a:r>
              <a:rPr lang="en-US" sz="3200" dirty="0">
                <a:solidFill>
                  <a:schemeClr val="tx1"/>
                </a:solidFill>
                <a:latin typeface="Times New Roman" panose="02020603050405020304" pitchFamily="18" charset="0"/>
                <a:cs typeface="Times New Roman" panose="02020603050405020304" pitchFamily="18" charset="0"/>
              </a:rPr>
              <a:t>we develop, test &amp; release pieces of s/w to the customer with a few numbers of features.</a:t>
            </a:r>
            <a:br>
              <a:rPr lang="en-US" sz="3200" dirty="0"/>
            </a:br>
            <a:r>
              <a:rPr lang="en-US" sz="3200" dirty="0">
                <a:solidFill>
                  <a:schemeClr val="tx1"/>
                </a:solidFill>
                <a:latin typeface="Times New Roman" panose="02020603050405020304" pitchFamily="18" charset="0"/>
                <a:cs typeface="Times New Roman" panose="02020603050405020304" pitchFamily="18" charset="0"/>
              </a:rPr>
              <a:t>2) The customer does not need to wait a long time.</a:t>
            </a:r>
            <a:br>
              <a:rPr lang="en-US" sz="3200" dirty="0">
                <a:solidFill>
                  <a:schemeClr val="tx1"/>
                </a:solidFill>
                <a:latin typeface="Times New Roman" panose="02020603050405020304" pitchFamily="18" charset="0"/>
                <a:cs typeface="Times New Roman" panose="02020603050405020304" pitchFamily="18" charset="0"/>
              </a:rPr>
            </a:br>
            <a:r>
              <a:rPr lang="en-US" sz="3200" dirty="0">
                <a:solidFill>
                  <a:schemeClr val="tx1"/>
                </a:solidFill>
                <a:latin typeface="Times New Roman" panose="02020603050405020304" pitchFamily="18" charset="0"/>
                <a:cs typeface="Times New Roman" panose="02020603050405020304" pitchFamily="18" charset="0"/>
              </a:rPr>
              <a:t>3) we can accept the requirement changes.</a:t>
            </a:r>
            <a:br>
              <a:rPr lang="en-US" sz="3200" dirty="0">
                <a:solidFill>
                  <a:schemeClr val="tx1"/>
                </a:solidFill>
                <a:latin typeface="Times New Roman" panose="02020603050405020304" pitchFamily="18" charset="0"/>
                <a:cs typeface="Times New Roman" panose="02020603050405020304" pitchFamily="18" charset="0"/>
              </a:rPr>
            </a:br>
            <a:r>
              <a:rPr lang="en-US" sz="3200" dirty="0">
                <a:solidFill>
                  <a:schemeClr val="tx1"/>
                </a:solidFill>
                <a:latin typeface="Times New Roman" panose="02020603050405020304" pitchFamily="18" charset="0"/>
                <a:cs typeface="Times New Roman" panose="02020603050405020304" pitchFamily="18" charset="0"/>
              </a:rPr>
              <a:t>4) There will be good communication between the customer, BA, Developer, and tester.</a:t>
            </a:r>
            <a:br>
              <a:rPr lang="en-US" sz="3200" dirty="0">
                <a:solidFill>
                  <a:schemeClr val="tx1"/>
                </a:solidFill>
                <a:latin typeface="Times New Roman" panose="02020603050405020304" pitchFamily="18" charset="0"/>
                <a:cs typeface="Times New Roman" panose="02020603050405020304" pitchFamily="18" charset="0"/>
              </a:rPr>
            </a:br>
            <a:br>
              <a:rPr lang="en-US" sz="3200"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842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74FD8-9534-72BC-37EF-59E4C7E60E58}"/>
              </a:ext>
            </a:extLst>
          </p:cNvPr>
          <p:cNvSpPr>
            <a:spLocks noGrp="1"/>
          </p:cNvSpPr>
          <p:nvPr>
            <p:ph type="title"/>
          </p:nvPr>
        </p:nvSpPr>
        <p:spPr>
          <a:xfrm>
            <a:off x="677333" y="609600"/>
            <a:ext cx="10163119" cy="4768516"/>
          </a:xfrm>
        </p:spPr>
        <p:txBody>
          <a:bodyPr>
            <a:normAutofit fontScale="90000"/>
          </a:bodyPr>
          <a:lstStyle/>
          <a:p>
            <a:r>
              <a:rPr lang="en-US" b="1" dirty="0">
                <a:solidFill>
                  <a:schemeClr val="accent5">
                    <a:lumMod val="75000"/>
                  </a:schemeClr>
                </a:solidFill>
                <a:latin typeface="Times New Roman" panose="02020603050405020304" pitchFamily="18" charset="0"/>
                <a:cs typeface="Times New Roman" panose="02020603050405020304" pitchFamily="18" charset="0"/>
              </a:rPr>
              <a:t>Advantages-</a:t>
            </a:r>
            <a:br>
              <a:rPr lang="en-US" dirty="0">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1)Requirement changes are allowed</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2)releases will be very fast(weekly)</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3)customer no need to wait a long time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4)it is a very easy model</a:t>
            </a:r>
            <a:br>
              <a:rPr lang="en-US" dirty="0">
                <a:latin typeface="Times New Roman" panose="02020603050405020304" pitchFamily="18" charset="0"/>
                <a:cs typeface="Times New Roman" panose="02020603050405020304" pitchFamily="18" charset="0"/>
              </a:rPr>
            </a:br>
            <a:br>
              <a:rPr lang="en-US" b="1" dirty="0">
                <a:solidFill>
                  <a:schemeClr val="accent5">
                    <a:lumMod val="75000"/>
                  </a:schemeClr>
                </a:solidFill>
                <a:latin typeface="Times New Roman" panose="02020603050405020304" pitchFamily="18" charset="0"/>
                <a:cs typeface="Times New Roman" panose="02020603050405020304" pitchFamily="18" charset="0"/>
              </a:rPr>
            </a:br>
            <a:r>
              <a:rPr lang="en-US" b="1" dirty="0">
                <a:solidFill>
                  <a:schemeClr val="accent5">
                    <a:lumMod val="75000"/>
                  </a:schemeClr>
                </a:solidFill>
                <a:latin typeface="Times New Roman" panose="02020603050405020304" pitchFamily="18" charset="0"/>
                <a:cs typeface="Times New Roman" panose="02020603050405020304" pitchFamily="18" charset="0"/>
              </a:rPr>
              <a:t>Disadvantages</a:t>
            </a:r>
            <a:br>
              <a:rPr lang="en-US" dirty="0">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1)Less Focus on design and documentation since we deliver software very fast.</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09725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um an Agile Framework - apppm">
            <a:extLst>
              <a:ext uri="{FF2B5EF4-FFF2-40B4-BE49-F238E27FC236}">
                <a16:creationId xmlns:a16="http://schemas.microsoft.com/office/drawing/2014/main" id="{4FDA8A9A-E205-72E1-AE43-032ABAC7D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011" y="120316"/>
            <a:ext cx="10407315" cy="6617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6630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1E1B-DF5C-772A-76F7-41491311AB37}"/>
              </a:ext>
            </a:extLst>
          </p:cNvPr>
          <p:cNvSpPr>
            <a:spLocks noGrp="1"/>
          </p:cNvSpPr>
          <p:nvPr>
            <p:ph type="title"/>
          </p:nvPr>
        </p:nvSpPr>
        <p:spPr>
          <a:xfrm>
            <a:off x="204537" y="609600"/>
            <a:ext cx="9938083" cy="5562600"/>
          </a:xfrm>
        </p:spPr>
        <p:txBody>
          <a:bodyPr>
            <a:normAutofit fontScale="90000"/>
          </a:bodyPr>
          <a:lstStyle/>
          <a:p>
            <a:r>
              <a:rPr lang="en-US" sz="4000" b="1" u="sng" dirty="0">
                <a:solidFill>
                  <a:schemeClr val="accent5">
                    <a:lumMod val="75000"/>
                  </a:schemeClr>
                </a:solidFill>
              </a:rPr>
              <a:t>Scrum</a:t>
            </a:r>
            <a:br>
              <a:rPr lang="en-US" dirty="0"/>
            </a:br>
            <a:r>
              <a:rPr lang="en-US" sz="3100" dirty="0">
                <a:solidFill>
                  <a:schemeClr val="tx1"/>
                </a:solidFill>
              </a:rPr>
              <a:t>Scrum is a framework through which we build software products by following Agile principles.</a:t>
            </a:r>
            <a:br>
              <a:rPr lang="en-US" sz="3100" dirty="0">
                <a:solidFill>
                  <a:schemeClr val="tx1"/>
                </a:solidFill>
              </a:rPr>
            </a:br>
            <a:br>
              <a:rPr lang="en-US" sz="3100" dirty="0">
                <a:solidFill>
                  <a:schemeClr val="tx1"/>
                </a:solidFill>
              </a:rPr>
            </a:br>
            <a:r>
              <a:rPr lang="en-US" sz="3100" dirty="0">
                <a:solidFill>
                  <a:schemeClr val="tx1"/>
                </a:solidFill>
              </a:rPr>
              <a:t>Scrum includes a group of people called a scrum team.</a:t>
            </a:r>
            <a:br>
              <a:rPr lang="en-US" sz="3100" dirty="0">
                <a:solidFill>
                  <a:schemeClr val="tx1"/>
                </a:solidFill>
              </a:rPr>
            </a:br>
            <a:br>
              <a:rPr lang="en-US" sz="3100" dirty="0">
                <a:solidFill>
                  <a:schemeClr val="tx1"/>
                </a:solidFill>
              </a:rPr>
            </a:br>
            <a:r>
              <a:rPr lang="en-US" sz="3100" dirty="0">
                <a:solidFill>
                  <a:schemeClr val="tx1"/>
                </a:solidFill>
              </a:rPr>
              <a:t>1)Product owner</a:t>
            </a:r>
            <a:br>
              <a:rPr lang="en-US" sz="3100" dirty="0">
                <a:solidFill>
                  <a:schemeClr val="tx1"/>
                </a:solidFill>
              </a:rPr>
            </a:br>
            <a:r>
              <a:rPr lang="en-US" sz="3100" dirty="0">
                <a:solidFill>
                  <a:schemeClr val="tx1"/>
                </a:solidFill>
              </a:rPr>
              <a:t>2)Scrum master</a:t>
            </a:r>
            <a:br>
              <a:rPr lang="en-US" sz="3100" dirty="0">
                <a:solidFill>
                  <a:schemeClr val="tx1"/>
                </a:solidFill>
              </a:rPr>
            </a:br>
            <a:r>
              <a:rPr lang="en-US" sz="3100" dirty="0">
                <a:solidFill>
                  <a:schemeClr val="tx1"/>
                </a:solidFill>
              </a:rPr>
              <a:t>3)Development team</a:t>
            </a:r>
            <a:br>
              <a:rPr lang="en-US" sz="3100" dirty="0">
                <a:solidFill>
                  <a:schemeClr val="tx1"/>
                </a:solidFill>
              </a:rPr>
            </a:br>
            <a:r>
              <a:rPr lang="en-US" sz="3100" dirty="0">
                <a:solidFill>
                  <a:schemeClr val="tx1"/>
                </a:solidFill>
              </a:rPr>
              <a:t>4)Testing team</a:t>
            </a:r>
            <a:br>
              <a:rPr lang="en-US" sz="3100" dirty="0">
                <a:solidFill>
                  <a:schemeClr val="tx1"/>
                </a:solidFill>
              </a:rPr>
            </a:br>
            <a:br>
              <a:rPr lang="en-US" sz="3100" dirty="0">
                <a:solidFill>
                  <a:schemeClr val="tx1"/>
                </a:solidFill>
              </a:rPr>
            </a:br>
            <a:br>
              <a:rPr lang="en-US" sz="3100"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39045733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5F1B4-D104-4AE0-F715-FF9A3E2D2C59}"/>
              </a:ext>
            </a:extLst>
          </p:cNvPr>
          <p:cNvSpPr>
            <a:spLocks noGrp="1"/>
          </p:cNvSpPr>
          <p:nvPr>
            <p:ph type="title"/>
          </p:nvPr>
        </p:nvSpPr>
        <p:spPr>
          <a:xfrm>
            <a:off x="1335505" y="609599"/>
            <a:ext cx="7938497" cy="5706979"/>
          </a:xfrm>
        </p:spPr>
        <p:txBody>
          <a:bodyPr>
            <a:normAutofit fontScale="90000"/>
          </a:bodyPr>
          <a:lstStyle/>
          <a:p>
            <a:r>
              <a:rPr lang="en-US" b="1" dirty="0">
                <a:solidFill>
                  <a:schemeClr val="accent5">
                    <a:lumMod val="75000"/>
                  </a:schemeClr>
                </a:solidFill>
              </a:rPr>
              <a:t>Scrum Terminology-</a:t>
            </a:r>
            <a:br>
              <a:rPr lang="en-US" dirty="0"/>
            </a:br>
            <a:r>
              <a:rPr lang="en-US" dirty="0">
                <a:solidFill>
                  <a:schemeClr val="tx1"/>
                </a:solidFill>
              </a:rPr>
              <a:t>1)user Story</a:t>
            </a:r>
            <a:br>
              <a:rPr lang="en-US" dirty="0">
                <a:solidFill>
                  <a:schemeClr val="tx1"/>
                </a:solidFill>
              </a:rPr>
            </a:br>
            <a:r>
              <a:rPr lang="en-US" dirty="0">
                <a:solidFill>
                  <a:schemeClr val="tx1"/>
                </a:solidFill>
              </a:rPr>
              <a:t>2)Epic</a:t>
            </a:r>
            <a:br>
              <a:rPr lang="en-US" dirty="0">
                <a:solidFill>
                  <a:schemeClr val="tx1"/>
                </a:solidFill>
              </a:rPr>
            </a:br>
            <a:r>
              <a:rPr lang="en-US" dirty="0">
                <a:solidFill>
                  <a:schemeClr val="tx1"/>
                </a:solidFill>
              </a:rPr>
              <a:t>3)Product Backlog</a:t>
            </a:r>
            <a:br>
              <a:rPr lang="en-US" dirty="0">
                <a:solidFill>
                  <a:schemeClr val="tx1"/>
                </a:solidFill>
              </a:rPr>
            </a:br>
            <a:r>
              <a:rPr lang="en-US" dirty="0">
                <a:solidFill>
                  <a:schemeClr val="tx1"/>
                </a:solidFill>
              </a:rPr>
              <a:t>4)Sprint/Iteration</a:t>
            </a:r>
            <a:br>
              <a:rPr lang="en-US" dirty="0">
                <a:solidFill>
                  <a:schemeClr val="tx1"/>
                </a:solidFill>
              </a:rPr>
            </a:br>
            <a:r>
              <a:rPr lang="en-US" dirty="0">
                <a:solidFill>
                  <a:schemeClr val="tx1"/>
                </a:solidFill>
              </a:rPr>
              <a:t>5)Sprint Planning meeting</a:t>
            </a:r>
            <a:br>
              <a:rPr lang="en-US" dirty="0">
                <a:solidFill>
                  <a:schemeClr val="tx1"/>
                </a:solidFill>
              </a:rPr>
            </a:br>
            <a:r>
              <a:rPr lang="en-US" dirty="0">
                <a:solidFill>
                  <a:schemeClr val="tx1"/>
                </a:solidFill>
              </a:rPr>
              <a:t>6)Sprint Backlog</a:t>
            </a:r>
            <a:br>
              <a:rPr lang="en-US" dirty="0">
                <a:solidFill>
                  <a:schemeClr val="tx1"/>
                </a:solidFill>
              </a:rPr>
            </a:br>
            <a:r>
              <a:rPr lang="en-US" dirty="0">
                <a:solidFill>
                  <a:schemeClr val="tx1"/>
                </a:solidFill>
              </a:rPr>
              <a:t>7)Scrum meeting</a:t>
            </a:r>
            <a:br>
              <a:rPr lang="en-US" dirty="0">
                <a:solidFill>
                  <a:schemeClr val="tx1"/>
                </a:solidFill>
              </a:rPr>
            </a:br>
            <a:r>
              <a:rPr lang="en-US" dirty="0">
                <a:solidFill>
                  <a:schemeClr val="tx1"/>
                </a:solidFill>
              </a:rPr>
              <a:t>8)Sprint Retrospective meeting</a:t>
            </a:r>
            <a:br>
              <a:rPr lang="en-US" dirty="0">
                <a:solidFill>
                  <a:schemeClr val="tx1"/>
                </a:solidFill>
              </a:rPr>
            </a:br>
            <a:r>
              <a:rPr lang="en-US" dirty="0">
                <a:solidFill>
                  <a:schemeClr val="tx1"/>
                </a:solidFill>
              </a:rPr>
              <a:t>9)Story point</a:t>
            </a:r>
            <a:br>
              <a:rPr lang="en-US" dirty="0">
                <a:solidFill>
                  <a:schemeClr val="tx1"/>
                </a:solidFill>
              </a:rPr>
            </a:br>
            <a:r>
              <a:rPr lang="en-US" dirty="0">
                <a:solidFill>
                  <a:schemeClr val="tx1"/>
                </a:solidFill>
              </a:rPr>
              <a:t>10)Burndown/up chart </a:t>
            </a:r>
            <a:br>
              <a:rPr lang="en-US"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16114538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85D4-6D5D-4207-223F-904E407D894D}"/>
              </a:ext>
            </a:extLst>
          </p:cNvPr>
          <p:cNvSpPr>
            <a:spLocks noGrp="1"/>
          </p:cNvSpPr>
          <p:nvPr>
            <p:ph type="title"/>
          </p:nvPr>
        </p:nvSpPr>
        <p:spPr/>
        <p:txBody>
          <a:bodyPr/>
          <a:lstStyle/>
          <a:p>
            <a:r>
              <a:rPr lang="en-US" b="1" dirty="0">
                <a:solidFill>
                  <a:schemeClr val="accent5">
                    <a:lumMod val="75000"/>
                  </a:schemeClr>
                </a:solidFill>
                <a:latin typeface="Times New Roman" panose="02020603050405020304" pitchFamily="18" charset="0"/>
                <a:cs typeface="Times New Roman" panose="02020603050405020304" pitchFamily="18" charset="0"/>
              </a:rPr>
              <a:t>What is TestNG?</a:t>
            </a:r>
            <a:br>
              <a:rPr lang="en-US" b="1" dirty="0">
                <a:solidFill>
                  <a:schemeClr val="accent5">
                    <a:lumMod val="75000"/>
                  </a:schemeClr>
                </a:solidFill>
                <a:latin typeface="Times New Roman" panose="02020603050405020304" pitchFamily="18" charset="0"/>
                <a:cs typeface="Times New Roman" panose="02020603050405020304" pitchFamily="18" charset="0"/>
              </a:rPr>
            </a:br>
            <a:endParaRPr lang="en-IN"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AB354EA-3316-1343-7069-9995411E3413}"/>
              </a:ext>
            </a:extLst>
          </p:cNvPr>
          <p:cNvSpPr txBox="1"/>
          <p:nvPr/>
        </p:nvSpPr>
        <p:spPr>
          <a:xfrm>
            <a:off x="97572" y="1370922"/>
            <a:ext cx="9704349" cy="3693319"/>
          </a:xfrm>
          <a:prstGeom prst="rect">
            <a:avLst/>
          </a:prstGeom>
          <a:noFill/>
        </p:spPr>
        <p:txBody>
          <a:bodyPr wrap="square">
            <a:spAutoFit/>
          </a:bodyPr>
          <a:lstStyle/>
          <a:p>
            <a:pPr marL="457200" indent="457200" algn="just" rtl="0">
              <a:spcBef>
                <a:spcPts val="1200"/>
              </a:spcBef>
              <a:spcAft>
                <a:spcPts val="0"/>
              </a:spcAft>
            </a:pPr>
            <a:r>
              <a:rPr lang="en-US" sz="2800" b="0" i="0" u="none" strike="noStrike" dirty="0">
                <a:effectLst/>
                <a:highlight>
                  <a:srgbClr val="FFFFFF"/>
                </a:highlight>
                <a:latin typeface="Times New Roman" panose="02020603050405020304" pitchFamily="18" charset="0"/>
                <a:cs typeface="Times New Roman" panose="02020603050405020304" pitchFamily="18" charset="0"/>
              </a:rPr>
              <a:t>TestNG is one of the most widely used open-source testing framework used in automation testing suite.</a:t>
            </a:r>
            <a:endParaRPr lang="en-US" sz="2800" b="0" dirty="0">
              <a:effectLst/>
              <a:highlight>
                <a:srgbClr val="FFFFFF"/>
              </a:highlight>
              <a:latin typeface="Times New Roman" panose="02020603050405020304" pitchFamily="18" charset="0"/>
              <a:cs typeface="Times New Roman" panose="02020603050405020304" pitchFamily="18" charset="0"/>
            </a:endParaRPr>
          </a:p>
          <a:p>
            <a:pPr marL="457200" indent="457200" algn="just" rtl="0">
              <a:spcBef>
                <a:spcPts val="0"/>
              </a:spcBef>
              <a:spcAft>
                <a:spcPts val="1200"/>
              </a:spcAft>
            </a:pPr>
            <a:r>
              <a:rPr lang="en-US" sz="2800" b="0" i="0" u="none" strike="noStrike" dirty="0">
                <a:effectLst/>
                <a:highlight>
                  <a:srgbClr val="FFFFFF"/>
                </a:highlight>
                <a:latin typeface="Times New Roman" panose="02020603050405020304" pitchFamily="18" charset="0"/>
                <a:cs typeface="Times New Roman" panose="02020603050405020304" pitchFamily="18" charset="0"/>
              </a:rPr>
              <a:t>TestNG helps to trigger, control, manage and execute Test cases without the help of Java Compiler.</a:t>
            </a:r>
          </a:p>
          <a:p>
            <a:pPr marL="457200" indent="457200" algn="just" rtl="0">
              <a:spcBef>
                <a:spcPts val="0"/>
              </a:spcBef>
              <a:spcAft>
                <a:spcPts val="1200"/>
              </a:spcAft>
            </a:pPr>
            <a:endParaRPr lang="en-US" sz="2800" dirty="0">
              <a:highlight>
                <a:srgbClr val="FFFFFF"/>
              </a:highlight>
              <a:latin typeface="Times New Roman" panose="02020603050405020304" pitchFamily="18" charset="0"/>
              <a:cs typeface="Times New Roman" panose="02020603050405020304" pitchFamily="18" charset="0"/>
            </a:endParaRPr>
          </a:p>
          <a:p>
            <a:pPr marL="457200" indent="457200" algn="just" rtl="0">
              <a:spcBef>
                <a:spcPts val="0"/>
              </a:spcBef>
              <a:spcAft>
                <a:spcPts val="1200"/>
              </a:spcAft>
            </a:pPr>
            <a:endParaRPr lang="en-US" sz="2800" b="0" dirty="0">
              <a:effectLst/>
              <a:highlight>
                <a:srgbClr val="FFFFFF"/>
              </a:highlight>
              <a:latin typeface="Times New Roman" panose="02020603050405020304" pitchFamily="18" charset="0"/>
              <a:cs typeface="Times New Roman" panose="02020603050405020304" pitchFamily="18" charset="0"/>
            </a:endParaRPr>
          </a:p>
          <a:p>
            <a:br>
              <a:rPr lang="en-US" dirty="0"/>
            </a:br>
            <a:endParaRPr lang="en-IN" dirty="0"/>
          </a:p>
        </p:txBody>
      </p:sp>
      <p:sp>
        <p:nvSpPr>
          <p:cNvPr id="7" name="TextBox 6">
            <a:extLst>
              <a:ext uri="{FF2B5EF4-FFF2-40B4-BE49-F238E27FC236}">
                <a16:creationId xmlns:a16="http://schemas.microsoft.com/office/drawing/2014/main" id="{65D067DC-D654-39D5-9245-154DA73CAE67}"/>
              </a:ext>
            </a:extLst>
          </p:cNvPr>
          <p:cNvSpPr txBox="1"/>
          <p:nvPr/>
        </p:nvSpPr>
        <p:spPr>
          <a:xfrm>
            <a:off x="1067729" y="3982115"/>
            <a:ext cx="7429500" cy="461665"/>
          </a:xfrm>
          <a:prstGeom prst="rect">
            <a:avLst/>
          </a:prstGeom>
          <a:noFill/>
        </p:spPr>
        <p:txBody>
          <a:bodyPr wrap="square">
            <a:spAutoFit/>
          </a:bodyPr>
          <a:lstStyle/>
          <a:p>
            <a:r>
              <a:rPr lang="en-US" sz="2400" b="1" i="0" u="none" strike="noStrike" dirty="0">
                <a:effectLst/>
                <a:highlight>
                  <a:srgbClr val="FFFFFF"/>
                </a:highlight>
                <a:latin typeface="Laila"/>
              </a:rPr>
              <a:t>Cedric </a:t>
            </a:r>
            <a:r>
              <a:rPr lang="en-US" sz="2400" b="1" i="0" u="none" strike="noStrike" dirty="0" err="1">
                <a:effectLst/>
                <a:highlight>
                  <a:srgbClr val="FFFFFF"/>
                </a:highlight>
                <a:latin typeface="Laila"/>
              </a:rPr>
              <a:t>Beust</a:t>
            </a:r>
            <a:r>
              <a:rPr lang="en-US" sz="2400" b="0" i="0" u="none" strike="noStrike" dirty="0">
                <a:effectLst/>
                <a:highlight>
                  <a:srgbClr val="FFFFFF"/>
                </a:highlight>
                <a:latin typeface="Laila"/>
              </a:rPr>
              <a:t> is the developer of a TestNG framework.</a:t>
            </a:r>
            <a:endParaRPr lang="en-IN" sz="2400" dirty="0"/>
          </a:p>
        </p:txBody>
      </p:sp>
      <p:sp>
        <p:nvSpPr>
          <p:cNvPr id="9" name="TextBox 8">
            <a:extLst>
              <a:ext uri="{FF2B5EF4-FFF2-40B4-BE49-F238E27FC236}">
                <a16:creationId xmlns:a16="http://schemas.microsoft.com/office/drawing/2014/main" id="{6E474DB4-D391-0EC9-9FA2-056E4020288C}"/>
              </a:ext>
            </a:extLst>
          </p:cNvPr>
          <p:cNvSpPr txBox="1"/>
          <p:nvPr/>
        </p:nvSpPr>
        <p:spPr>
          <a:xfrm>
            <a:off x="572422" y="3235710"/>
            <a:ext cx="8596668" cy="523220"/>
          </a:xfrm>
          <a:prstGeom prst="rect">
            <a:avLst/>
          </a:prstGeom>
          <a:noFill/>
        </p:spPr>
        <p:txBody>
          <a:bodyPr wrap="square">
            <a:spAutoFit/>
          </a:bodyPr>
          <a:lstStyle/>
          <a:p>
            <a:pPr marL="457200" rtl="0" fontAlgn="base">
              <a:spcBef>
                <a:spcPts val="1500"/>
              </a:spcBef>
              <a:spcAft>
                <a:spcPts val="1200"/>
              </a:spcAft>
            </a:pPr>
            <a:r>
              <a:rPr lang="en-US" sz="2800" b="0" i="0" u="none" strike="noStrike" dirty="0">
                <a:effectLst/>
                <a:highlight>
                  <a:srgbClr val="FFFFFF"/>
                </a:highlight>
                <a:latin typeface="Times New Roman" panose="02020603050405020304" pitchFamily="18" charset="0"/>
                <a:cs typeface="Times New Roman" panose="02020603050405020304" pitchFamily="18" charset="0"/>
              </a:rPr>
              <a:t>In TestNG, NG stands for "</a:t>
            </a:r>
            <a:r>
              <a:rPr lang="en-US" sz="2800" b="1" i="0" u="none" strike="noStrike" dirty="0">
                <a:effectLst/>
                <a:highlight>
                  <a:srgbClr val="FFFFFF"/>
                </a:highlight>
                <a:latin typeface="Times New Roman" panose="02020603050405020304" pitchFamily="18" charset="0"/>
                <a:cs typeface="Times New Roman" panose="02020603050405020304" pitchFamily="18" charset="0"/>
              </a:rPr>
              <a:t>Next Generation</a:t>
            </a:r>
            <a:r>
              <a:rPr lang="en-US" sz="2800" b="0" i="0" u="none" strike="noStrike" dirty="0">
                <a:effectLst/>
                <a:highlight>
                  <a:srgbClr val="FFFFFF"/>
                </a:highligh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570345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8A00273-3045-7B01-7100-FF2765AF8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7785" y="747132"/>
            <a:ext cx="7605132" cy="5006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3877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01BFA-0088-8577-C77E-4CEEB73B5CA1}"/>
              </a:ext>
            </a:extLst>
          </p:cNvPr>
          <p:cNvSpPr>
            <a:spLocks noGrp="1"/>
          </p:cNvSpPr>
          <p:nvPr>
            <p:ph type="title"/>
          </p:nvPr>
        </p:nvSpPr>
        <p:spPr/>
        <p:txBody>
          <a:bodyPr/>
          <a:lstStyle/>
          <a:p>
            <a:r>
              <a:rPr lang="en-US" b="1" dirty="0">
                <a:solidFill>
                  <a:schemeClr val="accent5">
                    <a:lumMod val="75000"/>
                  </a:schemeClr>
                </a:solidFill>
                <a:latin typeface="Times New Roman" panose="02020603050405020304" pitchFamily="18" charset="0"/>
                <a:cs typeface="Times New Roman" panose="02020603050405020304" pitchFamily="18" charset="0"/>
              </a:rPr>
              <a:t>TestNG Annotations</a:t>
            </a:r>
            <a:br>
              <a:rPr lang="en-US" dirty="0"/>
            </a:br>
            <a:endParaRPr lang="en-IN" dirty="0"/>
          </a:p>
        </p:txBody>
      </p:sp>
      <p:pic>
        <p:nvPicPr>
          <p:cNvPr id="2050" name="Picture 2">
            <a:extLst>
              <a:ext uri="{FF2B5EF4-FFF2-40B4-BE49-F238E27FC236}">
                <a16:creationId xmlns:a16="http://schemas.microsoft.com/office/drawing/2014/main" id="{EDB16443-AA31-E328-10F1-FC57E7395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6429" y="2590800"/>
            <a:ext cx="5073805" cy="36576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E94ECB1-AFCA-29D1-0A79-9359BE836E24}"/>
              </a:ext>
            </a:extLst>
          </p:cNvPr>
          <p:cNvSpPr txBox="1"/>
          <p:nvPr/>
        </p:nvSpPr>
        <p:spPr>
          <a:xfrm>
            <a:off x="945065" y="1270000"/>
            <a:ext cx="8120875" cy="1754326"/>
          </a:xfrm>
          <a:prstGeom prst="rect">
            <a:avLst/>
          </a:prstGeom>
          <a:noFill/>
        </p:spPr>
        <p:txBody>
          <a:bodyPr wrap="square">
            <a:spAutoFit/>
          </a:bodyPr>
          <a:lstStyle/>
          <a:p>
            <a:pPr marL="457200" indent="457200" algn="just" rtl="0">
              <a:spcBef>
                <a:spcPts val="1200"/>
              </a:spcBef>
              <a:spcAft>
                <a:spcPts val="0"/>
              </a:spcAft>
            </a:pPr>
            <a:r>
              <a:rPr lang="en-US" sz="2400" b="0" i="0" u="none" strike="noStrike" dirty="0">
                <a:effectLst/>
                <a:highlight>
                  <a:srgbClr val="FFFFFF"/>
                </a:highlight>
                <a:latin typeface="Times New Roman" panose="02020603050405020304" pitchFamily="18" charset="0"/>
                <a:cs typeface="Times New Roman" panose="02020603050405020304" pitchFamily="18" charset="0"/>
              </a:rPr>
              <a:t>TestNG Annotation is a piece of code which is inserted inside a program or business logic used to control the flow of execution of test methods.</a:t>
            </a:r>
            <a:endParaRPr lang="en-US" sz="2400" b="0" dirty="0">
              <a:effectLst/>
              <a:highlight>
                <a:srgbClr val="FFFFFF"/>
              </a:highlight>
              <a:latin typeface="Times New Roman" panose="02020603050405020304" pitchFamily="18" charset="0"/>
              <a:cs typeface="Times New Roman" panose="02020603050405020304" pitchFamily="18" charset="0"/>
            </a:endParaRPr>
          </a:p>
          <a:p>
            <a:br>
              <a:rPr lang="en-US" dirty="0"/>
            </a:br>
            <a:endParaRPr lang="en-IN" dirty="0"/>
          </a:p>
        </p:txBody>
      </p:sp>
    </p:spTree>
    <p:extLst>
      <p:ext uri="{BB962C8B-B14F-4D97-AF65-F5344CB8AC3E}">
        <p14:creationId xmlns:p14="http://schemas.microsoft.com/office/powerpoint/2010/main" val="15405475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07B9D09-18BF-11B1-A9CC-8027F2BE4E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180" y="602166"/>
            <a:ext cx="7660888"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9196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488F92F-66F1-491E-2B44-5A56A9B780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0989" y="324853"/>
            <a:ext cx="6576261" cy="5979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3649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052208D-6026-5F81-1551-7900A5C1B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146" y="1976438"/>
            <a:ext cx="7337503" cy="448011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58D126E-06AA-733E-1C02-468F7EF32EF6}"/>
              </a:ext>
            </a:extLst>
          </p:cNvPr>
          <p:cNvSpPr txBox="1"/>
          <p:nvPr/>
        </p:nvSpPr>
        <p:spPr>
          <a:xfrm>
            <a:off x="312234" y="480613"/>
            <a:ext cx="9879981" cy="1384995"/>
          </a:xfrm>
          <a:prstGeom prst="rect">
            <a:avLst/>
          </a:prstGeom>
          <a:noFill/>
        </p:spPr>
        <p:txBody>
          <a:bodyPr wrap="square">
            <a:spAutoFit/>
          </a:bodyPr>
          <a:lstStyle/>
          <a:p>
            <a:r>
              <a:rPr lang="en-US" sz="2800" i="0" u="none" strike="noStrike" dirty="0">
                <a:effectLst/>
                <a:latin typeface="Times New Roman" panose="02020603050405020304" pitchFamily="18" charset="0"/>
                <a:cs typeface="Times New Roman" panose="02020603050405020304" pitchFamily="18" charset="0"/>
              </a:rPr>
              <a:t>TestNG provides the @Listeners annotation which listens to every event that occurs in a selenium code. Listeners are activated either before the test or after the test case.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77836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1128C9-107C-1A68-E8AE-B9F938CD9387}"/>
              </a:ext>
            </a:extLst>
          </p:cNvPr>
          <p:cNvSpPr txBox="1"/>
          <p:nvPr/>
        </p:nvSpPr>
        <p:spPr>
          <a:xfrm>
            <a:off x="479502" y="2413338"/>
            <a:ext cx="9578898" cy="3970318"/>
          </a:xfrm>
          <a:prstGeom prst="rect">
            <a:avLst/>
          </a:prstGeom>
          <a:noFill/>
        </p:spPr>
        <p:txBody>
          <a:bodyPr wrap="square">
            <a:spAutoFit/>
          </a:bodyPr>
          <a:lstStyle/>
          <a:p>
            <a:pPr marL="457200" rtl="0">
              <a:spcBef>
                <a:spcPts val="0"/>
              </a:spcBef>
              <a:spcAft>
                <a:spcPts val="0"/>
              </a:spcAft>
            </a:pPr>
            <a:r>
              <a:rPr lang="en-US" sz="3600" b="0" i="0" u="none" strike="noStrike" dirty="0">
                <a:effectLst/>
                <a:latin typeface="Times New Roman" panose="02020603050405020304" pitchFamily="18" charset="0"/>
                <a:cs typeface="Times New Roman" panose="02020603050405020304" pitchFamily="18" charset="0"/>
              </a:rPr>
              <a:t>Apache Maven is a powerful </a:t>
            </a:r>
            <a:r>
              <a:rPr lang="en-US" sz="3600" b="0" i="1" u="none" strike="noStrike" dirty="0">
                <a:effectLst/>
                <a:latin typeface="Times New Roman" panose="02020603050405020304" pitchFamily="18" charset="0"/>
                <a:cs typeface="Times New Roman" panose="02020603050405020304" pitchFamily="18" charset="0"/>
              </a:rPr>
              <a:t>project management tool/build</a:t>
            </a:r>
            <a:r>
              <a:rPr lang="en-US" sz="3600" b="0" i="0" u="none" strike="noStrike" dirty="0">
                <a:effectLst/>
                <a:latin typeface="Times New Roman" panose="02020603050405020304" pitchFamily="18" charset="0"/>
                <a:cs typeface="Times New Roman" panose="02020603050405020304" pitchFamily="18" charset="0"/>
              </a:rPr>
              <a:t> management tool that is based on POM (project object model). It is used for project build, dependency, and documentation.</a:t>
            </a:r>
            <a:endParaRPr lang="en-US" sz="3600" b="0" dirty="0">
              <a:effectLst/>
              <a:latin typeface="Times New Roman" panose="02020603050405020304" pitchFamily="18" charset="0"/>
              <a:cs typeface="Times New Roman" panose="02020603050405020304" pitchFamily="18" charset="0"/>
            </a:endParaRPr>
          </a:p>
          <a:p>
            <a:pPr marL="457200" rtl="0">
              <a:spcBef>
                <a:spcPts val="0"/>
              </a:spcBef>
              <a:spcAft>
                <a:spcPts val="0"/>
              </a:spcAft>
            </a:pPr>
            <a:r>
              <a:rPr lang="en-US" sz="3600" b="0" i="0" u="none" strike="noStrike" dirty="0">
                <a:effectLst/>
                <a:latin typeface="Times New Roman" panose="02020603050405020304" pitchFamily="18" charset="0"/>
                <a:cs typeface="Times New Roman" panose="02020603050405020304" pitchFamily="18" charset="0"/>
              </a:rPr>
              <a:t>It is a central repository.</a:t>
            </a:r>
            <a:endParaRPr lang="en-US" sz="3600" b="0" dirty="0">
              <a:effectLst/>
              <a:latin typeface="Times New Roman" panose="02020603050405020304" pitchFamily="18" charset="0"/>
              <a:cs typeface="Times New Roman" panose="02020603050405020304" pitchFamily="18" charset="0"/>
            </a:endParaRPr>
          </a:p>
          <a:p>
            <a:br>
              <a:rPr lang="en-US" dirty="0"/>
            </a:br>
            <a:endParaRPr lang="en-IN" dirty="0"/>
          </a:p>
        </p:txBody>
      </p:sp>
      <p:sp>
        <p:nvSpPr>
          <p:cNvPr id="5" name="TextBox 4">
            <a:extLst>
              <a:ext uri="{FF2B5EF4-FFF2-40B4-BE49-F238E27FC236}">
                <a16:creationId xmlns:a16="http://schemas.microsoft.com/office/drawing/2014/main" id="{6CB5CA04-5EA0-A083-6441-9203DA62FCED}"/>
              </a:ext>
            </a:extLst>
          </p:cNvPr>
          <p:cNvSpPr txBox="1"/>
          <p:nvPr/>
        </p:nvSpPr>
        <p:spPr>
          <a:xfrm>
            <a:off x="1045427" y="1136754"/>
            <a:ext cx="6105292" cy="646331"/>
          </a:xfrm>
          <a:prstGeom prst="rect">
            <a:avLst/>
          </a:prstGeom>
          <a:noFill/>
        </p:spPr>
        <p:txBody>
          <a:bodyPr wrap="square">
            <a:spAutoFit/>
          </a:bodyPr>
          <a:lstStyle/>
          <a:p>
            <a:r>
              <a:rPr lang="en-IN" sz="3600" b="1" i="0" u="none" strike="noStrike" dirty="0">
                <a:solidFill>
                  <a:srgbClr val="1155CC"/>
                </a:solidFill>
                <a:effectLst/>
                <a:latin typeface="Times New Roman" panose="02020603050405020304" pitchFamily="18" charset="0"/>
                <a:cs typeface="Times New Roman" panose="02020603050405020304" pitchFamily="18" charset="0"/>
              </a:rPr>
              <a:t>What is MAVEN?</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55995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B2765B-1DDF-9FCB-F678-5048394B4FEA}"/>
              </a:ext>
            </a:extLst>
          </p:cNvPr>
          <p:cNvSpPr txBox="1"/>
          <p:nvPr/>
        </p:nvSpPr>
        <p:spPr>
          <a:xfrm>
            <a:off x="133815" y="1997839"/>
            <a:ext cx="11441151" cy="3231654"/>
          </a:xfrm>
          <a:prstGeom prst="rect">
            <a:avLst/>
          </a:prstGeom>
          <a:noFill/>
        </p:spPr>
        <p:txBody>
          <a:bodyPr wrap="square">
            <a:spAutoFit/>
          </a:bodyPr>
          <a:lstStyle/>
          <a:p>
            <a:pPr marL="457200" algn="just" rtl="0">
              <a:spcBef>
                <a:spcPts val="0"/>
              </a:spcBef>
              <a:spcAft>
                <a:spcPts val="0"/>
              </a:spcAft>
            </a:pPr>
            <a:r>
              <a:rPr lang="en-US" sz="2800" b="0" i="0" u="none" strike="noStrike" dirty="0">
                <a:effectLst/>
                <a:latin typeface="Times New Roman" panose="02020603050405020304" pitchFamily="18" charset="0"/>
                <a:cs typeface="Times New Roman" panose="02020603050405020304" pitchFamily="18" charset="0"/>
              </a:rPr>
              <a:t>It is called as Heart of the Project.</a:t>
            </a:r>
            <a:endParaRPr lang="en-US" sz="2800" b="0" dirty="0">
              <a:effectLst/>
              <a:latin typeface="Times New Roman" panose="02020603050405020304" pitchFamily="18" charset="0"/>
              <a:cs typeface="Times New Roman" panose="02020603050405020304" pitchFamily="18" charset="0"/>
            </a:endParaRPr>
          </a:p>
          <a:p>
            <a:pPr marL="457200" indent="457200" algn="just" rtl="0">
              <a:spcBef>
                <a:spcPts val="0"/>
              </a:spcBef>
              <a:spcAft>
                <a:spcPts val="0"/>
              </a:spcAft>
            </a:pPr>
            <a:r>
              <a:rPr lang="en-US" sz="2800" b="1" i="0" u="none" strike="noStrike" dirty="0">
                <a:effectLst/>
                <a:highlight>
                  <a:srgbClr val="FFFFFF"/>
                </a:highlight>
                <a:latin typeface="Times New Roman" panose="02020603050405020304" pitchFamily="18" charset="0"/>
                <a:cs typeface="Times New Roman" panose="02020603050405020304" pitchFamily="18" charset="0"/>
              </a:rPr>
              <a:t>POM</a:t>
            </a:r>
            <a:r>
              <a:rPr lang="en-US" sz="2800" b="0" i="0" u="none" strike="noStrike" dirty="0">
                <a:effectLst/>
                <a:highlight>
                  <a:srgbClr val="FFFFFF"/>
                </a:highlight>
                <a:latin typeface="Times New Roman" panose="02020603050405020304" pitchFamily="18" charset="0"/>
                <a:cs typeface="Times New Roman" panose="02020603050405020304" pitchFamily="18" charset="0"/>
              </a:rPr>
              <a:t> is an acronym for </a:t>
            </a:r>
            <a:r>
              <a:rPr lang="en-US" sz="2800" b="1" i="0" u="none" strike="noStrike" dirty="0">
                <a:effectLst/>
                <a:highlight>
                  <a:srgbClr val="FFFFFF"/>
                </a:highlight>
                <a:latin typeface="Times New Roman" panose="02020603050405020304" pitchFamily="18" charset="0"/>
                <a:cs typeface="Times New Roman" panose="02020603050405020304" pitchFamily="18" charset="0"/>
              </a:rPr>
              <a:t>Project Object Model</a:t>
            </a:r>
            <a:r>
              <a:rPr lang="en-US" sz="2800" b="0" i="0" u="none" strike="noStrike" dirty="0">
                <a:effectLst/>
                <a:highlight>
                  <a:srgbClr val="FFFFFF"/>
                </a:highlight>
                <a:latin typeface="Times New Roman" panose="02020603050405020304" pitchFamily="18" charset="0"/>
                <a:cs typeface="Times New Roman" panose="02020603050405020304" pitchFamily="18" charset="0"/>
              </a:rPr>
              <a:t>. The pom.xml file contains information of project and configuration information for the maven to build the project such as dependencies, build directory, source directory, test source directory, plugin, goals etc.</a:t>
            </a:r>
            <a:endParaRPr lang="en-US" sz="2800" b="0" dirty="0">
              <a:effectLst/>
              <a:highlight>
                <a:srgbClr val="FFFFFF"/>
              </a:highlight>
              <a:latin typeface="Times New Roman" panose="02020603050405020304" pitchFamily="18" charset="0"/>
              <a:cs typeface="Times New Roman" panose="02020603050405020304" pitchFamily="18" charset="0"/>
            </a:endParaRPr>
          </a:p>
          <a:p>
            <a:pPr marL="457200" indent="457200" algn="just" rtl="0">
              <a:spcBef>
                <a:spcPts val="0"/>
              </a:spcBef>
              <a:spcAft>
                <a:spcPts val="0"/>
              </a:spcAft>
            </a:pPr>
            <a:r>
              <a:rPr lang="en-US" sz="2800" b="0" i="0" u="none" strike="noStrike" dirty="0">
                <a:effectLst/>
                <a:highlight>
                  <a:srgbClr val="FFFFFF"/>
                </a:highlight>
                <a:latin typeface="Times New Roman" panose="02020603050405020304" pitchFamily="18" charset="0"/>
                <a:cs typeface="Times New Roman" panose="02020603050405020304" pitchFamily="18" charset="0"/>
              </a:rPr>
              <a:t>Maven reads the pom.xml file, then executes the goal.</a:t>
            </a:r>
            <a:endParaRPr lang="en-US" sz="2800" b="0" dirty="0">
              <a:effectLst/>
              <a:highlight>
                <a:srgbClr val="FFFFFF"/>
              </a:highlight>
              <a:latin typeface="Times New Roman" panose="02020603050405020304" pitchFamily="18" charset="0"/>
              <a:cs typeface="Times New Roman" panose="02020603050405020304" pitchFamily="18" charset="0"/>
            </a:endParaRPr>
          </a:p>
          <a:p>
            <a:br>
              <a:rPr lang="en-US" dirty="0"/>
            </a:br>
            <a:endParaRPr lang="en-IN" dirty="0"/>
          </a:p>
        </p:txBody>
      </p:sp>
      <p:sp>
        <p:nvSpPr>
          <p:cNvPr id="5" name="TextBox 4">
            <a:extLst>
              <a:ext uri="{FF2B5EF4-FFF2-40B4-BE49-F238E27FC236}">
                <a16:creationId xmlns:a16="http://schemas.microsoft.com/office/drawing/2014/main" id="{3C51296F-2BF0-EE49-16A5-94ADA0E2DC70}"/>
              </a:ext>
            </a:extLst>
          </p:cNvPr>
          <p:cNvSpPr txBox="1"/>
          <p:nvPr/>
        </p:nvSpPr>
        <p:spPr>
          <a:xfrm>
            <a:off x="579864" y="701855"/>
            <a:ext cx="7906214" cy="646331"/>
          </a:xfrm>
          <a:prstGeom prst="rect">
            <a:avLst/>
          </a:prstGeom>
          <a:noFill/>
        </p:spPr>
        <p:txBody>
          <a:bodyPr wrap="square">
            <a:spAutoFit/>
          </a:bodyPr>
          <a:lstStyle/>
          <a:p>
            <a:r>
              <a:rPr lang="en-IN" sz="3600" b="1" i="0" u="none" strike="noStrike" dirty="0">
                <a:solidFill>
                  <a:srgbClr val="0070C0"/>
                </a:solidFill>
                <a:effectLst/>
                <a:latin typeface="Times New Roman" panose="02020603050405020304" pitchFamily="18" charset="0"/>
                <a:cs typeface="Times New Roman" panose="02020603050405020304" pitchFamily="18" charset="0"/>
              </a:rPr>
              <a:t>MAVEN POM.xml file?</a:t>
            </a:r>
            <a:endParaRPr lang="en-IN" sz="36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39641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05B62C-28FC-133D-87F5-296496045535}"/>
              </a:ext>
            </a:extLst>
          </p:cNvPr>
          <p:cNvSpPr txBox="1"/>
          <p:nvPr/>
        </p:nvSpPr>
        <p:spPr>
          <a:xfrm>
            <a:off x="643982" y="2062975"/>
            <a:ext cx="9581685" cy="3932169"/>
          </a:xfrm>
          <a:prstGeom prst="rect">
            <a:avLst/>
          </a:prstGeom>
          <a:noFill/>
        </p:spPr>
        <p:txBody>
          <a:bodyPr wrap="square">
            <a:spAutoFit/>
          </a:bodyPr>
          <a:lstStyle/>
          <a:p>
            <a:pPr marL="457200" rtl="0">
              <a:spcBef>
                <a:spcPts val="0"/>
              </a:spcBef>
              <a:spcAft>
                <a:spcPts val="0"/>
              </a:spcAft>
            </a:pPr>
            <a:r>
              <a:rPr lang="en-US" sz="2800" b="0" i="0" u="none" strike="noStrike" dirty="0">
                <a:effectLst/>
                <a:latin typeface="Times New Roman" panose="02020603050405020304" pitchFamily="18" charset="0"/>
                <a:cs typeface="Times New Roman" panose="02020603050405020304" pitchFamily="18" charset="0"/>
              </a:rPr>
              <a:t>Maven is actually a plugin execution framework where every task is actually done by plugins. Maven Plugins are generally used to −</a:t>
            </a:r>
            <a:endParaRPr lang="en-US" sz="2800" b="0" dirty="0">
              <a:effectLst/>
              <a:latin typeface="Times New Roman" panose="02020603050405020304" pitchFamily="18" charset="0"/>
              <a:cs typeface="Times New Roman" panose="02020603050405020304" pitchFamily="18" charset="0"/>
            </a:endParaRPr>
          </a:p>
          <a:p>
            <a:pPr marL="889000" rtl="0" fontAlgn="base">
              <a:spcBef>
                <a:spcPts val="0"/>
              </a:spcBef>
              <a:spcAft>
                <a:spcPts val="0"/>
              </a:spcAft>
              <a:buFont typeface="Arial" panose="020B0604020202020204" pitchFamily="34" charset="0"/>
              <a:buChar char="•"/>
            </a:pPr>
            <a:r>
              <a:rPr lang="en-US" sz="2800" b="0" i="0" u="none" strike="noStrike" dirty="0">
                <a:effectLst/>
                <a:latin typeface="Times New Roman" panose="02020603050405020304" pitchFamily="18" charset="0"/>
                <a:cs typeface="Times New Roman" panose="02020603050405020304" pitchFamily="18" charset="0"/>
              </a:rPr>
              <a:t>create jar file</a:t>
            </a:r>
          </a:p>
          <a:p>
            <a:pPr marL="889000" rtl="0" fontAlgn="base">
              <a:spcBef>
                <a:spcPts val="0"/>
              </a:spcBef>
              <a:spcAft>
                <a:spcPts val="0"/>
              </a:spcAft>
              <a:buFont typeface="Arial" panose="020B0604020202020204" pitchFamily="34" charset="0"/>
              <a:buChar char="•"/>
            </a:pPr>
            <a:r>
              <a:rPr lang="en-US" sz="2800" b="0" i="0" u="none" strike="noStrike" dirty="0">
                <a:effectLst/>
                <a:latin typeface="Times New Roman" panose="02020603050405020304" pitchFamily="18" charset="0"/>
                <a:cs typeface="Times New Roman" panose="02020603050405020304" pitchFamily="18" charset="0"/>
              </a:rPr>
              <a:t>create war file</a:t>
            </a:r>
          </a:p>
          <a:p>
            <a:pPr marL="889000" rtl="0" fontAlgn="base">
              <a:spcBef>
                <a:spcPts val="0"/>
              </a:spcBef>
              <a:spcAft>
                <a:spcPts val="0"/>
              </a:spcAft>
              <a:buFont typeface="Arial" panose="020B0604020202020204" pitchFamily="34" charset="0"/>
              <a:buChar char="•"/>
            </a:pPr>
            <a:r>
              <a:rPr lang="en-US" sz="2800" b="0" i="0" u="none" strike="noStrike" dirty="0">
                <a:effectLst/>
                <a:latin typeface="Times New Roman" panose="02020603050405020304" pitchFamily="18" charset="0"/>
                <a:cs typeface="Times New Roman" panose="02020603050405020304" pitchFamily="18" charset="0"/>
              </a:rPr>
              <a:t>compile code files</a:t>
            </a:r>
          </a:p>
          <a:p>
            <a:pPr marL="889000" rtl="0" fontAlgn="base">
              <a:spcBef>
                <a:spcPts val="0"/>
              </a:spcBef>
              <a:spcAft>
                <a:spcPts val="0"/>
              </a:spcAft>
              <a:buFont typeface="Arial" panose="020B0604020202020204" pitchFamily="34" charset="0"/>
              <a:buChar char="•"/>
            </a:pPr>
            <a:r>
              <a:rPr lang="en-US" sz="2800" b="0" i="0" u="none" strike="noStrike" dirty="0">
                <a:effectLst/>
                <a:latin typeface="Times New Roman" panose="02020603050405020304" pitchFamily="18" charset="0"/>
                <a:cs typeface="Times New Roman" panose="02020603050405020304" pitchFamily="18" charset="0"/>
              </a:rPr>
              <a:t>unit testing of code</a:t>
            </a:r>
          </a:p>
          <a:p>
            <a:pPr marL="889000" rtl="0" fontAlgn="base">
              <a:spcBef>
                <a:spcPts val="0"/>
              </a:spcBef>
              <a:spcAft>
                <a:spcPts val="0"/>
              </a:spcAft>
              <a:buFont typeface="Arial" panose="020B0604020202020204" pitchFamily="34" charset="0"/>
              <a:buChar char="•"/>
            </a:pPr>
            <a:r>
              <a:rPr lang="en-US" sz="2800" b="0" i="0" u="none" strike="noStrike" dirty="0">
                <a:effectLst/>
                <a:latin typeface="Times New Roman" panose="02020603050405020304" pitchFamily="18" charset="0"/>
                <a:cs typeface="Times New Roman" panose="02020603050405020304" pitchFamily="18" charset="0"/>
              </a:rPr>
              <a:t>create project documentation</a:t>
            </a:r>
          </a:p>
          <a:p>
            <a:pPr marL="889000" rtl="0" fontAlgn="base">
              <a:spcBef>
                <a:spcPts val="0"/>
              </a:spcBef>
              <a:spcAft>
                <a:spcPts val="3000"/>
              </a:spcAft>
              <a:buFont typeface="Arial" panose="020B0604020202020204" pitchFamily="34" charset="0"/>
              <a:buChar char="•"/>
            </a:pPr>
            <a:r>
              <a:rPr lang="en-US" sz="2800" b="0" i="0" u="none" strike="noStrike" dirty="0">
                <a:effectLst/>
                <a:latin typeface="Times New Roman" panose="02020603050405020304" pitchFamily="18" charset="0"/>
                <a:cs typeface="Times New Roman" panose="02020603050405020304" pitchFamily="18" charset="0"/>
              </a:rPr>
              <a:t>create project reports</a:t>
            </a:r>
          </a:p>
        </p:txBody>
      </p:sp>
      <p:sp>
        <p:nvSpPr>
          <p:cNvPr id="5" name="TextBox 4">
            <a:extLst>
              <a:ext uri="{FF2B5EF4-FFF2-40B4-BE49-F238E27FC236}">
                <a16:creationId xmlns:a16="http://schemas.microsoft.com/office/drawing/2014/main" id="{56253A2C-A7F2-48E8-8B2B-B3C1717162C9}"/>
              </a:ext>
            </a:extLst>
          </p:cNvPr>
          <p:cNvSpPr txBox="1"/>
          <p:nvPr/>
        </p:nvSpPr>
        <p:spPr>
          <a:xfrm>
            <a:off x="1081668" y="1047521"/>
            <a:ext cx="6325529" cy="646331"/>
          </a:xfrm>
          <a:prstGeom prst="rect">
            <a:avLst/>
          </a:prstGeom>
          <a:noFill/>
        </p:spPr>
        <p:txBody>
          <a:bodyPr wrap="square">
            <a:spAutoFit/>
          </a:bodyPr>
          <a:lstStyle/>
          <a:p>
            <a:r>
              <a:rPr lang="en-IN" sz="3600" b="1" i="0" u="none" strike="noStrike" dirty="0">
                <a:solidFill>
                  <a:srgbClr val="1155CC"/>
                </a:solidFill>
                <a:effectLst/>
                <a:latin typeface="Times New Roman" panose="02020603050405020304" pitchFamily="18" charset="0"/>
                <a:cs typeface="Times New Roman" panose="02020603050405020304" pitchFamily="18" charset="0"/>
              </a:rPr>
              <a:t>MAVEN Plugins?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332750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2517</TotalTime>
  <Words>3558</Words>
  <Application>Microsoft Office PowerPoint</Application>
  <PresentationFormat>Widescreen</PresentationFormat>
  <Paragraphs>242</Paragraphs>
  <Slides>66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66</vt:i4>
      </vt:variant>
    </vt:vector>
  </HeadingPairs>
  <TitlesOfParts>
    <vt:vector size="77" baseType="lpstr">
      <vt:lpstr>Arial</vt:lpstr>
      <vt:lpstr>Consolas</vt:lpstr>
      <vt:lpstr>Google Sans</vt:lpstr>
      <vt:lpstr>Laila</vt:lpstr>
      <vt:lpstr>Nunito</vt:lpstr>
      <vt:lpstr>Roboto</vt:lpstr>
      <vt:lpstr>Times New Roman</vt:lpstr>
      <vt:lpstr>Trebuchet MS</vt:lpstr>
      <vt:lpstr>Wingdings</vt:lpstr>
      <vt:lpstr>Wingdings 3</vt:lpstr>
      <vt:lpstr>Facet</vt:lpstr>
      <vt:lpstr>SOFTWARE TESTING</vt:lpstr>
      <vt:lpstr>What is Software?</vt:lpstr>
      <vt:lpstr>Project vs Product?  Project - Designed and developed for specific customer requirements. E.g. - Billing software for Grocery Store  Product - Designed and developed for multiple customers/users  as per market needs and requirements.   E.g. - Chatting Application for users  </vt:lpstr>
      <vt:lpstr>SOFTWARE PLATFORM  1)It is the environment in which software is executed.  2)A computer or hardware device and associated operating system, or a virtual environment, on which software can be installed or run.</vt:lpstr>
      <vt:lpstr>Manual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Black Box Testing Approach</vt:lpstr>
      <vt:lpstr>PowerPoint Presentation</vt:lpstr>
      <vt:lpstr>Functional Testing</vt:lpstr>
      <vt:lpstr>Non Functional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Testing Life Cycle</vt:lpstr>
      <vt:lpstr>REQUIREMENTS ANALYSIS -  The first step of the manual testing procedure is requirement analysis. In this phase, the tester analyses the requirement document of SDLC (Software Development Life Cycle) to examine the requirements stated by the client.  TEST PLAN –  1) The test plan is nothing but all the future testing-related activity. 2) How many test engineers are going to work on a particular release? 3) Which test engineer is going to work on which module? 4) Which bug-tracking tool &amp; automation tool we are going to use?    </vt:lpstr>
      <vt:lpstr>TEST CASE Development - Test case Execution takes place after the successful completion of test planning. In this phase, the testing team starts case development and execution activity. The testing team writes down the detailed test cases and also prepares the test data if required.   ENVIRONMENT SETUP - Setup of the test environment is an independent activity and can be started along with Test Case Development. This is an essential part of the manual testing procedure as without environment testing is not possible. Environment setup requires a group of essential software and hardware to create a test environment.    </vt:lpstr>
      <vt:lpstr>TEST EXECUTION- During this phase test team will carry out the testing based on the test plan and the test cases prepared.  TEST CYCLE CLOSURE - ​The test cycle closure report includes all the documentation related to software design, development, testing results, and defect reports.  </vt:lpstr>
      <vt:lpstr>Test Case Design Techniques</vt:lpstr>
      <vt:lpstr>PowerPoint Presentation</vt:lpstr>
      <vt:lpstr>PowerPoint Presentation</vt:lpstr>
      <vt:lpstr>PowerPoint Presentation</vt:lpstr>
      <vt:lpstr>PowerPoint Presentation</vt:lpstr>
      <vt:lpstr>Automation Testing</vt:lpstr>
      <vt:lpstr>Selenium</vt:lpstr>
      <vt:lpstr>Architecture of Selenium</vt:lpstr>
      <vt:lpstr>PowerPoint Presentation</vt:lpstr>
      <vt:lpstr>PowerPoint Presentation</vt:lpstr>
      <vt:lpstr>PowerPoint Presentation</vt:lpstr>
      <vt:lpstr>PowerPoint Presentation</vt:lpstr>
      <vt:lpstr>XPath </vt:lpstr>
      <vt:lpstr>Dropdown handling strategies </vt:lpstr>
      <vt:lpstr>Error -An Error is a mistake made in the code; that's why we cannot execute or compile code. Error is an human mistake.  Bug / Defect  - The Defect is the difference between the actual outcomes and expected outputs.  Failure - This is the difference between the actual results and expected results identified by end user.    </vt:lpstr>
      <vt:lpstr>GUI Testing - GUI testing is to check the Graphical user interface features for the application or the software.  E.g. 1)size, position, width, height, 2) error message, font whether it is readable or not 3)screen in different resolution  4)Alignment of the text, icon, buttons 5)color of fonts, color of hyperlinks 6) images clarity, size of the images 7)Spelling mistake 8)UI Elements like button, text box, check box, radio buttons, dropdowns, links  </vt:lpstr>
      <vt:lpstr>PowerPoint Presentation</vt:lpstr>
      <vt:lpstr>PowerPoint Presentation</vt:lpstr>
      <vt:lpstr>PowerPoint Presentation</vt:lpstr>
      <vt:lpstr>PowerPoint Presentation</vt:lpstr>
      <vt:lpstr>PowerPoint Presentation</vt:lpstr>
      <vt:lpstr>PowerPoint Presentation</vt:lpstr>
      <vt:lpstr>Defect Severity- How critical the defect is and how much it affects the functionality &amp; usability of the product (The impact of the bug on the application is known as severity)</vt:lpstr>
      <vt:lpstr>Defect Priority- Priority is important for fixing the bug or which bug to be fixed first or how soon the bug should be fixed.           Rating that indicates how quickly the defect needs to be fixed based on its severity.    </vt:lpstr>
      <vt:lpstr>AGILE MODEL It is an Incremental Approach.  Agile Principals 1) we develop, test &amp; release pieces of s/w to the customer with a few numbers of features. 2) The customer does not need to wait a long time. 3) we can accept the requirement changes. 4) There will be good communication between the customer, BA, Developer, and tester.  </vt:lpstr>
      <vt:lpstr>Advantages- 1)Requirement changes are allowed 2)releases will be very fast(weekly) 3)customer no need to wait a long time 4)it is a very easy model  Disadvantages 1)Less Focus on design and documentation since we deliver software very fast.</vt:lpstr>
      <vt:lpstr>PowerPoint Presentation</vt:lpstr>
      <vt:lpstr>Scrum Scrum is a framework through which we build software products by following Agile principles.  Scrum includes a group of people called a scrum team.  1)Product owner 2)Scrum master 3)Development team 4)Testing team   </vt:lpstr>
      <vt:lpstr>Scrum Terminology- 1)user Story 2)Epic 3)Product Backlog 4)Sprint/Iteration 5)Sprint Planning meeting 6)Sprint Backlog 7)Scrum meeting 8)Sprint Retrospective meeting 9)Story point 10)Burndown/up chart  </vt:lpstr>
      <vt:lpstr>What is TestNG? </vt:lpstr>
      <vt:lpstr>PowerPoint Presentation</vt:lpstr>
      <vt:lpstr>TestNG Annotations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pmkoshti1994@gmail.com</dc:creator>
  <cp:lastModifiedBy>Priyanka Koshti</cp:lastModifiedBy>
  <cp:revision>65</cp:revision>
  <dcterms:created xsi:type="dcterms:W3CDTF">2024-07-07T06:35:52Z</dcterms:created>
  <dcterms:modified xsi:type="dcterms:W3CDTF">2025-07-16T12:19:46Z</dcterms:modified>
</cp:coreProperties>
</file>